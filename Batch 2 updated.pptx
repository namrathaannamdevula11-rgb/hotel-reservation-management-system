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2" r:id="rId1"/>
  </p:sldMasterIdLst>
  <p:sldIdLst>
    <p:sldId id="256" r:id="rId2"/>
    <p:sldId id="257" r:id="rId3"/>
    <p:sldId id="258" r:id="rId4"/>
    <p:sldId id="259" r:id="rId5"/>
    <p:sldId id="260" r:id="rId6"/>
    <p:sldId id="271" r:id="rId7"/>
    <p:sldId id="261" r:id="rId8"/>
    <p:sldId id="263" r:id="rId9"/>
    <p:sldId id="264" r:id="rId10"/>
    <p:sldId id="276" r:id="rId11"/>
    <p:sldId id="265" r:id="rId12"/>
    <p:sldId id="266" r:id="rId13"/>
    <p:sldId id="277" r:id="rId14"/>
    <p:sldId id="267" r:id="rId15"/>
    <p:sldId id="268" r:id="rId16"/>
    <p:sldId id="269" r:id="rId17"/>
    <p:sldId id="278" r:id="rId18"/>
    <p:sldId id="279" r:id="rId19"/>
    <p:sldId id="274" r:id="rId20"/>
    <p:sldId id="270" r:id="rId21"/>
    <p:sldId id="280" r:id="rId22"/>
    <p:sldId id="281" r:id="rId23"/>
    <p:sldId id="282" r:id="rId24"/>
    <p:sldId id="284" r:id="rId25"/>
    <p:sldId id="286" r:id="rId26"/>
    <p:sldId id="285" r:id="rId27"/>
    <p:sldId id="287" r:id="rId28"/>
    <p:sldId id="288" r:id="rId29"/>
    <p:sldId id="310" r:id="rId30"/>
    <p:sldId id="311" r:id="rId31"/>
    <p:sldId id="313" r:id="rId32"/>
    <p:sldId id="312" r:id="rId33"/>
    <p:sldId id="314" r:id="rId34"/>
    <p:sldId id="315" r:id="rId35"/>
    <p:sldId id="283"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4" r:id="rId50"/>
    <p:sldId id="307" r:id="rId51"/>
    <p:sldId id="302" r:id="rId52"/>
    <p:sldId id="305" r:id="rId53"/>
    <p:sldId id="308" r:id="rId54"/>
    <p:sldId id="303" r:id="rId55"/>
    <p:sldId id="306" r:id="rId56"/>
    <p:sldId id="309" r:id="rId57"/>
    <p:sldId id="275" r:id="rId58"/>
    <p:sldId id="272" r:id="rId5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368" autoAdjust="0"/>
    <p:restoredTop sz="94660"/>
  </p:normalViewPr>
  <p:slideViewPr>
    <p:cSldViewPr snapToGrid="0">
      <p:cViewPr varScale="1">
        <p:scale>
          <a:sx n="95" d="100"/>
          <a:sy n="95" d="100"/>
        </p:scale>
        <p:origin x="235"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A0DE2-65D9-A305-2A15-0754D324337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00382C0-3848-4CC2-42E3-E99C6B73CD2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41D7400-CDFD-B466-1977-55F6B9ED189B}"/>
              </a:ext>
            </a:extLst>
          </p:cNvPr>
          <p:cNvSpPr>
            <a:spLocks noGrp="1"/>
          </p:cNvSpPr>
          <p:nvPr>
            <p:ph type="dt" sz="half" idx="10"/>
          </p:nvPr>
        </p:nvSpPr>
        <p:spPr/>
        <p:txBody>
          <a:bodyPr/>
          <a:lstStyle/>
          <a:p>
            <a:fld id="{1A042FAB-7EFB-4885-81D9-EA05552E904C}" type="datetimeFigureOut">
              <a:rPr lang="en-IN" smtClean="0"/>
              <a:t>30-09-2026</a:t>
            </a:fld>
            <a:endParaRPr lang="en-IN"/>
          </a:p>
        </p:txBody>
      </p:sp>
      <p:sp>
        <p:nvSpPr>
          <p:cNvPr id="5" name="Footer Placeholder 4">
            <a:extLst>
              <a:ext uri="{FF2B5EF4-FFF2-40B4-BE49-F238E27FC236}">
                <a16:creationId xmlns:a16="http://schemas.microsoft.com/office/drawing/2014/main" id="{3D737CEC-8E28-0229-8427-6025DD43FCC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AA7E27F-FB16-C7DA-D95B-FE1D00AC0C14}"/>
              </a:ext>
            </a:extLst>
          </p:cNvPr>
          <p:cNvSpPr>
            <a:spLocks noGrp="1"/>
          </p:cNvSpPr>
          <p:nvPr>
            <p:ph type="sldNum" sz="quarter" idx="12"/>
          </p:nvPr>
        </p:nvSpPr>
        <p:spPr/>
        <p:txBody>
          <a:bodyPr/>
          <a:lstStyle/>
          <a:p>
            <a:fld id="{67E4162D-CC55-4F70-8444-D5466BBF139F}" type="slidenum">
              <a:rPr lang="en-IN" smtClean="0"/>
              <a:t>‹#›</a:t>
            </a:fld>
            <a:endParaRPr lang="en-IN"/>
          </a:p>
        </p:txBody>
      </p:sp>
    </p:spTree>
    <p:extLst>
      <p:ext uri="{BB962C8B-B14F-4D97-AF65-F5344CB8AC3E}">
        <p14:creationId xmlns:p14="http://schemas.microsoft.com/office/powerpoint/2010/main" val="17344558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EA0EBC-6C03-43DA-ABD9-EB8BEBD1D22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923B08A-7716-C12C-5C8F-E465FF1A65E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D87802A-2C84-DEA2-6175-6E82FD788026}"/>
              </a:ext>
            </a:extLst>
          </p:cNvPr>
          <p:cNvSpPr>
            <a:spLocks noGrp="1"/>
          </p:cNvSpPr>
          <p:nvPr>
            <p:ph type="dt" sz="half" idx="10"/>
          </p:nvPr>
        </p:nvSpPr>
        <p:spPr/>
        <p:txBody>
          <a:bodyPr/>
          <a:lstStyle/>
          <a:p>
            <a:fld id="{1A042FAB-7EFB-4885-81D9-EA05552E904C}" type="datetimeFigureOut">
              <a:rPr lang="en-IN" smtClean="0"/>
              <a:t>30-09-2026</a:t>
            </a:fld>
            <a:endParaRPr lang="en-IN"/>
          </a:p>
        </p:txBody>
      </p:sp>
      <p:sp>
        <p:nvSpPr>
          <p:cNvPr id="5" name="Footer Placeholder 4">
            <a:extLst>
              <a:ext uri="{FF2B5EF4-FFF2-40B4-BE49-F238E27FC236}">
                <a16:creationId xmlns:a16="http://schemas.microsoft.com/office/drawing/2014/main" id="{B2F79B1A-8184-BA65-7BB9-B00E732F02F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EAA22AA-5CD2-E268-6427-A3D1F2DCE952}"/>
              </a:ext>
            </a:extLst>
          </p:cNvPr>
          <p:cNvSpPr>
            <a:spLocks noGrp="1"/>
          </p:cNvSpPr>
          <p:nvPr>
            <p:ph type="sldNum" sz="quarter" idx="12"/>
          </p:nvPr>
        </p:nvSpPr>
        <p:spPr/>
        <p:txBody>
          <a:bodyPr/>
          <a:lstStyle/>
          <a:p>
            <a:fld id="{67E4162D-CC55-4F70-8444-D5466BBF139F}" type="slidenum">
              <a:rPr lang="en-IN" smtClean="0"/>
              <a:t>‹#›</a:t>
            </a:fld>
            <a:endParaRPr lang="en-IN"/>
          </a:p>
        </p:txBody>
      </p:sp>
    </p:spTree>
    <p:extLst>
      <p:ext uri="{BB962C8B-B14F-4D97-AF65-F5344CB8AC3E}">
        <p14:creationId xmlns:p14="http://schemas.microsoft.com/office/powerpoint/2010/main" val="2394312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AB64F6-FEE5-E1EF-9D96-8C31B883234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7749D59-2710-7CBA-F268-4330C1F5E6C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5F53359-3CB3-3BC7-D8EE-23C32575B3D3}"/>
              </a:ext>
            </a:extLst>
          </p:cNvPr>
          <p:cNvSpPr>
            <a:spLocks noGrp="1"/>
          </p:cNvSpPr>
          <p:nvPr>
            <p:ph type="dt" sz="half" idx="10"/>
          </p:nvPr>
        </p:nvSpPr>
        <p:spPr/>
        <p:txBody>
          <a:bodyPr/>
          <a:lstStyle/>
          <a:p>
            <a:fld id="{1A042FAB-7EFB-4885-81D9-EA05552E904C}" type="datetimeFigureOut">
              <a:rPr lang="en-IN" smtClean="0"/>
              <a:t>30-09-2026</a:t>
            </a:fld>
            <a:endParaRPr lang="en-IN"/>
          </a:p>
        </p:txBody>
      </p:sp>
      <p:sp>
        <p:nvSpPr>
          <p:cNvPr id="5" name="Footer Placeholder 4">
            <a:extLst>
              <a:ext uri="{FF2B5EF4-FFF2-40B4-BE49-F238E27FC236}">
                <a16:creationId xmlns:a16="http://schemas.microsoft.com/office/drawing/2014/main" id="{36C6D462-A131-6793-D4E8-2768864404E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5C594CC-84C4-6AED-BE83-1379F3FBDD32}"/>
              </a:ext>
            </a:extLst>
          </p:cNvPr>
          <p:cNvSpPr>
            <a:spLocks noGrp="1"/>
          </p:cNvSpPr>
          <p:nvPr>
            <p:ph type="sldNum" sz="quarter" idx="12"/>
          </p:nvPr>
        </p:nvSpPr>
        <p:spPr/>
        <p:txBody>
          <a:bodyPr/>
          <a:lstStyle/>
          <a:p>
            <a:fld id="{67E4162D-CC55-4F70-8444-D5466BBF139F}" type="slidenum">
              <a:rPr lang="en-IN" smtClean="0"/>
              <a:t>‹#›</a:t>
            </a:fld>
            <a:endParaRPr lang="en-IN"/>
          </a:p>
        </p:txBody>
      </p:sp>
    </p:spTree>
    <p:extLst>
      <p:ext uri="{BB962C8B-B14F-4D97-AF65-F5344CB8AC3E}">
        <p14:creationId xmlns:p14="http://schemas.microsoft.com/office/powerpoint/2010/main" val="14537538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63EC2-89BA-1911-80D1-04F2848BE75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86EEE15-ED6E-34F5-302B-EB3BB93F90C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F2AC993-E9E6-2867-63AE-7233CB83785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C8C9F09-CF0D-039F-7139-CD776EE18ED0}"/>
              </a:ext>
            </a:extLst>
          </p:cNvPr>
          <p:cNvSpPr>
            <a:spLocks noGrp="1"/>
          </p:cNvSpPr>
          <p:nvPr>
            <p:ph type="dt" sz="half" idx="10"/>
          </p:nvPr>
        </p:nvSpPr>
        <p:spPr/>
        <p:txBody>
          <a:bodyPr/>
          <a:lstStyle/>
          <a:p>
            <a:fld id="{1A042FAB-7EFB-4885-81D9-EA05552E904C}" type="datetimeFigureOut">
              <a:rPr lang="en-IN" smtClean="0"/>
              <a:t>30-09-2026</a:t>
            </a:fld>
            <a:endParaRPr lang="en-IN"/>
          </a:p>
        </p:txBody>
      </p:sp>
      <p:sp>
        <p:nvSpPr>
          <p:cNvPr id="6" name="Footer Placeholder 5">
            <a:extLst>
              <a:ext uri="{FF2B5EF4-FFF2-40B4-BE49-F238E27FC236}">
                <a16:creationId xmlns:a16="http://schemas.microsoft.com/office/drawing/2014/main" id="{9CC63627-D132-8445-A067-B67FF57C2B8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E5A02BF-2E96-8CB8-E5F4-CBCA33C789B7}"/>
              </a:ext>
            </a:extLst>
          </p:cNvPr>
          <p:cNvSpPr>
            <a:spLocks noGrp="1"/>
          </p:cNvSpPr>
          <p:nvPr>
            <p:ph type="sldNum" sz="quarter" idx="12"/>
          </p:nvPr>
        </p:nvSpPr>
        <p:spPr/>
        <p:txBody>
          <a:bodyPr/>
          <a:lstStyle/>
          <a:p>
            <a:fld id="{67E4162D-CC55-4F70-8444-D5466BBF139F}" type="slidenum">
              <a:rPr lang="en-IN" smtClean="0"/>
              <a:t>‹#›</a:t>
            </a:fld>
            <a:endParaRPr lang="en-IN"/>
          </a:p>
        </p:txBody>
      </p:sp>
    </p:spTree>
    <p:extLst>
      <p:ext uri="{BB962C8B-B14F-4D97-AF65-F5344CB8AC3E}">
        <p14:creationId xmlns:p14="http://schemas.microsoft.com/office/powerpoint/2010/main" val="24745615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2FFC4C-B1CF-F142-B92A-3CCAFC0B7F5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CE46100-A4BC-0867-F731-4F4088A9A54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6F5105A-B07D-E5F1-36B0-266DFEC346E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67C17A4-E17F-3454-C1F5-B0D55371452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233E5C6-467C-4DAF-A45F-5FE2D6A6EFC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3A71732-7219-75DC-3FE3-C0BC4CA479EA}"/>
              </a:ext>
            </a:extLst>
          </p:cNvPr>
          <p:cNvSpPr>
            <a:spLocks noGrp="1"/>
          </p:cNvSpPr>
          <p:nvPr>
            <p:ph type="dt" sz="half" idx="10"/>
          </p:nvPr>
        </p:nvSpPr>
        <p:spPr/>
        <p:txBody>
          <a:bodyPr/>
          <a:lstStyle/>
          <a:p>
            <a:fld id="{1A042FAB-7EFB-4885-81D9-EA05552E904C}" type="datetimeFigureOut">
              <a:rPr lang="en-IN" smtClean="0"/>
              <a:t>30-09-2026</a:t>
            </a:fld>
            <a:endParaRPr lang="en-IN"/>
          </a:p>
        </p:txBody>
      </p:sp>
      <p:sp>
        <p:nvSpPr>
          <p:cNvPr id="8" name="Footer Placeholder 7">
            <a:extLst>
              <a:ext uri="{FF2B5EF4-FFF2-40B4-BE49-F238E27FC236}">
                <a16:creationId xmlns:a16="http://schemas.microsoft.com/office/drawing/2014/main" id="{847E833B-EBEE-D88A-338E-A65A6E9B4FD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859E923-8287-69A3-41D1-84A2280370B4}"/>
              </a:ext>
            </a:extLst>
          </p:cNvPr>
          <p:cNvSpPr>
            <a:spLocks noGrp="1"/>
          </p:cNvSpPr>
          <p:nvPr>
            <p:ph type="sldNum" sz="quarter" idx="12"/>
          </p:nvPr>
        </p:nvSpPr>
        <p:spPr/>
        <p:txBody>
          <a:bodyPr/>
          <a:lstStyle/>
          <a:p>
            <a:fld id="{67E4162D-CC55-4F70-8444-D5466BBF139F}" type="slidenum">
              <a:rPr lang="en-IN" smtClean="0"/>
              <a:t>‹#›</a:t>
            </a:fld>
            <a:endParaRPr lang="en-IN"/>
          </a:p>
        </p:txBody>
      </p:sp>
    </p:spTree>
    <p:extLst>
      <p:ext uri="{BB962C8B-B14F-4D97-AF65-F5344CB8AC3E}">
        <p14:creationId xmlns:p14="http://schemas.microsoft.com/office/powerpoint/2010/main" val="15173241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49D286-6772-4DD9-04D3-A45C820B552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1F082A4-6326-E4D8-D046-F89DA237F016}"/>
              </a:ext>
            </a:extLst>
          </p:cNvPr>
          <p:cNvSpPr>
            <a:spLocks noGrp="1"/>
          </p:cNvSpPr>
          <p:nvPr>
            <p:ph type="dt" sz="half" idx="10"/>
          </p:nvPr>
        </p:nvSpPr>
        <p:spPr/>
        <p:txBody>
          <a:bodyPr/>
          <a:lstStyle/>
          <a:p>
            <a:fld id="{1A042FAB-7EFB-4885-81D9-EA05552E904C}" type="datetimeFigureOut">
              <a:rPr lang="en-IN" smtClean="0"/>
              <a:t>30-09-2026</a:t>
            </a:fld>
            <a:endParaRPr lang="en-IN"/>
          </a:p>
        </p:txBody>
      </p:sp>
      <p:sp>
        <p:nvSpPr>
          <p:cNvPr id="4" name="Footer Placeholder 3">
            <a:extLst>
              <a:ext uri="{FF2B5EF4-FFF2-40B4-BE49-F238E27FC236}">
                <a16:creationId xmlns:a16="http://schemas.microsoft.com/office/drawing/2014/main" id="{934115BA-1BCB-4756-3908-DCCB848D33D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8F4E883-10A5-7A28-EA9B-0F31152AC6D4}"/>
              </a:ext>
            </a:extLst>
          </p:cNvPr>
          <p:cNvSpPr>
            <a:spLocks noGrp="1"/>
          </p:cNvSpPr>
          <p:nvPr>
            <p:ph type="sldNum" sz="quarter" idx="12"/>
          </p:nvPr>
        </p:nvSpPr>
        <p:spPr/>
        <p:txBody>
          <a:bodyPr/>
          <a:lstStyle/>
          <a:p>
            <a:fld id="{67E4162D-CC55-4F70-8444-D5466BBF139F}" type="slidenum">
              <a:rPr lang="en-IN" smtClean="0"/>
              <a:t>‹#›</a:t>
            </a:fld>
            <a:endParaRPr lang="en-IN"/>
          </a:p>
        </p:txBody>
      </p:sp>
    </p:spTree>
    <p:extLst>
      <p:ext uri="{BB962C8B-B14F-4D97-AF65-F5344CB8AC3E}">
        <p14:creationId xmlns:p14="http://schemas.microsoft.com/office/powerpoint/2010/main" val="4550572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FFBCFFD-0868-194A-7742-B5720F19B2AA}"/>
              </a:ext>
            </a:extLst>
          </p:cNvPr>
          <p:cNvSpPr>
            <a:spLocks noGrp="1"/>
          </p:cNvSpPr>
          <p:nvPr>
            <p:ph type="dt" sz="half" idx="10"/>
          </p:nvPr>
        </p:nvSpPr>
        <p:spPr/>
        <p:txBody>
          <a:bodyPr/>
          <a:lstStyle/>
          <a:p>
            <a:fld id="{1A042FAB-7EFB-4885-81D9-EA05552E904C}" type="datetimeFigureOut">
              <a:rPr lang="en-IN" smtClean="0"/>
              <a:t>30-09-2026</a:t>
            </a:fld>
            <a:endParaRPr lang="en-IN"/>
          </a:p>
        </p:txBody>
      </p:sp>
      <p:sp>
        <p:nvSpPr>
          <p:cNvPr id="3" name="Footer Placeholder 2">
            <a:extLst>
              <a:ext uri="{FF2B5EF4-FFF2-40B4-BE49-F238E27FC236}">
                <a16:creationId xmlns:a16="http://schemas.microsoft.com/office/drawing/2014/main" id="{E6F5CA20-3EC5-8AF3-4CCD-CC2E41894D1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2E7027A-3E24-688B-5867-E550D3572C9D}"/>
              </a:ext>
            </a:extLst>
          </p:cNvPr>
          <p:cNvSpPr>
            <a:spLocks noGrp="1"/>
          </p:cNvSpPr>
          <p:nvPr>
            <p:ph type="sldNum" sz="quarter" idx="12"/>
          </p:nvPr>
        </p:nvSpPr>
        <p:spPr/>
        <p:txBody>
          <a:bodyPr/>
          <a:lstStyle/>
          <a:p>
            <a:fld id="{67E4162D-CC55-4F70-8444-D5466BBF139F}" type="slidenum">
              <a:rPr lang="en-IN" smtClean="0"/>
              <a:t>‹#›</a:t>
            </a:fld>
            <a:endParaRPr lang="en-IN"/>
          </a:p>
        </p:txBody>
      </p:sp>
    </p:spTree>
    <p:extLst>
      <p:ext uri="{BB962C8B-B14F-4D97-AF65-F5344CB8AC3E}">
        <p14:creationId xmlns:p14="http://schemas.microsoft.com/office/powerpoint/2010/main" val="9160635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AAAD57-437A-2424-DC4E-98564008CB0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4868ED0-E3E1-50AA-4701-05388173825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758F481-D560-0C0B-D220-C0C3E4D5FE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631FF45-6EBE-479C-1D70-89580BE3B1FE}"/>
              </a:ext>
            </a:extLst>
          </p:cNvPr>
          <p:cNvSpPr>
            <a:spLocks noGrp="1"/>
          </p:cNvSpPr>
          <p:nvPr>
            <p:ph type="dt" sz="half" idx="10"/>
          </p:nvPr>
        </p:nvSpPr>
        <p:spPr/>
        <p:txBody>
          <a:bodyPr/>
          <a:lstStyle/>
          <a:p>
            <a:fld id="{1A042FAB-7EFB-4885-81D9-EA05552E904C}" type="datetimeFigureOut">
              <a:rPr lang="en-IN" smtClean="0"/>
              <a:t>30-09-2026</a:t>
            </a:fld>
            <a:endParaRPr lang="en-IN"/>
          </a:p>
        </p:txBody>
      </p:sp>
      <p:sp>
        <p:nvSpPr>
          <p:cNvPr id="6" name="Footer Placeholder 5">
            <a:extLst>
              <a:ext uri="{FF2B5EF4-FFF2-40B4-BE49-F238E27FC236}">
                <a16:creationId xmlns:a16="http://schemas.microsoft.com/office/drawing/2014/main" id="{E5CE942D-EA9C-2CA7-75F2-A9EDF0573FB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7E074BB-68AC-6EEC-77F0-7D34F093CE9B}"/>
              </a:ext>
            </a:extLst>
          </p:cNvPr>
          <p:cNvSpPr>
            <a:spLocks noGrp="1"/>
          </p:cNvSpPr>
          <p:nvPr>
            <p:ph type="sldNum" sz="quarter" idx="12"/>
          </p:nvPr>
        </p:nvSpPr>
        <p:spPr/>
        <p:txBody>
          <a:bodyPr/>
          <a:lstStyle/>
          <a:p>
            <a:fld id="{67E4162D-CC55-4F70-8444-D5466BBF139F}" type="slidenum">
              <a:rPr lang="en-IN" smtClean="0"/>
              <a:t>‹#›</a:t>
            </a:fld>
            <a:endParaRPr lang="en-IN"/>
          </a:p>
        </p:txBody>
      </p:sp>
    </p:spTree>
    <p:extLst>
      <p:ext uri="{BB962C8B-B14F-4D97-AF65-F5344CB8AC3E}">
        <p14:creationId xmlns:p14="http://schemas.microsoft.com/office/powerpoint/2010/main" val="40633142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4DC18-2966-0F94-6741-CECB849458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14C4C92-4C2A-547B-0308-1E8C1BF99AB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0B2097C-303B-B869-72C0-015F74D96C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9E42D0D-EA3D-CFA6-3A63-B3DCD202B087}"/>
              </a:ext>
            </a:extLst>
          </p:cNvPr>
          <p:cNvSpPr>
            <a:spLocks noGrp="1"/>
          </p:cNvSpPr>
          <p:nvPr>
            <p:ph type="dt" sz="half" idx="10"/>
          </p:nvPr>
        </p:nvSpPr>
        <p:spPr/>
        <p:txBody>
          <a:bodyPr/>
          <a:lstStyle/>
          <a:p>
            <a:fld id="{1A042FAB-7EFB-4885-81D9-EA05552E904C}" type="datetimeFigureOut">
              <a:rPr lang="en-IN" smtClean="0"/>
              <a:t>30-09-2026</a:t>
            </a:fld>
            <a:endParaRPr lang="en-IN"/>
          </a:p>
        </p:txBody>
      </p:sp>
      <p:sp>
        <p:nvSpPr>
          <p:cNvPr id="6" name="Footer Placeholder 5">
            <a:extLst>
              <a:ext uri="{FF2B5EF4-FFF2-40B4-BE49-F238E27FC236}">
                <a16:creationId xmlns:a16="http://schemas.microsoft.com/office/drawing/2014/main" id="{49D07111-73CA-6238-5E5B-3D24FC4CBC3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4A20155-1DB5-B2D6-D5B1-E6611C1125C2}"/>
              </a:ext>
            </a:extLst>
          </p:cNvPr>
          <p:cNvSpPr>
            <a:spLocks noGrp="1"/>
          </p:cNvSpPr>
          <p:nvPr>
            <p:ph type="sldNum" sz="quarter" idx="12"/>
          </p:nvPr>
        </p:nvSpPr>
        <p:spPr/>
        <p:txBody>
          <a:bodyPr/>
          <a:lstStyle/>
          <a:p>
            <a:fld id="{67E4162D-CC55-4F70-8444-D5466BBF139F}" type="slidenum">
              <a:rPr lang="en-IN" smtClean="0"/>
              <a:t>‹#›</a:t>
            </a:fld>
            <a:endParaRPr lang="en-IN"/>
          </a:p>
        </p:txBody>
      </p:sp>
    </p:spTree>
    <p:extLst>
      <p:ext uri="{BB962C8B-B14F-4D97-AF65-F5344CB8AC3E}">
        <p14:creationId xmlns:p14="http://schemas.microsoft.com/office/powerpoint/2010/main" val="32632018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A97430-015A-0231-E9AD-0CD7E847558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A3062CB-5929-ED20-1ACC-962269C34A4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F47808-E4B3-46E5-59F0-7F65C34B110E}"/>
              </a:ext>
            </a:extLst>
          </p:cNvPr>
          <p:cNvSpPr>
            <a:spLocks noGrp="1"/>
          </p:cNvSpPr>
          <p:nvPr>
            <p:ph type="dt" sz="half" idx="10"/>
          </p:nvPr>
        </p:nvSpPr>
        <p:spPr/>
        <p:txBody>
          <a:bodyPr/>
          <a:lstStyle/>
          <a:p>
            <a:fld id="{1A042FAB-7EFB-4885-81D9-EA05552E904C}" type="datetimeFigureOut">
              <a:rPr lang="en-IN" smtClean="0"/>
              <a:t>30-09-2026</a:t>
            </a:fld>
            <a:endParaRPr lang="en-IN"/>
          </a:p>
        </p:txBody>
      </p:sp>
      <p:sp>
        <p:nvSpPr>
          <p:cNvPr id="5" name="Footer Placeholder 4">
            <a:extLst>
              <a:ext uri="{FF2B5EF4-FFF2-40B4-BE49-F238E27FC236}">
                <a16:creationId xmlns:a16="http://schemas.microsoft.com/office/drawing/2014/main" id="{00655540-05EC-B2B6-74CC-008D3A12C37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26613D0-D1CE-1EAD-76D2-57E2EAE84FC4}"/>
              </a:ext>
            </a:extLst>
          </p:cNvPr>
          <p:cNvSpPr>
            <a:spLocks noGrp="1"/>
          </p:cNvSpPr>
          <p:nvPr>
            <p:ph type="sldNum" sz="quarter" idx="12"/>
          </p:nvPr>
        </p:nvSpPr>
        <p:spPr/>
        <p:txBody>
          <a:bodyPr/>
          <a:lstStyle/>
          <a:p>
            <a:fld id="{67E4162D-CC55-4F70-8444-D5466BBF139F}" type="slidenum">
              <a:rPr lang="en-IN" smtClean="0"/>
              <a:t>‹#›</a:t>
            </a:fld>
            <a:endParaRPr lang="en-IN"/>
          </a:p>
        </p:txBody>
      </p:sp>
    </p:spTree>
    <p:extLst>
      <p:ext uri="{BB962C8B-B14F-4D97-AF65-F5344CB8AC3E}">
        <p14:creationId xmlns:p14="http://schemas.microsoft.com/office/powerpoint/2010/main" val="9767120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DD3A737-53C7-3F5D-0ED9-233B66106B7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D5DA4D0-53EE-28BA-3777-B54F175C30F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A563163-34F6-F9B3-B070-39809E02A187}"/>
              </a:ext>
            </a:extLst>
          </p:cNvPr>
          <p:cNvSpPr>
            <a:spLocks noGrp="1"/>
          </p:cNvSpPr>
          <p:nvPr>
            <p:ph type="dt" sz="half" idx="10"/>
          </p:nvPr>
        </p:nvSpPr>
        <p:spPr/>
        <p:txBody>
          <a:bodyPr/>
          <a:lstStyle/>
          <a:p>
            <a:fld id="{1A042FAB-7EFB-4885-81D9-EA05552E904C}" type="datetimeFigureOut">
              <a:rPr lang="en-IN" smtClean="0"/>
              <a:t>30-09-2026</a:t>
            </a:fld>
            <a:endParaRPr lang="en-IN"/>
          </a:p>
        </p:txBody>
      </p:sp>
      <p:sp>
        <p:nvSpPr>
          <p:cNvPr id="5" name="Footer Placeholder 4">
            <a:extLst>
              <a:ext uri="{FF2B5EF4-FFF2-40B4-BE49-F238E27FC236}">
                <a16:creationId xmlns:a16="http://schemas.microsoft.com/office/drawing/2014/main" id="{BAE513F7-2827-5CCF-1BD3-B07459A56AE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A2C1844-D2E6-B226-41BA-7C23F029443C}"/>
              </a:ext>
            </a:extLst>
          </p:cNvPr>
          <p:cNvSpPr>
            <a:spLocks noGrp="1"/>
          </p:cNvSpPr>
          <p:nvPr>
            <p:ph type="sldNum" sz="quarter" idx="12"/>
          </p:nvPr>
        </p:nvSpPr>
        <p:spPr/>
        <p:txBody>
          <a:bodyPr/>
          <a:lstStyle/>
          <a:p>
            <a:fld id="{67E4162D-CC55-4F70-8444-D5466BBF139F}" type="slidenum">
              <a:rPr lang="en-IN" smtClean="0"/>
              <a:t>‹#›</a:t>
            </a:fld>
            <a:endParaRPr lang="en-IN"/>
          </a:p>
        </p:txBody>
      </p:sp>
    </p:spTree>
    <p:extLst>
      <p:ext uri="{BB962C8B-B14F-4D97-AF65-F5344CB8AC3E}">
        <p14:creationId xmlns:p14="http://schemas.microsoft.com/office/powerpoint/2010/main" val="24702730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3CE286-822E-2BC0-34A3-4601E3ADB96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B731F39-6A9C-8EC2-70D8-2F383868761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B3F217-BCAE-BAEE-5619-0767568DF98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A042FAB-7EFB-4885-81D9-EA05552E904C}" type="datetimeFigureOut">
              <a:rPr lang="en-IN" smtClean="0"/>
              <a:t>30-09-2026</a:t>
            </a:fld>
            <a:endParaRPr lang="en-IN"/>
          </a:p>
        </p:txBody>
      </p:sp>
      <p:sp>
        <p:nvSpPr>
          <p:cNvPr id="5" name="Footer Placeholder 4">
            <a:extLst>
              <a:ext uri="{FF2B5EF4-FFF2-40B4-BE49-F238E27FC236}">
                <a16:creationId xmlns:a16="http://schemas.microsoft.com/office/drawing/2014/main" id="{E8A0647F-952C-0DDD-029F-31050F1935E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617BB62B-D2EB-DF05-F519-FB30494041E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7E4162D-CC55-4F70-8444-D5466BBF139F}" type="slidenum">
              <a:rPr lang="en-IN" smtClean="0"/>
              <a:t>‹#›</a:t>
            </a:fld>
            <a:endParaRPr lang="en-IN"/>
          </a:p>
        </p:txBody>
      </p:sp>
    </p:spTree>
    <p:extLst>
      <p:ext uri="{BB962C8B-B14F-4D97-AF65-F5344CB8AC3E}">
        <p14:creationId xmlns:p14="http://schemas.microsoft.com/office/powerpoint/2010/main" val="3832298518"/>
      </p:ext>
    </p:extLst>
  </p:cSld>
  <p:clrMap bg1="lt1" tx1="dk1" bg2="lt2" tx2="dk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 id="2147483767" r:id="rId5"/>
    <p:sldLayoutId id="2147483768" r:id="rId6"/>
    <p:sldLayoutId id="2147483769" r:id="rId7"/>
    <p:sldLayoutId id="2147483770" r:id="rId8"/>
    <p:sldLayoutId id="2147483771" r:id="rId9"/>
    <p:sldLayoutId id="2147483772" r:id="rId10"/>
    <p:sldLayoutId id="214748377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i="1" dirty="0">
                <a:latin typeface="Arial" panose="020B0604020202020204" pitchFamily="34" charset="0"/>
                <a:ea typeface="Artifakt Element Book" panose="020B0503050000020004" pitchFamily="34" charset="0"/>
                <a:cs typeface="Arial" panose="020B0604020202020204" pitchFamily="34" charset="0"/>
              </a:rPr>
              <a:t>HOTEL RESERVATION MANAGEMENT SYSTEM</a:t>
            </a:r>
            <a:endParaRPr lang="en-IN" b="1" i="1" dirty="0">
              <a:latin typeface="Arial" panose="020B0604020202020204" pitchFamily="34" charset="0"/>
              <a:ea typeface="Artifakt Element Book" panose="020B0503050000020004" pitchFamily="34" charset="0"/>
              <a:cs typeface="Arial" panose="020B0604020202020204" pitchFamily="34" charset="0"/>
            </a:endParaRPr>
          </a:p>
        </p:txBody>
      </p:sp>
      <p:pic>
        <p:nvPicPr>
          <p:cNvPr id="6" name="Picture 5">
            <a:extLst>
              <a:ext uri="{FF2B5EF4-FFF2-40B4-BE49-F238E27FC236}">
                <a16:creationId xmlns:a16="http://schemas.microsoft.com/office/drawing/2014/main" id="{9D968341-E7E9-4692-2E51-563C4EAB10C0}"/>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76200" y="60166"/>
            <a:ext cx="3159760" cy="1263650"/>
          </a:xfrm>
          <a:prstGeom prst="rect">
            <a:avLst/>
          </a:prstGeom>
        </p:spPr>
      </p:pic>
      <p:sp>
        <p:nvSpPr>
          <p:cNvPr id="3" name="TextBox 2">
            <a:extLst>
              <a:ext uri="{FF2B5EF4-FFF2-40B4-BE49-F238E27FC236}">
                <a16:creationId xmlns:a16="http://schemas.microsoft.com/office/drawing/2014/main" id="{D3966E95-B961-AC11-D7AC-8BB320F689D2}"/>
              </a:ext>
            </a:extLst>
          </p:cNvPr>
          <p:cNvSpPr txBox="1"/>
          <p:nvPr/>
        </p:nvSpPr>
        <p:spPr>
          <a:xfrm>
            <a:off x="7299159" y="4645210"/>
            <a:ext cx="4892841" cy="1200329"/>
          </a:xfrm>
          <a:prstGeom prst="rect">
            <a:avLst/>
          </a:prstGeom>
          <a:noFill/>
        </p:spPr>
        <p:txBody>
          <a:bodyPr wrap="square" rtlCol="0">
            <a:spAutoFit/>
          </a:bodyPr>
          <a:lstStyle/>
          <a:p>
            <a:r>
              <a:rPr lang="en-IN" dirty="0">
                <a:latin typeface="Arial" panose="020B0604020202020204" pitchFamily="34" charset="0"/>
                <a:cs typeface="Arial" panose="020B0604020202020204" pitchFamily="34" charset="0"/>
              </a:rPr>
              <a:t>K. </a:t>
            </a:r>
            <a:r>
              <a:rPr lang="en-IN" dirty="0" err="1">
                <a:latin typeface="Arial" panose="020B0604020202020204" pitchFamily="34" charset="0"/>
                <a:cs typeface="Arial" panose="020B0604020202020204" pitchFamily="34" charset="0"/>
              </a:rPr>
              <a:t>Sai</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Tejaswi</a:t>
            </a:r>
            <a:r>
              <a:rPr lang="en-IN" dirty="0">
                <a:latin typeface="Arial" panose="020B0604020202020204" pitchFamily="34" charset="0"/>
                <a:cs typeface="Arial" panose="020B0604020202020204" pitchFamily="34" charset="0"/>
              </a:rPr>
              <a:t> :  25B11CS336</a:t>
            </a:r>
          </a:p>
          <a:p>
            <a:r>
              <a:rPr lang="en-IN" dirty="0">
                <a:latin typeface="Arial" panose="020B0604020202020204" pitchFamily="34" charset="0"/>
                <a:cs typeface="Arial" panose="020B0604020202020204" pitchFamily="34" charset="0"/>
              </a:rPr>
              <a:t>C. Keerthana :   25B11CS158</a:t>
            </a:r>
          </a:p>
          <a:p>
            <a:r>
              <a:rPr lang="en-IN" dirty="0">
                <a:latin typeface="Arial" panose="020B0604020202020204" pitchFamily="34" charset="0"/>
                <a:cs typeface="Arial" panose="020B0604020202020204" pitchFamily="34" charset="0"/>
              </a:rPr>
              <a:t>A. Namratha :    25B11CS052</a:t>
            </a:r>
          </a:p>
          <a:p>
            <a:r>
              <a:rPr lang="en-IN" dirty="0" err="1">
                <a:latin typeface="Arial" panose="020B0604020202020204" pitchFamily="34" charset="0"/>
                <a:cs typeface="Arial" panose="020B0604020202020204" pitchFamily="34" charset="0"/>
              </a:rPr>
              <a:t>Venkata</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Kiran</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Teja</a:t>
            </a:r>
            <a:r>
              <a:rPr lang="en-IN" dirty="0">
                <a:latin typeface="Arial" panose="020B0604020202020204" pitchFamily="34" charset="0"/>
                <a:cs typeface="Arial" panose="020B0604020202020204" pitchFamily="34" charset="0"/>
              </a:rPr>
              <a:t>:  26B21CS160</a:t>
            </a:r>
          </a:p>
        </p:txBody>
      </p:sp>
    </p:spTree>
    <p:extLst>
      <p:ext uri="{BB962C8B-B14F-4D97-AF65-F5344CB8AC3E}">
        <p14:creationId xmlns:p14="http://schemas.microsoft.com/office/powerpoint/2010/main" val="28255332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3138" y="1144675"/>
            <a:ext cx="4644189" cy="947806"/>
          </a:xfrm>
        </p:spPr>
        <p:txBody>
          <a:bodyPr>
            <a:normAutofit/>
          </a:bodyPr>
          <a:lstStyle/>
          <a:p>
            <a:pPr algn="ctr"/>
            <a:r>
              <a:rPr lang="en-IN" sz="3200" b="1" dirty="0">
                <a:latin typeface="Arial" panose="020B0604020202020204" pitchFamily="34" charset="0"/>
                <a:ea typeface="Artifakt Element Book" panose="020B0503050000020004" pitchFamily="34" charset="0"/>
                <a:cs typeface="Arial" panose="020B0604020202020204" pitchFamily="34" charset="0"/>
              </a:rPr>
              <a:t>Real-World Problem</a:t>
            </a:r>
          </a:p>
        </p:txBody>
      </p:sp>
      <p:sp>
        <p:nvSpPr>
          <p:cNvPr id="3" name="Content Placeholder 2"/>
          <p:cNvSpPr>
            <a:spLocks noGrp="1"/>
          </p:cNvSpPr>
          <p:nvPr>
            <p:ph idx="1"/>
          </p:nvPr>
        </p:nvSpPr>
        <p:spPr>
          <a:xfrm>
            <a:off x="878305" y="2314909"/>
            <a:ext cx="10515600" cy="3243680"/>
          </a:xfrm>
        </p:spPr>
        <p:txBody>
          <a:bodyPr>
            <a:normAutofit fontScale="85000" lnSpcReduction="10000"/>
          </a:bodyPr>
          <a:lstStyle/>
          <a:p>
            <a:pPr marL="0" indent="0">
              <a:lnSpc>
                <a:spcPct val="110000"/>
              </a:lnSpc>
              <a:buNone/>
            </a:pPr>
            <a:r>
              <a:rPr lang="en-US" dirty="0">
                <a:latin typeface="Arial" panose="020B0604020202020204" pitchFamily="34" charset="0"/>
                <a:cs typeface="Arial" panose="020B0604020202020204" pitchFamily="34" charset="0"/>
              </a:rPr>
              <a:t>Hotels need to manage many customers, rooms, reservations, check-ins,</a:t>
            </a:r>
          </a:p>
          <a:p>
            <a:pPr marL="0" indent="0">
              <a:lnSpc>
                <a:spcPct val="110000"/>
              </a:lnSpc>
              <a:buNone/>
            </a:pPr>
            <a:r>
              <a:rPr lang="en-US" dirty="0">
                <a:latin typeface="Arial" panose="020B0604020202020204" pitchFamily="34" charset="0"/>
                <a:cs typeface="Arial" panose="020B0604020202020204" pitchFamily="34" charset="0"/>
              </a:rPr>
              <a:t>check-outs, and payments. Managing all these details manually can lead to</a:t>
            </a:r>
          </a:p>
          <a:p>
            <a:pPr marL="0" indent="0">
              <a:lnSpc>
                <a:spcPct val="110000"/>
              </a:lnSpc>
              <a:buNone/>
            </a:pPr>
            <a:r>
              <a:rPr lang="en-US" dirty="0">
                <a:latin typeface="Arial" panose="020B0604020202020204" pitchFamily="34" charset="0"/>
                <a:cs typeface="Arial" panose="020B0604020202020204" pitchFamily="34" charset="0"/>
              </a:rPr>
              <a:t>errors, duplicate bookings, and difficulty in finding information. It can also</a:t>
            </a:r>
          </a:p>
          <a:p>
            <a:pPr marL="0" indent="0">
              <a:lnSpc>
                <a:spcPct val="110000"/>
              </a:lnSpc>
              <a:buNone/>
            </a:pPr>
            <a:r>
              <a:rPr lang="en-US" dirty="0">
                <a:latin typeface="Arial" panose="020B0604020202020204" pitchFamily="34" charset="0"/>
                <a:cs typeface="Arial" panose="020B0604020202020204" pitchFamily="34" charset="0"/>
              </a:rPr>
              <a:t>take more time to check room availability and customer records. Our Hotel</a:t>
            </a:r>
          </a:p>
          <a:p>
            <a:pPr marL="0" indent="0">
              <a:lnSpc>
                <a:spcPct val="110000"/>
              </a:lnSpc>
              <a:buNone/>
            </a:pPr>
            <a:r>
              <a:rPr lang="en-US" dirty="0">
                <a:latin typeface="Arial" panose="020B0604020202020204" pitchFamily="34" charset="0"/>
                <a:cs typeface="Arial" panose="020B0604020202020204" pitchFamily="34" charset="0"/>
              </a:rPr>
              <a:t>Reservation Management System solves these problems by storing and </a:t>
            </a:r>
          </a:p>
          <a:p>
            <a:pPr marL="0" indent="0">
              <a:lnSpc>
                <a:spcPct val="110000"/>
              </a:lnSpc>
              <a:buNone/>
            </a:pPr>
            <a:r>
              <a:rPr lang="en-US" dirty="0">
                <a:latin typeface="Arial" panose="020B0604020202020204" pitchFamily="34" charset="0"/>
                <a:cs typeface="Arial" panose="020B0604020202020204" pitchFamily="34" charset="0"/>
              </a:rPr>
              <a:t>managing hotel information in a database.</a:t>
            </a:r>
            <a:endParaRPr lang="en-IN" dirty="0">
              <a:latin typeface="Arial" panose="020B0604020202020204" pitchFamily="34" charset="0"/>
              <a:cs typeface="Arial" panose="020B0604020202020204" pitchFamily="34" charset="0"/>
            </a:endParaRPr>
          </a:p>
          <a:p>
            <a:pPr marL="0" indent="0">
              <a:lnSpc>
                <a:spcPct val="110000"/>
              </a:lnSpc>
              <a:buNone/>
            </a:pPr>
            <a:endParaRPr lang="en-IN" dirty="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7FD01E17-A25B-49EC-3318-79AAE5A607EF}"/>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36357" y="56148"/>
            <a:ext cx="2165685" cy="866100"/>
          </a:xfrm>
          <a:prstGeom prst="rect">
            <a:avLst/>
          </a:prstGeom>
        </p:spPr>
      </p:pic>
    </p:spTree>
    <p:extLst>
      <p:ext uri="{BB962C8B-B14F-4D97-AF65-F5344CB8AC3E}">
        <p14:creationId xmlns:p14="http://schemas.microsoft.com/office/powerpoint/2010/main" val="12053848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5011" y="1419727"/>
            <a:ext cx="6007767" cy="1259306"/>
          </a:xfrm>
        </p:spPr>
        <p:txBody>
          <a:bodyPr>
            <a:normAutofit/>
          </a:bodyPr>
          <a:lstStyle/>
          <a:p>
            <a:pPr algn="ctr"/>
            <a:r>
              <a:rPr lang="en-US" sz="3200" b="1" dirty="0">
                <a:latin typeface="Arial" panose="020B0604020202020204" pitchFamily="34" charset="0"/>
                <a:ea typeface="Artifakt Element Book" panose="020B0503050000020004" pitchFamily="34" charset="0"/>
                <a:cs typeface="Arial" panose="020B0604020202020204" pitchFamily="34" charset="0"/>
              </a:rPr>
              <a:t>Why the Project is Needed</a:t>
            </a:r>
            <a:endParaRPr lang="en-IN" sz="3200" b="1" dirty="0">
              <a:latin typeface="Arial" panose="020B0604020202020204" pitchFamily="34" charset="0"/>
              <a:ea typeface="Artifakt Element Book" panose="020B0503050000020004" pitchFamily="34" charset="0"/>
              <a:cs typeface="Arial" panose="020B0604020202020204" pitchFamily="34" charset="0"/>
            </a:endParaRPr>
          </a:p>
        </p:txBody>
      </p:sp>
      <p:sp>
        <p:nvSpPr>
          <p:cNvPr id="3" name="Content Placeholder 2"/>
          <p:cNvSpPr>
            <a:spLocks noGrp="1"/>
          </p:cNvSpPr>
          <p:nvPr>
            <p:ph idx="1"/>
          </p:nvPr>
        </p:nvSpPr>
        <p:spPr>
          <a:xfrm>
            <a:off x="878306" y="2844298"/>
            <a:ext cx="10515600" cy="2690228"/>
          </a:xfrm>
        </p:spPr>
        <p:txBody>
          <a:bodyPr>
            <a:normAutofit fontScale="85000" lnSpcReduction="10000"/>
          </a:bodyPr>
          <a:lstStyle/>
          <a:p>
            <a:pPr marL="0" indent="0">
              <a:lnSpc>
                <a:spcPct val="110000"/>
              </a:lnSpc>
              <a:buNone/>
            </a:pPr>
            <a:r>
              <a:rPr lang="en-US" dirty="0">
                <a:latin typeface="Arial" panose="020B0604020202020204" pitchFamily="34" charset="0"/>
                <a:cs typeface="Arial" panose="020B0604020202020204" pitchFamily="34" charset="0"/>
              </a:rPr>
              <a:t>The project is needed to make hotel reservation activities faster, easier, and </a:t>
            </a:r>
          </a:p>
          <a:p>
            <a:pPr marL="0" indent="0">
              <a:lnSpc>
                <a:spcPct val="110000"/>
              </a:lnSpc>
              <a:buNone/>
            </a:pPr>
            <a:r>
              <a:rPr lang="en-US" dirty="0">
                <a:latin typeface="Arial" panose="020B0604020202020204" pitchFamily="34" charset="0"/>
                <a:cs typeface="Arial" panose="020B0604020202020204" pitchFamily="34" charset="0"/>
              </a:rPr>
              <a:t>more organized. It helps staff quickly check available rooms and manage</a:t>
            </a:r>
          </a:p>
          <a:p>
            <a:pPr marL="0" indent="0">
              <a:lnSpc>
                <a:spcPct val="110000"/>
              </a:lnSpc>
              <a:buNone/>
            </a:pPr>
            <a:r>
              <a:rPr lang="en-US" dirty="0">
                <a:latin typeface="Arial" panose="020B0604020202020204" pitchFamily="34" charset="0"/>
                <a:cs typeface="Arial" panose="020B0604020202020204" pitchFamily="34" charset="0"/>
              </a:rPr>
              <a:t>customer bookings. It reduces manual paperwork and avoids common </a:t>
            </a:r>
          </a:p>
          <a:p>
            <a:pPr marL="0" indent="0">
              <a:lnSpc>
                <a:spcPct val="110000"/>
              </a:lnSpc>
              <a:buNone/>
            </a:pPr>
            <a:r>
              <a:rPr lang="en-US" dirty="0">
                <a:latin typeface="Arial" panose="020B0604020202020204" pitchFamily="34" charset="0"/>
                <a:cs typeface="Arial" panose="020B0604020202020204" pitchFamily="34" charset="0"/>
              </a:rPr>
              <a:t>errors such as double booking. The system also makes it easier to store, </a:t>
            </a:r>
          </a:p>
          <a:p>
            <a:pPr marL="0" indent="0">
              <a:lnSpc>
                <a:spcPct val="110000"/>
              </a:lnSpc>
              <a:buNone/>
            </a:pPr>
            <a:r>
              <a:rPr lang="en-US" dirty="0">
                <a:latin typeface="Arial" panose="020B0604020202020204" pitchFamily="34" charset="0"/>
                <a:cs typeface="Arial" panose="020B0604020202020204" pitchFamily="34" charset="0"/>
              </a:rPr>
              <a:t>update, and retrieve customer, room, reservation, and payment details.</a:t>
            </a:r>
            <a:endParaRPr lang="en-IN"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E45D9816-DF3B-FE32-703F-B1BD638562A2}"/>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36357" y="56148"/>
            <a:ext cx="2165685" cy="866100"/>
          </a:xfrm>
          <a:prstGeom prst="rect">
            <a:avLst/>
          </a:prstGeom>
        </p:spPr>
      </p:pic>
    </p:spTree>
    <p:extLst>
      <p:ext uri="{BB962C8B-B14F-4D97-AF65-F5344CB8AC3E}">
        <p14:creationId xmlns:p14="http://schemas.microsoft.com/office/powerpoint/2010/main" val="39602399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199" y="730923"/>
            <a:ext cx="5626768" cy="1391920"/>
          </a:xfrm>
        </p:spPr>
        <p:txBody>
          <a:bodyPr>
            <a:normAutofit/>
          </a:bodyPr>
          <a:lstStyle/>
          <a:p>
            <a:pPr algn="ctr"/>
            <a:r>
              <a:rPr lang="en-IN" sz="3200" b="1" dirty="0">
                <a:latin typeface="Arial" panose="020B0604020202020204" pitchFamily="34" charset="0"/>
                <a:ea typeface="Arial Unicode MS" panose="020B0604020202020204" pitchFamily="34" charset="-128"/>
                <a:cs typeface="Arial" panose="020B0604020202020204" pitchFamily="34" charset="0"/>
              </a:rPr>
              <a:t>Objectives of the project</a:t>
            </a:r>
          </a:p>
        </p:txBody>
      </p:sp>
      <p:sp>
        <p:nvSpPr>
          <p:cNvPr id="4" name="Rectangle 1"/>
          <p:cNvSpPr>
            <a:spLocks noGrp="1" noChangeArrowheads="1"/>
          </p:cNvSpPr>
          <p:nvPr>
            <p:ph idx="1"/>
          </p:nvPr>
        </p:nvSpPr>
        <p:spPr bwMode="auto">
          <a:xfrm>
            <a:off x="1510746" y="1931517"/>
            <a:ext cx="10448014" cy="4775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00000"/>
              </a:lnSpc>
              <a:spcBef>
                <a:spcPct val="0"/>
              </a:spcBef>
              <a:spcAft>
                <a:spcPct val="0"/>
              </a:spcAft>
              <a:buFont typeface="Wingdings" panose="05000000000000000000" pitchFamily="2" charset="2"/>
              <a:buChar char="Ø"/>
            </a:pPr>
            <a:r>
              <a:rPr lang="en-US" sz="2000" dirty="0">
                <a:latin typeface="Arial" panose="020B0604020202020204" pitchFamily="34" charset="0"/>
              </a:rPr>
              <a:t>To maintain customer details in a database.</a:t>
            </a:r>
          </a:p>
          <a:p>
            <a:pPr eaLnBrk="0" fontAlgn="base" hangingPunct="0">
              <a:lnSpc>
                <a:spcPct val="100000"/>
              </a:lnSpc>
              <a:spcBef>
                <a:spcPct val="0"/>
              </a:spcBef>
              <a:spcAft>
                <a:spcPct val="0"/>
              </a:spcAft>
              <a:buFont typeface="Wingdings" panose="05000000000000000000" pitchFamily="2" charset="2"/>
              <a:buChar char="Ø"/>
            </a:pPr>
            <a:endParaRPr lang="en-US" sz="2000" dirty="0">
              <a:latin typeface="Arial" panose="020B0604020202020204" pitchFamily="34" charset="0"/>
            </a:endParaRPr>
          </a:p>
          <a:p>
            <a:pPr lvl="0" eaLnBrk="0" fontAlgn="base" hangingPunct="0">
              <a:lnSpc>
                <a:spcPct val="100000"/>
              </a:lnSpc>
              <a:spcBef>
                <a:spcPct val="0"/>
              </a:spcBef>
              <a:spcAft>
                <a:spcPct val="0"/>
              </a:spcAft>
              <a:buFont typeface="Wingdings" panose="05000000000000000000" pitchFamily="2" charset="2"/>
              <a:buChar char="Ø"/>
            </a:pPr>
            <a:r>
              <a:rPr lang="en-US" sz="2000" dirty="0">
                <a:latin typeface="Arial" panose="020B0604020202020204" pitchFamily="34" charset="0"/>
              </a:rPr>
              <a:t>To manage room details and room availability.</a:t>
            </a:r>
          </a:p>
          <a:p>
            <a:pPr eaLnBrk="0" fontAlgn="base" hangingPunct="0">
              <a:lnSpc>
                <a:spcPct val="100000"/>
              </a:lnSpc>
              <a:spcBef>
                <a:spcPct val="0"/>
              </a:spcBef>
              <a:spcAft>
                <a:spcPct val="0"/>
              </a:spcAft>
              <a:buFont typeface="Wingdings" panose="05000000000000000000" pitchFamily="2" charset="2"/>
              <a:buChar char="Ø"/>
            </a:pPr>
            <a:endParaRPr lang="en-US" sz="2000" dirty="0">
              <a:latin typeface="Arial" panose="020B0604020202020204" pitchFamily="34" charset="0"/>
            </a:endParaRPr>
          </a:p>
          <a:p>
            <a:pPr lvl="0" eaLnBrk="0" fontAlgn="base" hangingPunct="0">
              <a:lnSpc>
                <a:spcPct val="100000"/>
              </a:lnSpc>
              <a:spcBef>
                <a:spcPct val="0"/>
              </a:spcBef>
              <a:spcAft>
                <a:spcPct val="0"/>
              </a:spcAft>
              <a:buFont typeface="Wingdings" panose="05000000000000000000" pitchFamily="2" charset="2"/>
              <a:buChar char="Ø"/>
            </a:pPr>
            <a:r>
              <a:rPr lang="en-US" sz="2000" dirty="0">
                <a:latin typeface="Arial" panose="020B0604020202020204" pitchFamily="34" charset="0"/>
              </a:rPr>
              <a:t>To allow customers to make and cancel reservations.</a:t>
            </a:r>
          </a:p>
          <a:p>
            <a:pPr eaLnBrk="0" fontAlgn="base" hangingPunct="0">
              <a:lnSpc>
                <a:spcPct val="100000"/>
              </a:lnSpc>
              <a:spcBef>
                <a:spcPct val="0"/>
              </a:spcBef>
              <a:spcAft>
                <a:spcPct val="0"/>
              </a:spcAft>
              <a:buFont typeface="Wingdings" panose="05000000000000000000" pitchFamily="2" charset="2"/>
              <a:buChar char="Ø"/>
            </a:pPr>
            <a:endParaRPr lang="en-US" sz="2000" dirty="0">
              <a:latin typeface="Arial" panose="020B0604020202020204" pitchFamily="34" charset="0"/>
            </a:endParaRPr>
          </a:p>
          <a:p>
            <a:pPr lvl="0" eaLnBrk="0" fontAlgn="base" hangingPunct="0">
              <a:lnSpc>
                <a:spcPct val="100000"/>
              </a:lnSpc>
              <a:spcBef>
                <a:spcPct val="0"/>
              </a:spcBef>
              <a:spcAft>
                <a:spcPct val="0"/>
              </a:spcAft>
              <a:buFont typeface="Wingdings" panose="05000000000000000000" pitchFamily="2" charset="2"/>
              <a:buChar char="Ø"/>
            </a:pPr>
            <a:r>
              <a:rPr lang="en-US" sz="2000" dirty="0">
                <a:latin typeface="Arial" panose="020B0604020202020204" pitchFamily="34" charset="0"/>
              </a:rPr>
              <a:t>To maintain check-in and check-out details. </a:t>
            </a:r>
          </a:p>
          <a:p>
            <a:pPr lvl="0" eaLnBrk="0" fontAlgn="base" hangingPunct="0">
              <a:lnSpc>
                <a:spcPct val="100000"/>
              </a:lnSpc>
              <a:spcBef>
                <a:spcPct val="0"/>
              </a:spcBef>
              <a:spcAft>
                <a:spcPct val="0"/>
              </a:spcAft>
              <a:buFont typeface="Wingdings" panose="05000000000000000000" pitchFamily="2" charset="2"/>
              <a:buChar char="Ø"/>
            </a:pPr>
            <a:endParaRPr lang="en-US" sz="2000" dirty="0">
              <a:latin typeface="Arial" panose="020B0604020202020204" pitchFamily="34" charset="0"/>
            </a:endParaRPr>
          </a:p>
          <a:p>
            <a:pPr lvl="0" eaLnBrk="0" fontAlgn="base" hangingPunct="0">
              <a:lnSpc>
                <a:spcPct val="100000"/>
              </a:lnSpc>
              <a:spcBef>
                <a:spcPct val="0"/>
              </a:spcBef>
              <a:spcAft>
                <a:spcPct val="0"/>
              </a:spcAft>
              <a:buFont typeface="Wingdings" panose="05000000000000000000" pitchFamily="2" charset="2"/>
              <a:buChar char="Ø"/>
            </a:pPr>
            <a:r>
              <a:rPr lang="en-US" sz="2000" dirty="0">
                <a:latin typeface="Arial" panose="020B0604020202020204" pitchFamily="34" charset="0"/>
              </a:rPr>
              <a:t>To store and manage payment information. </a:t>
            </a:r>
          </a:p>
          <a:p>
            <a:pPr lvl="0" eaLnBrk="0" fontAlgn="base" hangingPunct="0">
              <a:lnSpc>
                <a:spcPct val="100000"/>
              </a:lnSpc>
              <a:spcBef>
                <a:spcPct val="0"/>
              </a:spcBef>
              <a:spcAft>
                <a:spcPct val="0"/>
              </a:spcAft>
              <a:buFont typeface="Wingdings" panose="05000000000000000000" pitchFamily="2" charset="2"/>
              <a:buChar char="Ø"/>
            </a:pPr>
            <a:endParaRPr lang="en-US" sz="2000" dirty="0">
              <a:latin typeface="Arial" panose="020B0604020202020204" pitchFamily="34" charset="0"/>
            </a:endParaRPr>
          </a:p>
          <a:p>
            <a:pPr lvl="0" eaLnBrk="0" fontAlgn="base" hangingPunct="0">
              <a:lnSpc>
                <a:spcPct val="100000"/>
              </a:lnSpc>
              <a:spcBef>
                <a:spcPct val="0"/>
              </a:spcBef>
              <a:spcAft>
                <a:spcPct val="0"/>
              </a:spcAft>
              <a:buFont typeface="Wingdings" panose="05000000000000000000" pitchFamily="2" charset="2"/>
              <a:buChar char="Ø"/>
            </a:pPr>
            <a:r>
              <a:rPr lang="en-US" sz="2000" dirty="0">
                <a:latin typeface="Arial" panose="020B0604020202020204" pitchFamily="34" charset="0"/>
              </a:rPr>
              <a:t>To reduce manual work and data entry errors.</a:t>
            </a:r>
          </a:p>
          <a:p>
            <a:pPr eaLnBrk="0" fontAlgn="base" hangingPunct="0">
              <a:lnSpc>
                <a:spcPct val="100000"/>
              </a:lnSpc>
              <a:spcBef>
                <a:spcPct val="0"/>
              </a:spcBef>
              <a:spcAft>
                <a:spcPct val="0"/>
              </a:spcAft>
              <a:buFont typeface="Wingdings" panose="05000000000000000000" pitchFamily="2" charset="2"/>
              <a:buChar char="Ø"/>
            </a:pPr>
            <a:endParaRPr lang="en-US" sz="2000" dirty="0">
              <a:latin typeface="Arial" panose="020B0604020202020204" pitchFamily="34" charset="0"/>
            </a:endParaRPr>
          </a:p>
          <a:p>
            <a:pPr lvl="0" eaLnBrk="0" fontAlgn="base" hangingPunct="0">
              <a:lnSpc>
                <a:spcPct val="100000"/>
              </a:lnSpc>
              <a:spcBef>
                <a:spcPct val="0"/>
              </a:spcBef>
              <a:spcAft>
                <a:spcPct val="0"/>
              </a:spcAft>
              <a:buFont typeface="Wingdings" panose="05000000000000000000" pitchFamily="2" charset="2"/>
              <a:buChar char="Ø"/>
            </a:pPr>
            <a:r>
              <a:rPr lang="en-US" sz="2000" dirty="0">
                <a:latin typeface="Arial" panose="020B0604020202020204" pitchFamily="34" charset="0"/>
              </a:rPr>
              <a:t>To provide quick and accurate access to hotel records. </a:t>
            </a:r>
          </a:p>
          <a:p>
            <a:pPr>
              <a:buFont typeface="Wingdings" panose="05000000000000000000" pitchFamily="2" charset="2"/>
              <a:buChar char="Ø"/>
            </a:pPr>
            <a:endParaRPr lang="en-IN" sz="2000" dirty="0"/>
          </a:p>
          <a:p>
            <a:pPr lvl="0" eaLnBrk="0" fontAlgn="base" hangingPunct="0">
              <a:lnSpc>
                <a:spcPct val="100000"/>
              </a:lnSpc>
              <a:spcBef>
                <a:spcPct val="0"/>
              </a:spcBef>
              <a:spcAft>
                <a:spcPct val="0"/>
              </a:spcAft>
              <a:buFont typeface="Wingdings" panose="05000000000000000000" pitchFamily="2" charset="2"/>
              <a:buChar char="Ø"/>
            </a:pPr>
            <a:endParaRPr kumimoji="0" lang="en-US" sz="1800" i="0"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8CABA3BA-BC93-FB8B-C33D-411FD3B8F7A7}"/>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36357" y="56148"/>
            <a:ext cx="2165685" cy="866100"/>
          </a:xfrm>
          <a:prstGeom prst="rect">
            <a:avLst/>
          </a:prstGeom>
        </p:spPr>
      </p:pic>
    </p:spTree>
    <p:extLst>
      <p:ext uri="{BB962C8B-B14F-4D97-AF65-F5344CB8AC3E}">
        <p14:creationId xmlns:p14="http://schemas.microsoft.com/office/powerpoint/2010/main" val="39806488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527" y="247584"/>
            <a:ext cx="5514473" cy="2311132"/>
          </a:xfrm>
        </p:spPr>
        <p:txBody>
          <a:bodyPr>
            <a:normAutofit/>
          </a:bodyPr>
          <a:lstStyle/>
          <a:p>
            <a:pPr algn="ctr"/>
            <a:r>
              <a:rPr lang="en-IN" sz="3200" b="1" dirty="0">
                <a:latin typeface="Arial Narrow" panose="020B0606020202030204" pitchFamily="34" charset="0"/>
              </a:rPr>
              <a:t>Functional Requirements</a:t>
            </a:r>
          </a:p>
        </p:txBody>
      </p:sp>
      <p:sp>
        <p:nvSpPr>
          <p:cNvPr id="3" name="Content Placeholder 2"/>
          <p:cNvSpPr>
            <a:spLocks noGrp="1"/>
          </p:cNvSpPr>
          <p:nvPr>
            <p:ph idx="1"/>
          </p:nvPr>
        </p:nvSpPr>
        <p:spPr>
          <a:xfrm>
            <a:off x="1219199" y="1937049"/>
            <a:ext cx="8825659" cy="4397071"/>
          </a:xfrm>
        </p:spPr>
        <p:txBody>
          <a:bodyPr>
            <a:normAutofit/>
          </a:bodyPr>
          <a:lstStyle/>
          <a:p>
            <a:pPr marL="0" indent="0">
              <a:buNone/>
            </a:pPr>
            <a:r>
              <a:rPr lang="en-US" sz="2400" dirty="0">
                <a:latin typeface="Arial Unicode MS" panose="020B0604020202020204" pitchFamily="34" charset="-128"/>
                <a:ea typeface="Arial Unicode MS" panose="020B0604020202020204" pitchFamily="34" charset="-128"/>
                <a:cs typeface="Arial Unicode MS" panose="020B0604020202020204" pitchFamily="34" charset="-128"/>
              </a:rPr>
              <a:t>Functional Requirements are the tasks the system should perform:</a:t>
            </a:r>
          </a:p>
          <a:p>
            <a:pPr>
              <a:lnSpc>
                <a:spcPct val="100000"/>
              </a:lnSpc>
              <a:buFont typeface="Wingdings" panose="05000000000000000000" pitchFamily="2" charset="2"/>
              <a:buChar char="Ø"/>
            </a:pPr>
            <a:r>
              <a:rPr lang="en-US" sz="2400" dirty="0">
                <a:latin typeface="Arial Unicode MS" panose="020B0604020202020204" pitchFamily="34" charset="-128"/>
                <a:ea typeface="Arial Unicode MS" panose="020B0604020202020204" pitchFamily="34" charset="-128"/>
                <a:cs typeface="Arial Unicode MS" panose="020B0604020202020204" pitchFamily="34" charset="-128"/>
              </a:rPr>
              <a:t>Register and manage customer details. </a:t>
            </a:r>
          </a:p>
          <a:p>
            <a:pPr>
              <a:lnSpc>
                <a:spcPct val="100000"/>
              </a:lnSpc>
              <a:buFont typeface="Wingdings" panose="05000000000000000000" pitchFamily="2" charset="2"/>
              <a:buChar char="Ø"/>
            </a:pPr>
            <a:r>
              <a:rPr lang="en-US" sz="2400" dirty="0">
                <a:latin typeface="Arial Unicode MS" panose="020B0604020202020204" pitchFamily="34" charset="-128"/>
                <a:ea typeface="Arial Unicode MS" panose="020B0604020202020204" pitchFamily="34" charset="-128"/>
                <a:cs typeface="Arial Unicode MS" panose="020B0604020202020204" pitchFamily="34" charset="-128"/>
              </a:rPr>
              <a:t>Add, update, and delete room information. </a:t>
            </a:r>
          </a:p>
          <a:p>
            <a:pPr>
              <a:lnSpc>
                <a:spcPct val="100000"/>
              </a:lnSpc>
              <a:buFont typeface="Wingdings" panose="05000000000000000000" pitchFamily="2" charset="2"/>
              <a:buChar char="Ø"/>
            </a:pPr>
            <a:r>
              <a:rPr lang="en-US" sz="2400" dirty="0">
                <a:latin typeface="Arial Unicode MS" panose="020B0604020202020204" pitchFamily="34" charset="-128"/>
                <a:ea typeface="Arial Unicode MS" panose="020B0604020202020204" pitchFamily="34" charset="-128"/>
                <a:cs typeface="Arial Unicode MS" panose="020B0604020202020204" pitchFamily="34" charset="-128"/>
              </a:rPr>
              <a:t>Check room availability. </a:t>
            </a:r>
          </a:p>
          <a:p>
            <a:pPr>
              <a:lnSpc>
                <a:spcPct val="100000"/>
              </a:lnSpc>
              <a:buFont typeface="Wingdings" panose="05000000000000000000" pitchFamily="2" charset="2"/>
              <a:buChar char="Ø"/>
            </a:pPr>
            <a:r>
              <a:rPr lang="en-US" sz="2400" dirty="0">
                <a:latin typeface="Arial Unicode MS" panose="020B0604020202020204" pitchFamily="34" charset="-128"/>
                <a:ea typeface="Arial Unicode MS" panose="020B0604020202020204" pitchFamily="34" charset="-128"/>
                <a:cs typeface="Arial Unicode MS" panose="020B0604020202020204" pitchFamily="34" charset="-128"/>
              </a:rPr>
              <a:t>Create and cancel reservations. </a:t>
            </a:r>
          </a:p>
          <a:p>
            <a:pPr>
              <a:lnSpc>
                <a:spcPct val="100000"/>
              </a:lnSpc>
              <a:buFont typeface="Wingdings" panose="05000000000000000000" pitchFamily="2" charset="2"/>
              <a:buChar char="Ø"/>
            </a:pPr>
            <a:r>
              <a:rPr lang="en-US" sz="2400" dirty="0">
                <a:latin typeface="Arial Unicode MS" panose="020B0604020202020204" pitchFamily="34" charset="-128"/>
                <a:ea typeface="Arial Unicode MS" panose="020B0604020202020204" pitchFamily="34" charset="-128"/>
                <a:cs typeface="Arial Unicode MS" panose="020B0604020202020204" pitchFamily="34" charset="-128"/>
              </a:rPr>
              <a:t>Manage check-in and check-out. </a:t>
            </a:r>
          </a:p>
          <a:p>
            <a:pPr>
              <a:lnSpc>
                <a:spcPct val="100000"/>
              </a:lnSpc>
              <a:buFont typeface="Wingdings" panose="05000000000000000000" pitchFamily="2" charset="2"/>
              <a:buChar char="Ø"/>
            </a:pPr>
            <a:r>
              <a:rPr lang="en-US" sz="2400" dirty="0">
                <a:latin typeface="Arial Unicode MS" panose="020B0604020202020204" pitchFamily="34" charset="-128"/>
                <a:ea typeface="Arial Unicode MS" panose="020B0604020202020204" pitchFamily="34" charset="-128"/>
                <a:cs typeface="Arial Unicode MS" panose="020B0604020202020204" pitchFamily="34" charset="-128"/>
              </a:rPr>
              <a:t>Record payment details. </a:t>
            </a:r>
          </a:p>
          <a:p>
            <a:pPr>
              <a:lnSpc>
                <a:spcPct val="100000"/>
              </a:lnSpc>
              <a:buFont typeface="Wingdings" panose="05000000000000000000" pitchFamily="2" charset="2"/>
              <a:buChar char="Ø"/>
            </a:pPr>
            <a:r>
              <a:rPr lang="en-US" sz="2400" dirty="0">
                <a:latin typeface="Arial Unicode MS" panose="020B0604020202020204" pitchFamily="34" charset="-128"/>
                <a:ea typeface="Arial Unicode MS" panose="020B0604020202020204" pitchFamily="34" charset="-128"/>
                <a:cs typeface="Arial Unicode MS" panose="020B0604020202020204" pitchFamily="34" charset="-128"/>
              </a:rPr>
              <a:t>Generate reservation and customer records.</a:t>
            </a:r>
          </a:p>
        </p:txBody>
      </p:sp>
      <p:pic>
        <p:nvPicPr>
          <p:cNvPr id="6" name="Picture 5">
            <a:extLst>
              <a:ext uri="{FF2B5EF4-FFF2-40B4-BE49-F238E27FC236}">
                <a16:creationId xmlns:a16="http://schemas.microsoft.com/office/drawing/2014/main" id="{27FF0146-F334-AB86-FF8D-1A90C9C64C24}"/>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36357" y="56148"/>
            <a:ext cx="2165685" cy="866100"/>
          </a:xfrm>
          <a:prstGeom prst="rect">
            <a:avLst/>
          </a:prstGeom>
        </p:spPr>
      </p:pic>
    </p:spTree>
    <p:extLst>
      <p:ext uri="{BB962C8B-B14F-4D97-AF65-F5344CB8AC3E}">
        <p14:creationId xmlns:p14="http://schemas.microsoft.com/office/powerpoint/2010/main" val="11019686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1" y="350152"/>
            <a:ext cx="5610726" cy="1697355"/>
          </a:xfrm>
        </p:spPr>
        <p:txBody>
          <a:bodyPr>
            <a:normAutofit/>
          </a:bodyPr>
          <a:lstStyle/>
          <a:p>
            <a:pPr algn="ctr"/>
            <a:r>
              <a:rPr lang="en-IN" sz="3200" b="1" dirty="0">
                <a:latin typeface="Arial Narrow" panose="020B0606020202030204" pitchFamily="34" charset="0"/>
              </a:rPr>
              <a:t>Non-Functional Requirements</a:t>
            </a:r>
            <a:endParaRPr lang="en-IN" sz="3200" dirty="0">
              <a:latin typeface="Arial Narrow" panose="020B0606020202030204" pitchFamily="34" charset="0"/>
            </a:endParaRPr>
          </a:p>
        </p:txBody>
      </p:sp>
      <p:sp>
        <p:nvSpPr>
          <p:cNvPr id="3" name="Content Placeholder 2"/>
          <p:cNvSpPr>
            <a:spLocks noGrp="1"/>
          </p:cNvSpPr>
          <p:nvPr>
            <p:ph idx="1"/>
          </p:nvPr>
        </p:nvSpPr>
        <p:spPr>
          <a:xfrm>
            <a:off x="1219199" y="1897814"/>
            <a:ext cx="10098506" cy="4351338"/>
          </a:xfrm>
        </p:spPr>
        <p:txBody>
          <a:bodyPr>
            <a:normAutofit fontScale="92500" lnSpcReduction="20000"/>
          </a:bodyPr>
          <a:lstStyle/>
          <a:p>
            <a:pPr marL="0" indent="0">
              <a:buNone/>
            </a:pPr>
            <a:r>
              <a:rPr lang="en-US" sz="2400" dirty="0">
                <a:latin typeface="Arial Unicode MS" panose="020B0604020202020204" pitchFamily="34" charset="-128"/>
                <a:ea typeface="Arial Unicode MS" panose="020B0604020202020204" pitchFamily="34" charset="-128"/>
                <a:cs typeface="Arial Unicode MS" panose="020B0604020202020204" pitchFamily="34" charset="-128"/>
              </a:rPr>
              <a:t>Non-Functional Requirements describe how the system should work:</a:t>
            </a:r>
          </a:p>
          <a:p>
            <a:pPr marL="0" indent="0">
              <a:lnSpc>
                <a:spcPct val="150000"/>
              </a:lnSpc>
              <a:buNone/>
            </a:pPr>
            <a:r>
              <a:rPr lang="en-US" sz="2400" b="1" dirty="0">
                <a:latin typeface="Arial Unicode MS" panose="020B0604020202020204" pitchFamily="34" charset="-128"/>
                <a:ea typeface="Arial Unicode MS" panose="020B0604020202020204" pitchFamily="34" charset="-128"/>
                <a:cs typeface="Arial Unicode MS" panose="020B0604020202020204" pitchFamily="34" charset="-128"/>
              </a:rPr>
              <a:t>Security</a:t>
            </a:r>
            <a:r>
              <a:rPr lang="en-US" sz="2400" dirty="0">
                <a:latin typeface="Arial Unicode MS" panose="020B0604020202020204" pitchFamily="34" charset="-128"/>
                <a:ea typeface="Arial Unicode MS" panose="020B0604020202020204" pitchFamily="34" charset="-128"/>
                <a:cs typeface="Arial Unicode MS" panose="020B0604020202020204" pitchFamily="34" charset="-128"/>
              </a:rPr>
              <a:t>: Customer and payment information should be protected. </a:t>
            </a:r>
          </a:p>
          <a:p>
            <a:pPr marL="0" indent="0">
              <a:lnSpc>
                <a:spcPct val="150000"/>
              </a:lnSpc>
              <a:buNone/>
            </a:pPr>
            <a:r>
              <a:rPr lang="en-US" sz="2400" b="1" dirty="0">
                <a:latin typeface="Arial Unicode MS" panose="020B0604020202020204" pitchFamily="34" charset="-128"/>
                <a:ea typeface="Arial Unicode MS" panose="020B0604020202020204" pitchFamily="34" charset="-128"/>
                <a:cs typeface="Arial Unicode MS" panose="020B0604020202020204" pitchFamily="34" charset="-128"/>
              </a:rPr>
              <a:t>Reliability</a:t>
            </a:r>
            <a:r>
              <a:rPr lang="en-US" sz="2400" dirty="0">
                <a:latin typeface="Arial Unicode MS" panose="020B0604020202020204" pitchFamily="34" charset="-128"/>
                <a:ea typeface="Arial Unicode MS" panose="020B0604020202020204" pitchFamily="34" charset="-128"/>
                <a:cs typeface="Arial Unicode MS" panose="020B0604020202020204" pitchFamily="34" charset="-128"/>
              </a:rPr>
              <a:t>: The system should provide accurate information. </a:t>
            </a:r>
          </a:p>
          <a:p>
            <a:pPr marL="0" indent="0">
              <a:lnSpc>
                <a:spcPct val="150000"/>
              </a:lnSpc>
              <a:buNone/>
            </a:pPr>
            <a:r>
              <a:rPr lang="en-US" sz="2400" b="1" dirty="0">
                <a:latin typeface="Arial Unicode MS" panose="020B0604020202020204" pitchFamily="34" charset="-128"/>
                <a:ea typeface="Arial Unicode MS" panose="020B0604020202020204" pitchFamily="34" charset="-128"/>
                <a:cs typeface="Arial Unicode MS" panose="020B0604020202020204" pitchFamily="34" charset="-128"/>
              </a:rPr>
              <a:t>Performance</a:t>
            </a:r>
            <a:r>
              <a:rPr lang="en-US" sz="2400" dirty="0">
                <a:latin typeface="Arial Unicode MS" panose="020B0604020202020204" pitchFamily="34" charset="-128"/>
                <a:ea typeface="Arial Unicode MS" panose="020B0604020202020204" pitchFamily="34" charset="-128"/>
                <a:cs typeface="Arial Unicode MS" panose="020B0604020202020204" pitchFamily="34" charset="-128"/>
              </a:rPr>
              <a:t>: The system should respond quickly to user requests. </a:t>
            </a:r>
          </a:p>
          <a:p>
            <a:pPr marL="0" indent="0">
              <a:lnSpc>
                <a:spcPct val="150000"/>
              </a:lnSpc>
              <a:buNone/>
            </a:pPr>
            <a:r>
              <a:rPr lang="en-US" sz="2400" b="1" dirty="0">
                <a:latin typeface="Arial Unicode MS" panose="020B0604020202020204" pitchFamily="34" charset="-128"/>
                <a:ea typeface="Arial Unicode MS" panose="020B0604020202020204" pitchFamily="34" charset="-128"/>
                <a:cs typeface="Arial Unicode MS" panose="020B0604020202020204" pitchFamily="34" charset="-128"/>
              </a:rPr>
              <a:t>Usability</a:t>
            </a:r>
            <a:r>
              <a:rPr lang="en-US" sz="2400" dirty="0">
                <a:latin typeface="Arial Unicode MS" panose="020B0604020202020204" pitchFamily="34" charset="-128"/>
                <a:ea typeface="Arial Unicode MS" panose="020B0604020202020204" pitchFamily="34" charset="-128"/>
                <a:cs typeface="Arial Unicode MS" panose="020B0604020202020204" pitchFamily="34" charset="-128"/>
              </a:rPr>
              <a:t>: The system should be simple and easy to use. </a:t>
            </a:r>
          </a:p>
          <a:p>
            <a:pPr marL="0" indent="0">
              <a:lnSpc>
                <a:spcPct val="150000"/>
              </a:lnSpc>
              <a:buNone/>
            </a:pPr>
            <a:r>
              <a:rPr lang="en-US" sz="2400" b="1" dirty="0">
                <a:latin typeface="Arial Unicode MS" panose="020B0604020202020204" pitchFamily="34" charset="-128"/>
                <a:ea typeface="Arial Unicode MS" panose="020B0604020202020204" pitchFamily="34" charset="-128"/>
                <a:cs typeface="Arial Unicode MS" panose="020B0604020202020204" pitchFamily="34" charset="-128"/>
              </a:rPr>
              <a:t>Scalability</a:t>
            </a:r>
            <a:r>
              <a:rPr lang="en-US" sz="2400" dirty="0">
                <a:latin typeface="Arial Unicode MS" panose="020B0604020202020204" pitchFamily="34" charset="-128"/>
                <a:ea typeface="Arial Unicode MS" panose="020B0604020202020204" pitchFamily="34" charset="-128"/>
                <a:cs typeface="Arial Unicode MS" panose="020B0604020202020204" pitchFamily="34" charset="-128"/>
              </a:rPr>
              <a:t>: The database should support more customers, rooms, and reservations as the hotel grows. </a:t>
            </a:r>
          </a:p>
          <a:p>
            <a:pPr marL="0" indent="0">
              <a:lnSpc>
                <a:spcPct val="150000"/>
              </a:lnSpc>
              <a:buNone/>
            </a:pPr>
            <a:r>
              <a:rPr lang="en-US" sz="2400" b="1" dirty="0">
                <a:latin typeface="Arial Unicode MS" panose="020B0604020202020204" pitchFamily="34" charset="-128"/>
                <a:ea typeface="Arial Unicode MS" panose="020B0604020202020204" pitchFamily="34" charset="-128"/>
                <a:cs typeface="Arial Unicode MS" panose="020B0604020202020204" pitchFamily="34" charset="-128"/>
              </a:rPr>
              <a:t>Data Integrity</a:t>
            </a:r>
            <a:r>
              <a:rPr lang="en-US" sz="2400" dirty="0">
                <a:latin typeface="Arial Unicode MS" panose="020B0604020202020204" pitchFamily="34" charset="-128"/>
                <a:ea typeface="Arial Unicode MS" panose="020B0604020202020204" pitchFamily="34" charset="-128"/>
                <a:cs typeface="Arial Unicode MS" panose="020B0604020202020204" pitchFamily="34" charset="-128"/>
              </a:rPr>
              <a:t>: The database should maintain correct and consistent records.</a:t>
            </a:r>
          </a:p>
          <a:p>
            <a:pPr marL="0" indent="0">
              <a:buNone/>
            </a:pPr>
            <a:endParaRPr lang="en-US" sz="2400" dirty="0">
              <a:latin typeface="Arial Unicode MS" panose="020B0604020202020204" pitchFamily="34" charset="-128"/>
              <a:ea typeface="Arial Unicode MS" panose="020B0604020202020204" pitchFamily="34" charset="-128"/>
              <a:cs typeface="Arial Unicode MS" panose="020B0604020202020204" pitchFamily="34" charset="-128"/>
            </a:endParaRPr>
          </a:p>
        </p:txBody>
      </p:sp>
      <p:pic>
        <p:nvPicPr>
          <p:cNvPr id="6" name="Picture 5">
            <a:extLst>
              <a:ext uri="{FF2B5EF4-FFF2-40B4-BE49-F238E27FC236}">
                <a16:creationId xmlns:a16="http://schemas.microsoft.com/office/drawing/2014/main" id="{495C3DBC-0F64-9A88-B2DC-DB647521DA0A}"/>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36357" y="56148"/>
            <a:ext cx="2165685" cy="866100"/>
          </a:xfrm>
          <a:prstGeom prst="rect">
            <a:avLst/>
          </a:prstGeom>
        </p:spPr>
      </p:pic>
    </p:spTree>
    <p:extLst>
      <p:ext uri="{BB962C8B-B14F-4D97-AF65-F5344CB8AC3E}">
        <p14:creationId xmlns:p14="http://schemas.microsoft.com/office/powerpoint/2010/main" val="40581466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922248"/>
            <a:ext cx="5378116" cy="1171073"/>
          </a:xfrm>
        </p:spPr>
        <p:txBody>
          <a:bodyPr>
            <a:normAutofit/>
          </a:bodyPr>
          <a:lstStyle/>
          <a:p>
            <a:pPr algn="ctr"/>
            <a:r>
              <a:rPr lang="en-US" sz="3200" b="1" dirty="0">
                <a:latin typeface="Arial" panose="020B0604020202020204" pitchFamily="34" charset="0"/>
                <a:cs typeface="Arial" panose="020B0604020202020204" pitchFamily="34" charset="0"/>
              </a:rPr>
              <a:t>End Users of the System</a:t>
            </a:r>
            <a:endParaRPr lang="en-IN" sz="3200" b="1"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958515" y="2077452"/>
            <a:ext cx="10515600" cy="3955131"/>
          </a:xfrm>
        </p:spPr>
        <p:txBody>
          <a:bodyPr>
            <a:normAutofit fontScale="85000" lnSpcReduction="10000"/>
          </a:bodyPr>
          <a:lstStyle/>
          <a:p>
            <a:pPr>
              <a:lnSpc>
                <a:spcPct val="120000"/>
              </a:lnSpc>
              <a:buFont typeface="Wingdings" panose="05000000000000000000" pitchFamily="2" charset="2"/>
              <a:buChar char="Ø"/>
            </a:pPr>
            <a:r>
              <a:rPr lang="en-US" sz="2400" b="1" dirty="0">
                <a:latin typeface="Arial" panose="020B0604020202020204" pitchFamily="34" charset="0"/>
                <a:cs typeface="Arial" panose="020B0604020202020204" pitchFamily="34" charset="0"/>
              </a:rPr>
              <a:t>Hotel Receptionists:</a:t>
            </a:r>
            <a:br>
              <a:rPr lang="en-US" sz="2400" dirty="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Manage guest details, room reservations, check-ins, check-outs, and payment records.</a:t>
            </a:r>
          </a:p>
          <a:p>
            <a:pPr>
              <a:lnSpc>
                <a:spcPct val="120000"/>
              </a:lnSpc>
              <a:buFont typeface="Wingdings" panose="05000000000000000000" pitchFamily="2" charset="2"/>
              <a:buChar char="Ø"/>
            </a:pPr>
            <a:r>
              <a:rPr lang="en-US" sz="2400" b="1" dirty="0">
                <a:latin typeface="Arial" panose="020B0604020202020204" pitchFamily="34" charset="0"/>
                <a:cs typeface="Arial" panose="020B0604020202020204" pitchFamily="34" charset="0"/>
              </a:rPr>
              <a:t>Hotel Managers:</a:t>
            </a:r>
            <a:br>
              <a:rPr lang="en-US" sz="2400" dirty="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View and manage hotel, room, staff, reservation, and payment information.</a:t>
            </a:r>
          </a:p>
          <a:p>
            <a:pPr>
              <a:lnSpc>
                <a:spcPct val="120000"/>
              </a:lnSpc>
              <a:buFont typeface="Wingdings" panose="05000000000000000000" pitchFamily="2" charset="2"/>
              <a:buChar char="Ø"/>
            </a:pPr>
            <a:r>
              <a:rPr lang="en-US" sz="2400" b="1" dirty="0">
                <a:latin typeface="Arial" panose="020B0604020202020204" pitchFamily="34" charset="0"/>
                <a:cs typeface="Arial" panose="020B0604020202020204" pitchFamily="34" charset="0"/>
              </a:rPr>
              <a:t>Guests:</a:t>
            </a:r>
            <a:br>
              <a:rPr lang="en-US" sz="2400" dirty="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Check room availability, provide personal details, and make or cancel reservations.</a:t>
            </a:r>
          </a:p>
          <a:p>
            <a:pPr>
              <a:lnSpc>
                <a:spcPct val="120000"/>
              </a:lnSpc>
              <a:buFont typeface="Wingdings" panose="05000000000000000000" pitchFamily="2" charset="2"/>
              <a:buChar char="Ø"/>
            </a:pPr>
            <a:r>
              <a:rPr lang="en-US" sz="2400" b="1" dirty="0">
                <a:latin typeface="Arial" panose="020B0604020202020204" pitchFamily="34" charset="0"/>
                <a:cs typeface="Arial" panose="020B0604020202020204" pitchFamily="34" charset="0"/>
              </a:rPr>
              <a:t>Hotel Staff:</a:t>
            </a:r>
            <a:br>
              <a:rPr lang="en-US" sz="2400" dirty="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Manage room status, assist guests, and update reservation-related information.</a:t>
            </a:r>
          </a:p>
          <a:p>
            <a:pPr>
              <a:lnSpc>
                <a:spcPct val="120000"/>
              </a:lnSpc>
              <a:buFont typeface="Wingdings" panose="05000000000000000000" pitchFamily="2" charset="2"/>
              <a:buChar char="Ø"/>
            </a:pPr>
            <a:r>
              <a:rPr lang="en-US" sz="2400" b="1" dirty="0">
                <a:latin typeface="Arial" panose="020B0604020202020204" pitchFamily="34" charset="0"/>
                <a:cs typeface="Arial" panose="020B0604020202020204" pitchFamily="34" charset="0"/>
              </a:rPr>
              <a:t>Administrators:</a:t>
            </a:r>
            <a:br>
              <a:rPr lang="en-US" sz="2400" dirty="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Manage the database, system users, hotel information, and overall system operations.</a:t>
            </a:r>
          </a:p>
          <a:p>
            <a:pPr>
              <a:lnSpc>
                <a:spcPct val="120000"/>
              </a:lnSpc>
              <a:buFont typeface="Wingdings" panose="05000000000000000000" pitchFamily="2" charset="2"/>
              <a:buChar char="Ø"/>
            </a:pPr>
            <a:endParaRPr lang="en-US" sz="2400" dirty="0">
              <a:latin typeface="Arial" panose="020B0604020202020204" pitchFamily="34" charset="0"/>
              <a:ea typeface="Arial Unicode MS" panose="020B0604020202020204" pitchFamily="34" charset="-128"/>
              <a:cs typeface="Arial" panose="020B0604020202020204" pitchFamily="34" charset="0"/>
            </a:endParaRPr>
          </a:p>
        </p:txBody>
      </p:sp>
      <p:pic>
        <p:nvPicPr>
          <p:cNvPr id="6" name="Picture 5">
            <a:extLst>
              <a:ext uri="{FF2B5EF4-FFF2-40B4-BE49-F238E27FC236}">
                <a16:creationId xmlns:a16="http://schemas.microsoft.com/office/drawing/2014/main" id="{553E77F1-501F-F2F7-D9F6-121DF9BA01B9}"/>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36357" y="56148"/>
            <a:ext cx="2165685" cy="866100"/>
          </a:xfrm>
          <a:prstGeom prst="rect">
            <a:avLst/>
          </a:prstGeom>
        </p:spPr>
      </p:pic>
    </p:spTree>
    <p:extLst>
      <p:ext uri="{BB962C8B-B14F-4D97-AF65-F5344CB8AC3E}">
        <p14:creationId xmlns:p14="http://schemas.microsoft.com/office/powerpoint/2010/main" val="25546211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3446" y="489198"/>
            <a:ext cx="5576503" cy="1325563"/>
          </a:xfrm>
        </p:spPr>
        <p:txBody>
          <a:bodyPr>
            <a:normAutofit/>
          </a:bodyPr>
          <a:lstStyle/>
          <a:p>
            <a:pPr algn="ctr"/>
            <a:r>
              <a:rPr lang="en-IN" sz="3200" b="1" dirty="0">
                <a:latin typeface="Arial" panose="020B0604020202020204" pitchFamily="34" charset="0"/>
                <a:cs typeface="Arial" panose="020B0604020202020204" pitchFamily="34" charset="0"/>
              </a:rPr>
              <a:t>Entities and Attributes</a:t>
            </a:r>
          </a:p>
        </p:txBody>
      </p:sp>
      <p:sp>
        <p:nvSpPr>
          <p:cNvPr id="12" name="Rectangle 8"/>
          <p:cNvSpPr>
            <a:spLocks noGrp="1" noChangeArrowheads="1"/>
          </p:cNvSpPr>
          <p:nvPr>
            <p:ph idx="1"/>
          </p:nvPr>
        </p:nvSpPr>
        <p:spPr bwMode="auto">
          <a:xfrm>
            <a:off x="1002631" y="1979378"/>
            <a:ext cx="10935186" cy="43755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nSpc>
                <a:spcPct val="100000"/>
              </a:lnSpc>
              <a:buNone/>
            </a:pPr>
            <a:r>
              <a:rPr lang="en-US" sz="2000" b="1" dirty="0">
                <a:latin typeface="Arial" panose="020B0604020202020204" pitchFamily="34" charset="0"/>
                <a:cs typeface="Arial" panose="020B0604020202020204" pitchFamily="34" charset="0"/>
              </a:rPr>
              <a:t>Hotel</a:t>
            </a:r>
          </a:p>
          <a:p>
            <a:pPr marL="0" indent="0">
              <a:lnSpc>
                <a:spcPct val="100000"/>
              </a:lnSpc>
              <a:buNone/>
            </a:pPr>
            <a:r>
              <a:rPr lang="en-US" sz="2000" dirty="0">
                <a:latin typeface="Arial" panose="020B0604020202020204" pitchFamily="34" charset="0"/>
                <a:cs typeface="Arial" panose="020B0604020202020204" pitchFamily="34" charset="0"/>
              </a:rPr>
              <a:t>Stores information about hotels in the system.</a:t>
            </a:r>
          </a:p>
          <a:p>
            <a:pPr marL="0" indent="0">
              <a:lnSpc>
                <a:spcPct val="100000"/>
              </a:lnSpc>
              <a:buNone/>
            </a:pPr>
            <a:r>
              <a:rPr lang="en-US" sz="2000" b="1" dirty="0">
                <a:latin typeface="Arial" panose="020B0604020202020204" pitchFamily="34" charset="0"/>
                <a:cs typeface="Arial" panose="020B0604020202020204" pitchFamily="34" charset="0"/>
              </a:rPr>
              <a:t>Attributes</a:t>
            </a:r>
            <a:r>
              <a:rPr lang="en-US" sz="2000" b="1" dirty="0"/>
              <a:t>:</a:t>
            </a:r>
            <a:endParaRPr lang="en-US" sz="2000" dirty="0"/>
          </a:p>
          <a:p>
            <a:pPr marL="0" indent="0">
              <a:lnSpc>
                <a:spcPct val="100000"/>
              </a:lnSpc>
              <a:buNone/>
            </a:pPr>
            <a:r>
              <a:rPr lang="en-US" sz="2000" dirty="0">
                <a:latin typeface="Arial" panose="020B0604020202020204" pitchFamily="34" charset="0"/>
                <a:cs typeface="Arial" panose="020B0604020202020204" pitchFamily="34" charset="0"/>
              </a:rPr>
              <a:t>1.Hotel_ID — Primary Key </a:t>
            </a:r>
          </a:p>
          <a:p>
            <a:pPr marL="0" indent="0">
              <a:lnSpc>
                <a:spcPct val="100000"/>
              </a:lnSpc>
              <a:buNone/>
            </a:pPr>
            <a:r>
              <a:rPr lang="en-US" sz="2000" dirty="0">
                <a:latin typeface="Arial" panose="020B0604020202020204" pitchFamily="34" charset="0"/>
                <a:cs typeface="Arial" panose="020B0604020202020204" pitchFamily="34" charset="0"/>
              </a:rPr>
              <a:t>2.Hotel_Name </a:t>
            </a:r>
          </a:p>
          <a:p>
            <a:pPr marL="0" indent="0">
              <a:lnSpc>
                <a:spcPct val="100000"/>
              </a:lnSpc>
              <a:buNone/>
            </a:pPr>
            <a:r>
              <a:rPr lang="en-US" sz="2000" dirty="0">
                <a:latin typeface="Arial" panose="020B0604020202020204" pitchFamily="34" charset="0"/>
                <a:cs typeface="Arial" panose="020B0604020202020204" pitchFamily="34" charset="0"/>
              </a:rPr>
              <a:t>3.Location </a:t>
            </a:r>
          </a:p>
          <a:p>
            <a:pPr marL="0" indent="0">
              <a:lnSpc>
                <a:spcPct val="100000"/>
              </a:lnSpc>
              <a:buNone/>
            </a:pPr>
            <a:r>
              <a:rPr lang="en-US" sz="2000" dirty="0">
                <a:latin typeface="Arial" panose="020B0604020202020204" pitchFamily="34" charset="0"/>
                <a:cs typeface="Arial" panose="020B0604020202020204" pitchFamily="34" charset="0"/>
              </a:rPr>
              <a:t>4.Contact_No </a:t>
            </a:r>
          </a:p>
          <a:p>
            <a:pPr marL="0" indent="0">
              <a:lnSpc>
                <a:spcPct val="100000"/>
              </a:lnSpc>
              <a:buNone/>
            </a:pPr>
            <a:r>
              <a:rPr lang="en-US" sz="2000" b="1" dirty="0">
                <a:latin typeface="Arial" panose="020B0604020202020204" pitchFamily="34" charset="0"/>
                <a:cs typeface="Arial" panose="020B0604020202020204" pitchFamily="34" charset="0"/>
              </a:rPr>
              <a:t>Why included?</a:t>
            </a:r>
            <a:br>
              <a:rPr lang="en-US" sz="2000" dirty="0"/>
            </a:br>
            <a:r>
              <a:rPr lang="en-US" sz="2000" dirty="0">
                <a:latin typeface="Arial" panose="020B0604020202020204" pitchFamily="34" charset="0"/>
                <a:cs typeface="Arial" panose="020B0604020202020204" pitchFamily="34" charset="0"/>
              </a:rPr>
              <a:t>We need hotel details to identify each hotel and store its basic information such as name, location, and contact number.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2000" b="0" i="0" u="none" strike="noStrike" cap="none" normalizeH="0" baseline="0" dirty="0">
              <a:ln>
                <a:noFill/>
              </a:ln>
              <a:solidFill>
                <a:schemeClr val="tx1"/>
              </a:solidFill>
              <a:effectLst/>
              <a:latin typeface="Arial" panose="020B0604020202020204" pitchFamily="34" charset="0"/>
              <a:ea typeface="Arial Unicode MS" panose="020B0604020202020204" pitchFamily="34" charset="-128"/>
              <a:cs typeface="Arial" panose="020B0604020202020204" pitchFamily="34" charset="0"/>
            </a:endParaRPr>
          </a:p>
        </p:txBody>
      </p:sp>
      <p:pic>
        <p:nvPicPr>
          <p:cNvPr id="5" name="Picture 4">
            <a:extLst>
              <a:ext uri="{FF2B5EF4-FFF2-40B4-BE49-F238E27FC236}">
                <a16:creationId xmlns:a16="http://schemas.microsoft.com/office/drawing/2014/main" id="{D80D4FE3-CE02-D070-9341-A27D42AFF3CB}"/>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36357" y="56148"/>
            <a:ext cx="2165685" cy="866100"/>
          </a:xfrm>
          <a:prstGeom prst="rect">
            <a:avLst/>
          </a:prstGeom>
        </p:spPr>
      </p:pic>
    </p:spTree>
    <p:extLst>
      <p:ext uri="{BB962C8B-B14F-4D97-AF65-F5344CB8AC3E}">
        <p14:creationId xmlns:p14="http://schemas.microsoft.com/office/powerpoint/2010/main" val="42624963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idx="1"/>
          </p:nvPr>
        </p:nvSpPr>
        <p:spPr bwMode="auto">
          <a:xfrm>
            <a:off x="922421" y="1412391"/>
            <a:ext cx="10718143" cy="51136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50000"/>
              </a:lnSpc>
              <a:spcBef>
                <a:spcPct val="0"/>
              </a:spcBef>
              <a:spcAft>
                <a:spcPct val="0"/>
              </a:spcAft>
              <a:buNone/>
            </a:pPr>
            <a:r>
              <a:rPr lang="en-US" sz="2000" b="1" dirty="0">
                <a:latin typeface="Arial" panose="020B0604020202020204" pitchFamily="34" charset="0"/>
                <a:cs typeface="Arial" panose="020B0604020202020204" pitchFamily="34" charset="0"/>
              </a:rPr>
              <a:t>Room</a:t>
            </a:r>
          </a:p>
          <a:p>
            <a:pPr marL="0" lvl="0" indent="0" eaLnBrk="0" fontAlgn="base" hangingPunct="0">
              <a:lnSpc>
                <a:spcPct val="150000"/>
              </a:lnSpc>
              <a:spcBef>
                <a:spcPct val="0"/>
              </a:spcBef>
              <a:spcAft>
                <a:spcPct val="0"/>
              </a:spcAft>
              <a:buNone/>
            </a:pPr>
            <a:r>
              <a:rPr lang="en-US" sz="2000" dirty="0">
                <a:latin typeface="Arial" panose="020B0604020202020204" pitchFamily="34" charset="0"/>
                <a:cs typeface="Arial" panose="020B0604020202020204" pitchFamily="34" charset="0"/>
              </a:rPr>
              <a:t>Stores information about the rooms available in the hotel.</a:t>
            </a:r>
          </a:p>
          <a:p>
            <a:pPr marL="0" lvl="0" indent="0" eaLnBrk="0" fontAlgn="base" hangingPunct="0">
              <a:lnSpc>
                <a:spcPct val="150000"/>
              </a:lnSpc>
              <a:spcBef>
                <a:spcPct val="0"/>
              </a:spcBef>
              <a:spcAft>
                <a:spcPct val="0"/>
              </a:spcAft>
              <a:buNone/>
            </a:pPr>
            <a:endParaRPr lang="en-US" sz="2000" dirty="0">
              <a:latin typeface="Arial" panose="020B0604020202020204" pitchFamily="34" charset="0"/>
              <a:cs typeface="Arial" panose="020B0604020202020204" pitchFamily="34" charset="0"/>
            </a:endParaRPr>
          </a:p>
          <a:p>
            <a:pPr marL="0" lvl="0" indent="0" eaLnBrk="0" fontAlgn="base" hangingPunct="0">
              <a:lnSpc>
                <a:spcPct val="150000"/>
              </a:lnSpc>
              <a:spcBef>
                <a:spcPct val="0"/>
              </a:spcBef>
              <a:spcAft>
                <a:spcPct val="0"/>
              </a:spcAft>
              <a:buNone/>
            </a:pPr>
            <a:r>
              <a:rPr lang="en-US" sz="2000" b="1" dirty="0">
                <a:latin typeface="Arial" panose="020B0604020202020204" pitchFamily="34" charset="0"/>
                <a:cs typeface="Arial" panose="020B0604020202020204" pitchFamily="34" charset="0"/>
              </a:rPr>
              <a:t>Attributes:</a:t>
            </a:r>
            <a:endParaRPr lang="en-US" sz="2000" dirty="0">
              <a:latin typeface="Arial" panose="020B0604020202020204" pitchFamily="34" charset="0"/>
              <a:cs typeface="Arial" panose="020B0604020202020204" pitchFamily="34" charset="0"/>
            </a:endParaRPr>
          </a:p>
          <a:p>
            <a:pPr marL="0" lvl="0" indent="0" eaLnBrk="0" fontAlgn="base" hangingPunct="0">
              <a:lnSpc>
                <a:spcPct val="150000"/>
              </a:lnSpc>
              <a:spcBef>
                <a:spcPct val="0"/>
              </a:spcBef>
              <a:spcAft>
                <a:spcPct val="0"/>
              </a:spcAft>
              <a:buNone/>
            </a:pPr>
            <a:r>
              <a:rPr lang="en-US" sz="2000" dirty="0">
                <a:latin typeface="Arial" panose="020B0604020202020204" pitchFamily="34" charset="0"/>
                <a:cs typeface="Arial" panose="020B0604020202020204" pitchFamily="34" charset="0"/>
              </a:rPr>
              <a:t>1. </a:t>
            </a:r>
            <a:r>
              <a:rPr lang="en-US" sz="2000" dirty="0" err="1">
                <a:latin typeface="Arial" panose="020B0604020202020204" pitchFamily="34" charset="0"/>
                <a:cs typeface="Arial" panose="020B0604020202020204" pitchFamily="34" charset="0"/>
              </a:rPr>
              <a:t>Room_ID</a:t>
            </a:r>
            <a:r>
              <a:rPr lang="en-US" sz="2000" dirty="0">
                <a:latin typeface="Arial" panose="020B0604020202020204" pitchFamily="34" charset="0"/>
                <a:cs typeface="Arial" panose="020B0604020202020204" pitchFamily="34" charset="0"/>
              </a:rPr>
              <a:t> — Primary Key  </a:t>
            </a:r>
          </a:p>
          <a:p>
            <a:pPr marL="0" lvl="0" indent="0" eaLnBrk="0" fontAlgn="base" hangingPunct="0">
              <a:lnSpc>
                <a:spcPct val="150000"/>
              </a:lnSpc>
              <a:spcBef>
                <a:spcPct val="0"/>
              </a:spcBef>
              <a:spcAft>
                <a:spcPct val="0"/>
              </a:spcAft>
              <a:buNone/>
            </a:pPr>
            <a:r>
              <a:rPr lang="en-US" sz="2000" dirty="0">
                <a:latin typeface="Arial" panose="020B0604020202020204" pitchFamily="34" charset="0"/>
                <a:cs typeface="Arial" panose="020B0604020202020204" pitchFamily="34" charset="0"/>
              </a:rPr>
              <a:t>2. </a:t>
            </a:r>
            <a:r>
              <a:rPr lang="en-US" sz="2000" dirty="0" err="1">
                <a:latin typeface="Arial" panose="020B0604020202020204" pitchFamily="34" charset="0"/>
                <a:cs typeface="Arial" panose="020B0604020202020204" pitchFamily="34" charset="0"/>
              </a:rPr>
              <a:t>Room_Type</a:t>
            </a:r>
            <a:r>
              <a:rPr lang="en-US" sz="2000" dirty="0">
                <a:latin typeface="Arial" panose="020B0604020202020204" pitchFamily="34" charset="0"/>
                <a:cs typeface="Arial" panose="020B0604020202020204" pitchFamily="34" charset="0"/>
              </a:rPr>
              <a:t> </a:t>
            </a:r>
          </a:p>
          <a:p>
            <a:pPr marL="0" lvl="0" indent="0" eaLnBrk="0" fontAlgn="base" hangingPunct="0">
              <a:lnSpc>
                <a:spcPct val="150000"/>
              </a:lnSpc>
              <a:spcBef>
                <a:spcPct val="0"/>
              </a:spcBef>
              <a:spcAft>
                <a:spcPct val="0"/>
              </a:spcAft>
              <a:buNone/>
            </a:pPr>
            <a:r>
              <a:rPr lang="en-US" sz="2000" dirty="0">
                <a:latin typeface="Arial" panose="020B0604020202020204" pitchFamily="34" charset="0"/>
                <a:cs typeface="Arial" panose="020B0604020202020204" pitchFamily="34" charset="0"/>
              </a:rPr>
              <a:t>3. Price </a:t>
            </a:r>
          </a:p>
          <a:p>
            <a:pPr marL="0" lvl="0" indent="0" eaLnBrk="0" fontAlgn="base" hangingPunct="0">
              <a:lnSpc>
                <a:spcPct val="150000"/>
              </a:lnSpc>
              <a:spcBef>
                <a:spcPct val="0"/>
              </a:spcBef>
              <a:spcAft>
                <a:spcPct val="0"/>
              </a:spcAft>
              <a:buNone/>
            </a:pPr>
            <a:r>
              <a:rPr lang="en-US" sz="2000" b="1" dirty="0">
                <a:latin typeface="Arial" panose="020B0604020202020204" pitchFamily="34" charset="0"/>
                <a:cs typeface="Arial" panose="020B0604020202020204" pitchFamily="34" charset="0"/>
              </a:rPr>
              <a:t>Why included?</a:t>
            </a: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The hotel needs to know which rooms exist, their types, prices, and whether they are available or occupied.</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sz="2000" b="0" i="0" u="none" strike="noStrike" cap="none" normalizeH="0" baseline="0" dirty="0">
              <a:ln>
                <a:noFill/>
              </a:ln>
              <a:solidFill>
                <a:schemeClr val="tx1"/>
              </a:solidFill>
              <a:effectLst/>
              <a:latin typeface="Arial" panose="020B0604020202020204" pitchFamily="34" charset="0"/>
              <a:ea typeface="Arial Unicode MS" panose="020B0604020202020204" pitchFamily="34" charset="-128"/>
              <a:cs typeface="Arial" panose="020B0604020202020204" pitchFamily="34" charset="0"/>
            </a:endParaRPr>
          </a:p>
        </p:txBody>
      </p:sp>
      <p:pic>
        <p:nvPicPr>
          <p:cNvPr id="5" name="Picture 4">
            <a:extLst>
              <a:ext uri="{FF2B5EF4-FFF2-40B4-BE49-F238E27FC236}">
                <a16:creationId xmlns:a16="http://schemas.microsoft.com/office/drawing/2014/main" id="{EB2D23C7-3E81-17EA-1797-8B2548C34194}"/>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36357" y="56148"/>
            <a:ext cx="2165685" cy="866100"/>
          </a:xfrm>
          <a:prstGeom prst="rect">
            <a:avLst/>
          </a:prstGeom>
        </p:spPr>
      </p:pic>
    </p:spTree>
    <p:extLst>
      <p:ext uri="{BB962C8B-B14F-4D97-AF65-F5344CB8AC3E}">
        <p14:creationId xmlns:p14="http://schemas.microsoft.com/office/powerpoint/2010/main" val="20167393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779" y="1416552"/>
            <a:ext cx="10515600" cy="4351338"/>
          </a:xfrm>
        </p:spPr>
        <p:txBody>
          <a:bodyPr>
            <a:normAutofit/>
          </a:bodyPr>
          <a:lstStyle/>
          <a:p>
            <a:pPr marL="0" indent="0">
              <a:lnSpc>
                <a:spcPct val="110000"/>
              </a:lnSpc>
              <a:buNone/>
            </a:pPr>
            <a:r>
              <a:rPr lang="en-US" sz="2000" b="1" dirty="0">
                <a:latin typeface="Arial" panose="020B0604020202020204" pitchFamily="34" charset="0"/>
                <a:cs typeface="Arial" panose="020B0604020202020204" pitchFamily="34" charset="0"/>
              </a:rPr>
              <a:t>Guest</a:t>
            </a:r>
          </a:p>
          <a:p>
            <a:pPr marL="0" indent="0">
              <a:lnSpc>
                <a:spcPct val="110000"/>
              </a:lnSpc>
              <a:buNone/>
            </a:pPr>
            <a:r>
              <a:rPr lang="en-US" sz="2000" dirty="0">
                <a:latin typeface="Arial" panose="020B0604020202020204" pitchFamily="34" charset="0"/>
                <a:cs typeface="Arial" panose="020B0604020202020204" pitchFamily="34" charset="0"/>
              </a:rPr>
              <a:t>Stores information about people who book rooms.</a:t>
            </a:r>
          </a:p>
          <a:p>
            <a:pPr marL="0" indent="0">
              <a:lnSpc>
                <a:spcPct val="110000"/>
              </a:lnSpc>
              <a:buNone/>
            </a:pPr>
            <a:r>
              <a:rPr lang="en-US" sz="2000" b="1" dirty="0">
                <a:latin typeface="Arial" panose="020B0604020202020204" pitchFamily="34" charset="0"/>
                <a:cs typeface="Arial" panose="020B0604020202020204" pitchFamily="34" charset="0"/>
              </a:rPr>
              <a:t>Attributes</a:t>
            </a:r>
            <a:r>
              <a:rPr lang="en-US" sz="2000" dirty="0">
                <a:latin typeface="Arial" panose="020B0604020202020204" pitchFamily="34" charset="0"/>
                <a:cs typeface="Arial" panose="020B0604020202020204" pitchFamily="34" charset="0"/>
              </a:rPr>
              <a:t>:</a:t>
            </a:r>
          </a:p>
          <a:p>
            <a:pPr marL="0" indent="0">
              <a:lnSpc>
                <a:spcPct val="110000"/>
              </a:lnSpc>
              <a:buNone/>
            </a:pPr>
            <a:r>
              <a:rPr lang="en-US" sz="2000" dirty="0" err="1">
                <a:latin typeface="Arial" panose="020B0604020202020204" pitchFamily="34" charset="0"/>
                <a:cs typeface="Arial" panose="020B0604020202020204" pitchFamily="34" charset="0"/>
              </a:rPr>
              <a:t>Guest_ID</a:t>
            </a:r>
            <a:r>
              <a:rPr lang="en-US" sz="2000" dirty="0">
                <a:latin typeface="Arial" panose="020B0604020202020204" pitchFamily="34" charset="0"/>
                <a:cs typeface="Arial" panose="020B0604020202020204" pitchFamily="34" charset="0"/>
              </a:rPr>
              <a:t> — Primary Key </a:t>
            </a:r>
          </a:p>
          <a:p>
            <a:pPr marL="0" indent="0">
              <a:lnSpc>
                <a:spcPct val="110000"/>
              </a:lnSpc>
              <a:buNone/>
            </a:pPr>
            <a:r>
              <a:rPr lang="en-US" sz="2000" dirty="0" err="1">
                <a:latin typeface="Arial" panose="020B0604020202020204" pitchFamily="34" charset="0"/>
                <a:cs typeface="Arial" panose="020B0604020202020204" pitchFamily="34" charset="0"/>
              </a:rPr>
              <a:t>Guest_Name</a:t>
            </a:r>
            <a:r>
              <a:rPr lang="en-US" sz="2000" dirty="0">
                <a:latin typeface="Arial" panose="020B0604020202020204" pitchFamily="34" charset="0"/>
                <a:cs typeface="Arial" panose="020B0604020202020204" pitchFamily="34" charset="0"/>
              </a:rPr>
              <a:t> </a:t>
            </a:r>
          </a:p>
          <a:p>
            <a:pPr marL="0" indent="0">
              <a:lnSpc>
                <a:spcPct val="110000"/>
              </a:lnSpc>
              <a:buNone/>
            </a:pPr>
            <a:r>
              <a:rPr lang="en-US" sz="2000" dirty="0">
                <a:latin typeface="Arial" panose="020B0604020202020204" pitchFamily="34" charset="0"/>
                <a:cs typeface="Arial" panose="020B0604020202020204" pitchFamily="34" charset="0"/>
              </a:rPr>
              <a:t>Phone </a:t>
            </a:r>
          </a:p>
          <a:p>
            <a:pPr marL="0" indent="0">
              <a:lnSpc>
                <a:spcPct val="110000"/>
              </a:lnSpc>
              <a:buNone/>
            </a:pPr>
            <a:r>
              <a:rPr lang="en-US" sz="2000" dirty="0">
                <a:latin typeface="Arial" panose="020B0604020202020204" pitchFamily="34" charset="0"/>
                <a:cs typeface="Arial" panose="020B0604020202020204" pitchFamily="34" charset="0"/>
              </a:rPr>
              <a:t>Email </a:t>
            </a:r>
          </a:p>
          <a:p>
            <a:pPr marL="0" indent="0">
              <a:lnSpc>
                <a:spcPct val="110000"/>
              </a:lnSpc>
              <a:buNone/>
            </a:pPr>
            <a:r>
              <a:rPr lang="en-US" sz="2000" b="1" dirty="0">
                <a:latin typeface="Arial" panose="020B0604020202020204" pitchFamily="34" charset="0"/>
                <a:cs typeface="Arial" panose="020B0604020202020204" pitchFamily="34" charset="0"/>
              </a:rPr>
              <a:t>Why included?</a:t>
            </a: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We need guest details to identify who made each reservation and to maintain their contact information.</a:t>
            </a:r>
          </a:p>
          <a:p>
            <a:pPr>
              <a:lnSpc>
                <a:spcPct val="110000"/>
              </a:lnSpc>
            </a:pPr>
            <a:endParaRPr lang="en-IN" sz="2000" dirty="0"/>
          </a:p>
        </p:txBody>
      </p:sp>
      <p:pic>
        <p:nvPicPr>
          <p:cNvPr id="5" name="Picture 4">
            <a:extLst>
              <a:ext uri="{FF2B5EF4-FFF2-40B4-BE49-F238E27FC236}">
                <a16:creationId xmlns:a16="http://schemas.microsoft.com/office/drawing/2014/main" id="{EB2D23C7-3E81-17EA-1797-8B2548C34194}"/>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36357" y="56148"/>
            <a:ext cx="2165685" cy="866100"/>
          </a:xfrm>
          <a:prstGeom prst="rect">
            <a:avLst/>
          </a:prstGeom>
        </p:spPr>
      </p:pic>
    </p:spTree>
    <p:extLst>
      <p:ext uri="{BB962C8B-B14F-4D97-AF65-F5344CB8AC3E}">
        <p14:creationId xmlns:p14="http://schemas.microsoft.com/office/powerpoint/2010/main" val="27664922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idx="1"/>
          </p:nvPr>
        </p:nvSpPr>
        <p:spPr bwMode="auto">
          <a:xfrm>
            <a:off x="1163053" y="1590414"/>
            <a:ext cx="9978189" cy="40677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US" sz="2000" b="1" dirty="0">
                <a:latin typeface="Arial" panose="020B0604020202020204" pitchFamily="34" charset="0"/>
                <a:cs typeface="Arial" panose="020B0604020202020204" pitchFamily="34" charset="0"/>
              </a:rPr>
              <a:t>Staff</a:t>
            </a:r>
          </a:p>
          <a:p>
            <a:pPr marL="0" indent="0">
              <a:buNone/>
            </a:pPr>
            <a:r>
              <a:rPr lang="en-US" sz="2000" dirty="0">
                <a:latin typeface="Arial" panose="020B0604020202020204" pitchFamily="34" charset="0"/>
                <a:cs typeface="Arial" panose="020B0604020202020204" pitchFamily="34" charset="0"/>
              </a:rPr>
              <a:t>Stores information about staff members working in the hotel.</a:t>
            </a:r>
          </a:p>
          <a:p>
            <a:pPr marL="0" indent="0">
              <a:buNone/>
            </a:pPr>
            <a:r>
              <a:rPr lang="en-US" sz="2000" b="1" dirty="0">
                <a:latin typeface="Arial" panose="020B0604020202020204" pitchFamily="34" charset="0"/>
                <a:cs typeface="Arial" panose="020B0604020202020204" pitchFamily="34" charset="0"/>
              </a:rPr>
              <a:t>Attributes:</a:t>
            </a:r>
            <a:endParaRPr lang="en-US" sz="2000" dirty="0">
              <a:latin typeface="Arial" panose="020B0604020202020204" pitchFamily="34" charset="0"/>
              <a:cs typeface="Arial" panose="020B0604020202020204" pitchFamily="34" charset="0"/>
            </a:endParaRPr>
          </a:p>
          <a:p>
            <a:pPr marL="0" indent="0">
              <a:buNone/>
            </a:pPr>
            <a:r>
              <a:rPr lang="en-US" sz="2000" dirty="0" err="1">
                <a:latin typeface="Arial" panose="020B0604020202020204" pitchFamily="34" charset="0"/>
                <a:cs typeface="Arial" panose="020B0604020202020204" pitchFamily="34" charset="0"/>
              </a:rPr>
              <a:t>Staff_ID</a:t>
            </a:r>
            <a:r>
              <a:rPr lang="en-US" sz="2000" dirty="0">
                <a:latin typeface="Arial" panose="020B0604020202020204" pitchFamily="34" charset="0"/>
                <a:cs typeface="Arial" panose="020B0604020202020204" pitchFamily="34" charset="0"/>
              </a:rPr>
              <a:t> — Primary Key </a:t>
            </a:r>
          </a:p>
          <a:p>
            <a:pPr marL="0" indent="0">
              <a:buNone/>
            </a:pPr>
            <a:r>
              <a:rPr lang="en-US" sz="2000" dirty="0" err="1">
                <a:latin typeface="Arial" panose="020B0604020202020204" pitchFamily="34" charset="0"/>
                <a:cs typeface="Arial" panose="020B0604020202020204" pitchFamily="34" charset="0"/>
              </a:rPr>
              <a:t>Staff_Name</a:t>
            </a:r>
            <a:r>
              <a:rPr lang="en-US" sz="2000" dirty="0">
                <a:latin typeface="Arial" panose="020B0604020202020204" pitchFamily="34" charset="0"/>
                <a:cs typeface="Arial" panose="020B0604020202020204" pitchFamily="34" charset="0"/>
              </a:rPr>
              <a:t> </a:t>
            </a:r>
          </a:p>
          <a:p>
            <a:pPr marL="0" indent="0">
              <a:buNone/>
            </a:pPr>
            <a:r>
              <a:rPr lang="en-US" sz="2000" dirty="0" err="1">
                <a:latin typeface="Arial" panose="020B0604020202020204" pitchFamily="34" charset="0"/>
                <a:cs typeface="Arial" panose="020B0604020202020204" pitchFamily="34" charset="0"/>
              </a:rPr>
              <a:t>PhoneNo</a:t>
            </a:r>
            <a:r>
              <a:rPr lang="en-US" sz="2000" dirty="0">
                <a:latin typeface="Arial" panose="020B0604020202020204" pitchFamily="34" charset="0"/>
                <a:cs typeface="Arial" panose="020B0604020202020204" pitchFamily="34" charset="0"/>
              </a:rPr>
              <a:t> </a:t>
            </a:r>
          </a:p>
          <a:p>
            <a:pPr marL="0" indent="0">
              <a:buNone/>
            </a:pPr>
            <a:r>
              <a:rPr lang="en-US" sz="2000" dirty="0">
                <a:latin typeface="Arial" panose="020B0604020202020204" pitchFamily="34" charset="0"/>
                <a:cs typeface="Arial" panose="020B0604020202020204" pitchFamily="34" charset="0"/>
              </a:rPr>
              <a:t>Role </a:t>
            </a:r>
          </a:p>
          <a:p>
            <a:pPr marL="0" indent="0">
              <a:buNone/>
            </a:pPr>
            <a:r>
              <a:rPr lang="en-US" sz="2000" b="1" dirty="0">
                <a:latin typeface="Arial" panose="020B0604020202020204" pitchFamily="34" charset="0"/>
                <a:cs typeface="Arial" panose="020B0604020202020204" pitchFamily="34" charset="0"/>
              </a:rPr>
              <a:t>Why included?</a:t>
            </a: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We need staff details to identify hotel employees and maintain information about their contact details and roles.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7614E563-A7BB-A9AD-A3E5-FA30353F846D}"/>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36357" y="56148"/>
            <a:ext cx="2165685" cy="866100"/>
          </a:xfrm>
          <a:prstGeom prst="rect">
            <a:avLst/>
          </a:prstGeom>
        </p:spPr>
      </p:pic>
    </p:spTree>
    <p:extLst>
      <p:ext uri="{BB962C8B-B14F-4D97-AF65-F5344CB8AC3E}">
        <p14:creationId xmlns:p14="http://schemas.microsoft.com/office/powerpoint/2010/main" val="20069935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idx="1"/>
          </p:nvPr>
        </p:nvSpPr>
        <p:spPr bwMode="auto">
          <a:xfrm>
            <a:off x="1171074" y="1879172"/>
            <a:ext cx="10659979" cy="40677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nSpc>
                <a:spcPct val="100000"/>
              </a:lnSpc>
              <a:buNone/>
            </a:pPr>
            <a:r>
              <a:rPr lang="en-US" sz="2000" b="1" dirty="0">
                <a:latin typeface="Arial" panose="020B0604020202020204" pitchFamily="34" charset="0"/>
                <a:cs typeface="Arial" panose="020B0604020202020204" pitchFamily="34" charset="0"/>
              </a:rPr>
              <a:t>Reservation</a:t>
            </a:r>
          </a:p>
          <a:p>
            <a:pPr marL="0" indent="0">
              <a:lnSpc>
                <a:spcPct val="100000"/>
              </a:lnSpc>
              <a:buNone/>
            </a:pPr>
            <a:r>
              <a:rPr lang="en-US" sz="2000" dirty="0">
                <a:latin typeface="Arial" panose="020B0604020202020204" pitchFamily="34" charset="0"/>
                <a:cs typeface="Arial" panose="020B0604020202020204" pitchFamily="34" charset="0"/>
              </a:rPr>
              <a:t>Stores information about room reservations made by guests.</a:t>
            </a:r>
          </a:p>
          <a:p>
            <a:pPr marL="0" indent="0">
              <a:lnSpc>
                <a:spcPct val="100000"/>
              </a:lnSpc>
              <a:buNone/>
            </a:pPr>
            <a:r>
              <a:rPr lang="en-US" sz="2000" b="1" dirty="0">
                <a:latin typeface="Arial" panose="020B0604020202020204" pitchFamily="34" charset="0"/>
                <a:cs typeface="Arial" panose="020B0604020202020204" pitchFamily="34" charset="0"/>
              </a:rPr>
              <a:t>Attributes:</a:t>
            </a:r>
            <a:endParaRPr lang="en-US" sz="2000" dirty="0">
              <a:latin typeface="Arial" panose="020B0604020202020204" pitchFamily="34" charset="0"/>
              <a:cs typeface="Arial" panose="020B0604020202020204" pitchFamily="34" charset="0"/>
            </a:endParaRPr>
          </a:p>
          <a:p>
            <a:pPr marL="0" indent="0">
              <a:lnSpc>
                <a:spcPct val="100000"/>
              </a:lnSpc>
              <a:buNone/>
            </a:pPr>
            <a:r>
              <a:rPr lang="en-US" sz="2000" dirty="0" err="1">
                <a:latin typeface="Arial" panose="020B0604020202020204" pitchFamily="34" charset="0"/>
                <a:cs typeface="Arial" panose="020B0604020202020204" pitchFamily="34" charset="0"/>
              </a:rPr>
              <a:t>Reservation_ID</a:t>
            </a:r>
            <a:r>
              <a:rPr lang="en-US" sz="2000" dirty="0">
                <a:latin typeface="Arial" panose="020B0604020202020204" pitchFamily="34" charset="0"/>
                <a:cs typeface="Arial" panose="020B0604020202020204" pitchFamily="34" charset="0"/>
              </a:rPr>
              <a:t> — Primary Key </a:t>
            </a:r>
          </a:p>
          <a:p>
            <a:pPr marL="0" indent="0">
              <a:lnSpc>
                <a:spcPct val="100000"/>
              </a:lnSpc>
              <a:buNone/>
            </a:pPr>
            <a:r>
              <a:rPr lang="en-US" sz="2000" dirty="0" err="1">
                <a:latin typeface="Arial" panose="020B0604020202020204" pitchFamily="34" charset="0"/>
                <a:cs typeface="Arial" panose="020B0604020202020204" pitchFamily="34" charset="0"/>
              </a:rPr>
              <a:t>Check_In</a:t>
            </a:r>
            <a:r>
              <a:rPr lang="en-US" sz="2000" dirty="0">
                <a:latin typeface="Arial" panose="020B0604020202020204" pitchFamily="34" charset="0"/>
                <a:cs typeface="Arial" panose="020B0604020202020204" pitchFamily="34" charset="0"/>
              </a:rPr>
              <a:t> </a:t>
            </a:r>
          </a:p>
          <a:p>
            <a:pPr marL="0" indent="0">
              <a:lnSpc>
                <a:spcPct val="100000"/>
              </a:lnSpc>
              <a:buNone/>
            </a:pPr>
            <a:r>
              <a:rPr lang="en-US" sz="2000" dirty="0" err="1">
                <a:latin typeface="Arial" panose="020B0604020202020204" pitchFamily="34" charset="0"/>
                <a:cs typeface="Arial" panose="020B0604020202020204" pitchFamily="34" charset="0"/>
              </a:rPr>
              <a:t>Check_Out</a:t>
            </a:r>
            <a:r>
              <a:rPr lang="en-US" sz="2000" dirty="0">
                <a:latin typeface="Arial" panose="020B0604020202020204" pitchFamily="34" charset="0"/>
                <a:cs typeface="Arial" panose="020B0604020202020204" pitchFamily="34" charset="0"/>
              </a:rPr>
              <a:t> </a:t>
            </a:r>
          </a:p>
          <a:p>
            <a:pPr marL="0" indent="0">
              <a:lnSpc>
                <a:spcPct val="100000"/>
              </a:lnSpc>
              <a:buNone/>
            </a:pPr>
            <a:r>
              <a:rPr lang="en-US" sz="2000" dirty="0">
                <a:latin typeface="Arial" panose="020B0604020202020204" pitchFamily="34" charset="0"/>
                <a:cs typeface="Arial" panose="020B0604020202020204" pitchFamily="34" charset="0"/>
              </a:rPr>
              <a:t>Status </a:t>
            </a:r>
          </a:p>
          <a:p>
            <a:pPr marL="0" indent="0">
              <a:lnSpc>
                <a:spcPct val="100000"/>
              </a:lnSpc>
              <a:buNone/>
            </a:pPr>
            <a:r>
              <a:rPr lang="en-US" sz="2000" b="1" dirty="0">
                <a:latin typeface="Arial" panose="020B0604020202020204" pitchFamily="34" charset="0"/>
                <a:cs typeface="Arial" panose="020B0604020202020204" pitchFamily="34" charset="0"/>
              </a:rPr>
              <a:t>Why included?</a:t>
            </a: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We need reservation details to track bookings, check-in and check-out dates, and the current status of each reservation.</a:t>
            </a:r>
          </a:p>
        </p:txBody>
      </p:sp>
      <p:pic>
        <p:nvPicPr>
          <p:cNvPr id="5" name="Picture 4">
            <a:extLst>
              <a:ext uri="{FF2B5EF4-FFF2-40B4-BE49-F238E27FC236}">
                <a16:creationId xmlns:a16="http://schemas.microsoft.com/office/drawing/2014/main" id="{27D3651A-1331-BC35-6082-54D8A9762351}"/>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36357" y="56148"/>
            <a:ext cx="2165685" cy="866100"/>
          </a:xfrm>
          <a:prstGeom prst="rect">
            <a:avLst/>
          </a:prstGeom>
        </p:spPr>
      </p:pic>
    </p:spTree>
    <p:extLst>
      <p:ext uri="{BB962C8B-B14F-4D97-AF65-F5344CB8AC3E}">
        <p14:creationId xmlns:p14="http://schemas.microsoft.com/office/powerpoint/2010/main" val="10350485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buNone/>
            </a:pPr>
            <a:r>
              <a:rPr lang="en-US" sz="2000" b="1" dirty="0">
                <a:latin typeface="Arial" panose="020B0604020202020204" pitchFamily="34" charset="0"/>
                <a:cs typeface="Arial" panose="020B0604020202020204" pitchFamily="34" charset="0"/>
              </a:rPr>
              <a:t>Payment</a:t>
            </a:r>
          </a:p>
          <a:p>
            <a:pPr marL="0" indent="0">
              <a:buNone/>
            </a:pPr>
            <a:r>
              <a:rPr lang="en-US" sz="2000" dirty="0">
                <a:latin typeface="Arial" panose="020B0604020202020204" pitchFamily="34" charset="0"/>
                <a:cs typeface="Arial" panose="020B0604020202020204" pitchFamily="34" charset="0"/>
              </a:rPr>
              <a:t>Stores information about payments made for reservations.</a:t>
            </a:r>
          </a:p>
          <a:p>
            <a:pPr marL="0" indent="0">
              <a:buNone/>
            </a:pPr>
            <a:r>
              <a:rPr lang="en-US" sz="2000" b="1" dirty="0">
                <a:latin typeface="Arial" panose="020B0604020202020204" pitchFamily="34" charset="0"/>
                <a:cs typeface="Arial" panose="020B0604020202020204" pitchFamily="34" charset="0"/>
              </a:rPr>
              <a:t>Attributes:</a:t>
            </a:r>
            <a:endParaRPr lang="en-US" sz="2000" dirty="0">
              <a:latin typeface="Arial" panose="020B0604020202020204" pitchFamily="34" charset="0"/>
              <a:cs typeface="Arial" panose="020B0604020202020204" pitchFamily="34" charset="0"/>
            </a:endParaRPr>
          </a:p>
          <a:p>
            <a:pPr marL="0" indent="0">
              <a:buNone/>
            </a:pPr>
            <a:r>
              <a:rPr lang="en-US" sz="2000" dirty="0" err="1">
                <a:latin typeface="Arial" panose="020B0604020202020204" pitchFamily="34" charset="0"/>
                <a:cs typeface="Arial" panose="020B0604020202020204" pitchFamily="34" charset="0"/>
              </a:rPr>
              <a:t>Payment_ID</a:t>
            </a:r>
            <a:r>
              <a:rPr lang="en-US" sz="2000" dirty="0">
                <a:latin typeface="Arial" panose="020B0604020202020204" pitchFamily="34" charset="0"/>
                <a:cs typeface="Arial" panose="020B0604020202020204" pitchFamily="34" charset="0"/>
              </a:rPr>
              <a:t> — Primary Key </a:t>
            </a:r>
          </a:p>
          <a:p>
            <a:pPr marL="0" indent="0">
              <a:buNone/>
            </a:pPr>
            <a:r>
              <a:rPr lang="en-US" sz="2000" dirty="0">
                <a:latin typeface="Arial" panose="020B0604020202020204" pitchFamily="34" charset="0"/>
                <a:cs typeface="Arial" panose="020B0604020202020204" pitchFamily="34" charset="0"/>
              </a:rPr>
              <a:t>Amount </a:t>
            </a:r>
          </a:p>
          <a:p>
            <a:pPr marL="0" indent="0">
              <a:buNone/>
            </a:pPr>
            <a:r>
              <a:rPr lang="en-US" sz="2000" dirty="0" err="1">
                <a:latin typeface="Arial" panose="020B0604020202020204" pitchFamily="34" charset="0"/>
                <a:cs typeface="Arial" panose="020B0604020202020204" pitchFamily="34" charset="0"/>
              </a:rPr>
              <a:t>Payment_Date</a:t>
            </a:r>
            <a:r>
              <a:rPr lang="en-US" sz="2000" dirty="0">
                <a:latin typeface="Arial" panose="020B0604020202020204" pitchFamily="34" charset="0"/>
                <a:cs typeface="Arial" panose="020B0604020202020204" pitchFamily="34" charset="0"/>
              </a:rPr>
              <a:t> </a:t>
            </a:r>
          </a:p>
          <a:p>
            <a:pPr marL="0" indent="0">
              <a:buNone/>
            </a:pPr>
            <a:r>
              <a:rPr lang="en-US" sz="2000" dirty="0" err="1">
                <a:latin typeface="Arial" panose="020B0604020202020204" pitchFamily="34" charset="0"/>
                <a:cs typeface="Arial" panose="020B0604020202020204" pitchFamily="34" charset="0"/>
              </a:rPr>
              <a:t>Payment_Status</a:t>
            </a:r>
            <a:r>
              <a:rPr lang="en-US" sz="2000" dirty="0">
                <a:latin typeface="Arial" panose="020B0604020202020204" pitchFamily="34" charset="0"/>
                <a:cs typeface="Arial" panose="020B0604020202020204" pitchFamily="34" charset="0"/>
              </a:rPr>
              <a:t> </a:t>
            </a:r>
          </a:p>
          <a:p>
            <a:pPr marL="0" indent="0">
              <a:buNone/>
            </a:pPr>
            <a:r>
              <a:rPr lang="en-US" sz="2000" b="1" dirty="0">
                <a:latin typeface="Arial" panose="020B0604020202020204" pitchFamily="34" charset="0"/>
                <a:cs typeface="Arial" panose="020B0604020202020204" pitchFamily="34" charset="0"/>
              </a:rPr>
              <a:t>Why included?</a:t>
            </a: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We need payment details to record the amount paid, payment date, and payment status for each reservation.</a:t>
            </a:r>
          </a:p>
        </p:txBody>
      </p:sp>
      <p:pic>
        <p:nvPicPr>
          <p:cNvPr id="4" name="Picture 3">
            <a:extLst>
              <a:ext uri="{FF2B5EF4-FFF2-40B4-BE49-F238E27FC236}">
                <a16:creationId xmlns:a16="http://schemas.microsoft.com/office/drawing/2014/main" id="{27D3651A-1331-BC35-6082-54D8A9762351}"/>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36357" y="56148"/>
            <a:ext cx="2165685" cy="866100"/>
          </a:xfrm>
          <a:prstGeom prst="rect">
            <a:avLst/>
          </a:prstGeom>
        </p:spPr>
      </p:pic>
    </p:spTree>
    <p:extLst>
      <p:ext uri="{BB962C8B-B14F-4D97-AF65-F5344CB8AC3E}">
        <p14:creationId xmlns:p14="http://schemas.microsoft.com/office/powerpoint/2010/main" val="37907762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99973" y="349475"/>
            <a:ext cx="4078705" cy="1595755"/>
          </a:xfrm>
        </p:spPr>
        <p:txBody>
          <a:bodyPr>
            <a:normAutofit/>
          </a:bodyPr>
          <a:lstStyle/>
          <a:p>
            <a:pPr algn="ctr"/>
            <a:r>
              <a:rPr lang="en-IN" sz="3200" b="1" dirty="0">
                <a:latin typeface="Arial" panose="020B0604020202020204" pitchFamily="34" charset="0"/>
                <a:cs typeface="Arial" panose="020B0604020202020204" pitchFamily="34" charset="0"/>
              </a:rPr>
              <a:t>Relationships</a:t>
            </a:r>
          </a:p>
        </p:txBody>
      </p:sp>
      <p:sp>
        <p:nvSpPr>
          <p:cNvPr id="3" name="Content Placeholder 2"/>
          <p:cNvSpPr>
            <a:spLocks noGrp="1"/>
          </p:cNvSpPr>
          <p:nvPr>
            <p:ph idx="1"/>
          </p:nvPr>
        </p:nvSpPr>
        <p:spPr>
          <a:xfrm>
            <a:off x="886326" y="2250740"/>
            <a:ext cx="10515600" cy="3452228"/>
          </a:xfrm>
        </p:spPr>
        <p:txBody>
          <a:bodyPr>
            <a:normAutofit/>
          </a:bodyPr>
          <a:lstStyle/>
          <a:p>
            <a:pPr marL="0" indent="0">
              <a:buNone/>
            </a:pPr>
            <a:r>
              <a:rPr lang="en-US" sz="2000" b="1" dirty="0">
                <a:latin typeface="Arial" panose="020B0604020202020204" pitchFamily="34" charset="0"/>
                <a:cs typeface="Arial" panose="020B0604020202020204" pitchFamily="34" charset="0"/>
              </a:rPr>
              <a:t>Hotel — Room</a:t>
            </a:r>
          </a:p>
          <a:p>
            <a:pPr marL="0" indent="0">
              <a:lnSpc>
                <a:spcPct val="150000"/>
              </a:lnSpc>
              <a:buNone/>
            </a:pPr>
            <a:r>
              <a:rPr lang="en-US" sz="2000" dirty="0">
                <a:latin typeface="Arial" panose="020B0604020202020204" pitchFamily="34" charset="0"/>
                <a:cs typeface="Arial" panose="020B0604020202020204" pitchFamily="34" charset="0"/>
              </a:rPr>
              <a:t>Relationship: Contains</a:t>
            </a:r>
          </a:p>
          <a:p>
            <a:pPr marL="0" indent="0">
              <a:lnSpc>
                <a:spcPct val="150000"/>
              </a:lnSpc>
              <a:buNone/>
            </a:pPr>
            <a:r>
              <a:rPr lang="en-US" sz="2000" dirty="0">
                <a:latin typeface="Arial" panose="020B0604020202020204" pitchFamily="34" charset="0"/>
                <a:cs typeface="Arial" panose="020B0604020202020204" pitchFamily="34" charset="0"/>
              </a:rPr>
              <a:t>Cardinality: 1:M</a:t>
            </a:r>
          </a:p>
          <a:p>
            <a:pPr marL="0" indent="0">
              <a:lnSpc>
                <a:spcPct val="150000"/>
              </a:lnSpc>
              <a:buNone/>
            </a:pPr>
            <a:r>
              <a:rPr lang="en-US" sz="2000" dirty="0">
                <a:latin typeface="Arial" panose="020B0604020202020204" pitchFamily="34" charset="0"/>
                <a:cs typeface="Arial" panose="020B0604020202020204" pitchFamily="34" charset="0"/>
              </a:rPr>
              <a:t>One hotel can contain many rooms, but each room belongs to one hotel.</a:t>
            </a:r>
          </a:p>
          <a:p>
            <a:pPr marL="0" indent="0">
              <a:lnSpc>
                <a:spcPct val="150000"/>
              </a:lnSpc>
              <a:buNone/>
            </a:pPr>
            <a:r>
              <a:rPr lang="en-US" sz="2000" dirty="0">
                <a:latin typeface="Arial" panose="020B0604020202020204" pitchFamily="34" charset="0"/>
                <a:cs typeface="Arial" panose="020B0604020202020204" pitchFamily="34" charset="0"/>
              </a:rPr>
              <a:t>Example:</a:t>
            </a: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Hotel  can contain Room 1, Room 2, Room 3, etc.</a:t>
            </a:r>
          </a:p>
          <a:p>
            <a:pPr marL="0" indent="0">
              <a:buNone/>
            </a:pPr>
            <a:endParaRPr lang="en-US" sz="2000"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1B4425A1-1775-8CB6-1B51-8248EDAABA96}"/>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36357" y="56148"/>
            <a:ext cx="2165685" cy="866100"/>
          </a:xfrm>
          <a:prstGeom prst="rect">
            <a:avLst/>
          </a:prstGeom>
        </p:spPr>
      </p:pic>
    </p:spTree>
    <p:extLst>
      <p:ext uri="{BB962C8B-B14F-4D97-AF65-F5344CB8AC3E}">
        <p14:creationId xmlns:p14="http://schemas.microsoft.com/office/powerpoint/2010/main" val="33900481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3"/>
          <p:cNvSpPr>
            <a:spLocks noGrp="1" noChangeArrowheads="1"/>
          </p:cNvSpPr>
          <p:nvPr>
            <p:ph idx="1"/>
          </p:nvPr>
        </p:nvSpPr>
        <p:spPr bwMode="auto">
          <a:xfrm>
            <a:off x="838199" y="1593957"/>
            <a:ext cx="10515601" cy="38369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nSpc>
                <a:spcPct val="150000"/>
              </a:lnSpc>
              <a:buNone/>
            </a:pPr>
            <a:r>
              <a:rPr lang="en-US" sz="2000" b="1" dirty="0">
                <a:latin typeface="Arial" panose="020B0604020202020204" pitchFamily="34" charset="0"/>
                <a:cs typeface="Arial" panose="020B0604020202020204" pitchFamily="34" charset="0"/>
              </a:rPr>
              <a:t>Hotel — Staff</a:t>
            </a:r>
          </a:p>
          <a:p>
            <a:pPr marL="0" indent="0">
              <a:lnSpc>
                <a:spcPct val="150000"/>
              </a:lnSpc>
              <a:buNone/>
            </a:pPr>
            <a:r>
              <a:rPr lang="en-US" sz="2000" dirty="0">
                <a:latin typeface="Arial" panose="020B0604020202020204" pitchFamily="34" charset="0"/>
                <a:cs typeface="Arial" panose="020B0604020202020204" pitchFamily="34" charset="0"/>
              </a:rPr>
              <a:t>Relationship: Employs</a:t>
            </a:r>
          </a:p>
          <a:p>
            <a:pPr marL="0" indent="0">
              <a:lnSpc>
                <a:spcPct val="150000"/>
              </a:lnSpc>
              <a:buNone/>
            </a:pPr>
            <a:r>
              <a:rPr lang="en-US" sz="2000" dirty="0">
                <a:latin typeface="Arial" panose="020B0604020202020204" pitchFamily="34" charset="0"/>
                <a:cs typeface="Arial" panose="020B0604020202020204" pitchFamily="34" charset="0"/>
              </a:rPr>
              <a:t>Cardinality: 1:M</a:t>
            </a:r>
          </a:p>
          <a:p>
            <a:pPr marL="0" indent="0">
              <a:lnSpc>
                <a:spcPct val="150000"/>
              </a:lnSpc>
              <a:buNone/>
            </a:pPr>
            <a:r>
              <a:rPr lang="en-US" sz="2000" dirty="0">
                <a:latin typeface="Arial" panose="020B0604020202020204" pitchFamily="34" charset="0"/>
                <a:cs typeface="Arial" panose="020B0604020202020204" pitchFamily="34" charset="0"/>
              </a:rPr>
              <a:t>One hotel can employ many staff members, but each staff member works for one hotel.</a:t>
            </a:r>
          </a:p>
          <a:p>
            <a:pPr marL="0" indent="0">
              <a:lnSpc>
                <a:spcPct val="150000"/>
              </a:lnSpc>
              <a:buNone/>
            </a:pPr>
            <a:r>
              <a:rPr lang="en-US" sz="2000" dirty="0">
                <a:latin typeface="Arial" panose="020B0604020202020204" pitchFamily="34" charset="0"/>
                <a:cs typeface="Arial" panose="020B0604020202020204" pitchFamily="34" charset="0"/>
              </a:rPr>
              <a:t>Example:</a:t>
            </a: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Hotel can employ Staff 1, Staff 2, Staff 3, etc.</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sz="200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4F4FB44B-BD69-D5E4-2B61-CB34B3960C99}"/>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36357" y="56148"/>
            <a:ext cx="2165685" cy="866100"/>
          </a:xfrm>
          <a:prstGeom prst="rect">
            <a:avLst/>
          </a:prstGeom>
        </p:spPr>
      </p:pic>
    </p:spTree>
    <p:extLst>
      <p:ext uri="{BB962C8B-B14F-4D97-AF65-F5344CB8AC3E}">
        <p14:creationId xmlns:p14="http://schemas.microsoft.com/office/powerpoint/2010/main" val="4935058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lnSpc>
                <a:spcPct val="150000"/>
              </a:lnSpc>
              <a:buNone/>
            </a:pPr>
            <a:r>
              <a:rPr lang="en-US" sz="2000" b="1" dirty="0">
                <a:latin typeface="Arial" panose="020B0604020202020204" pitchFamily="34" charset="0"/>
                <a:cs typeface="Arial" panose="020B0604020202020204" pitchFamily="34" charset="0"/>
              </a:rPr>
              <a:t>Guest — Reservation</a:t>
            </a:r>
          </a:p>
          <a:p>
            <a:pPr marL="0" indent="0">
              <a:lnSpc>
                <a:spcPct val="150000"/>
              </a:lnSpc>
              <a:buNone/>
            </a:pPr>
            <a:r>
              <a:rPr lang="en-US" sz="2000" dirty="0">
                <a:latin typeface="Arial" panose="020B0604020202020204" pitchFamily="34" charset="0"/>
                <a:cs typeface="Arial" panose="020B0604020202020204" pitchFamily="34" charset="0"/>
              </a:rPr>
              <a:t>Relationship: Makes</a:t>
            </a:r>
          </a:p>
          <a:p>
            <a:pPr marL="0" indent="0">
              <a:lnSpc>
                <a:spcPct val="150000"/>
              </a:lnSpc>
              <a:buNone/>
            </a:pPr>
            <a:r>
              <a:rPr lang="en-US" sz="2000" dirty="0">
                <a:latin typeface="Arial" panose="020B0604020202020204" pitchFamily="34" charset="0"/>
                <a:cs typeface="Arial" panose="020B0604020202020204" pitchFamily="34" charset="0"/>
              </a:rPr>
              <a:t>Cardinality: 1:M</a:t>
            </a:r>
          </a:p>
          <a:p>
            <a:pPr marL="0" indent="0">
              <a:lnSpc>
                <a:spcPct val="150000"/>
              </a:lnSpc>
              <a:buNone/>
            </a:pPr>
            <a:r>
              <a:rPr lang="en-US" sz="2000" dirty="0">
                <a:latin typeface="Arial" panose="020B0604020202020204" pitchFamily="34" charset="0"/>
                <a:cs typeface="Arial" panose="020B0604020202020204" pitchFamily="34" charset="0"/>
              </a:rPr>
              <a:t>One guest can make many reservations, but each reservation is made by one guest.</a:t>
            </a:r>
          </a:p>
          <a:p>
            <a:pPr marL="0" indent="0">
              <a:lnSpc>
                <a:spcPct val="150000"/>
              </a:lnSpc>
              <a:buNone/>
            </a:pPr>
            <a:r>
              <a:rPr lang="en-US" sz="2000" dirty="0">
                <a:latin typeface="Arial" panose="020B0604020202020204" pitchFamily="34" charset="0"/>
                <a:cs typeface="Arial" panose="020B0604020202020204" pitchFamily="34" charset="0"/>
              </a:rPr>
              <a:t>Example:</a:t>
            </a: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Guest 101 can make Reservation 1, Reservation 2, etc.</a:t>
            </a:r>
          </a:p>
          <a:p>
            <a:pPr marL="0" indent="0">
              <a:lnSpc>
                <a:spcPct val="150000"/>
              </a:lnSpc>
              <a:buNone/>
            </a:pPr>
            <a:endParaRPr lang="en-US" sz="20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DBF84FD2-5D0C-4B4A-BA1C-0A952D641466}"/>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36357" y="56148"/>
            <a:ext cx="2165685" cy="866100"/>
          </a:xfrm>
          <a:prstGeom prst="rect">
            <a:avLst/>
          </a:prstGeom>
        </p:spPr>
      </p:pic>
    </p:spTree>
    <p:extLst>
      <p:ext uri="{BB962C8B-B14F-4D97-AF65-F5344CB8AC3E}">
        <p14:creationId xmlns:p14="http://schemas.microsoft.com/office/powerpoint/2010/main" val="27064958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lnSpc>
                <a:spcPct val="150000"/>
              </a:lnSpc>
              <a:buNone/>
            </a:pPr>
            <a:r>
              <a:rPr lang="en-US" sz="2000" b="1" dirty="0">
                <a:latin typeface="Arial" panose="020B0604020202020204" pitchFamily="34" charset="0"/>
                <a:cs typeface="Arial" panose="020B0604020202020204" pitchFamily="34" charset="0"/>
              </a:rPr>
              <a:t>Room — Reservation</a:t>
            </a:r>
          </a:p>
          <a:p>
            <a:pPr marL="0" indent="0">
              <a:lnSpc>
                <a:spcPct val="150000"/>
              </a:lnSpc>
              <a:buNone/>
            </a:pPr>
            <a:r>
              <a:rPr lang="en-US" sz="2000" dirty="0">
                <a:latin typeface="Arial" panose="020B0604020202020204" pitchFamily="34" charset="0"/>
                <a:cs typeface="Arial" panose="020B0604020202020204" pitchFamily="34" charset="0"/>
              </a:rPr>
              <a:t>Relationship: </a:t>
            </a:r>
            <a:r>
              <a:rPr lang="en-US" sz="2000" dirty="0" err="1">
                <a:latin typeface="Arial" panose="020B0604020202020204" pitchFamily="34" charset="0"/>
                <a:cs typeface="Arial" panose="020B0604020202020204" pitchFamily="34" charset="0"/>
              </a:rPr>
              <a:t>Reserved_through</a:t>
            </a:r>
            <a:endParaRPr lang="en-US" sz="2000" dirty="0">
              <a:latin typeface="Arial" panose="020B0604020202020204" pitchFamily="34" charset="0"/>
              <a:cs typeface="Arial" panose="020B0604020202020204" pitchFamily="34" charset="0"/>
            </a:endParaRPr>
          </a:p>
          <a:p>
            <a:pPr marL="0" indent="0">
              <a:lnSpc>
                <a:spcPct val="150000"/>
              </a:lnSpc>
              <a:buNone/>
            </a:pPr>
            <a:r>
              <a:rPr lang="en-US" sz="2000" dirty="0">
                <a:latin typeface="Arial" panose="020B0604020202020204" pitchFamily="34" charset="0"/>
                <a:cs typeface="Arial" panose="020B0604020202020204" pitchFamily="34" charset="0"/>
              </a:rPr>
              <a:t>Cardinality: 1:M</a:t>
            </a:r>
          </a:p>
          <a:p>
            <a:pPr marL="0" indent="0">
              <a:lnSpc>
                <a:spcPct val="150000"/>
              </a:lnSpc>
              <a:buNone/>
            </a:pPr>
            <a:r>
              <a:rPr lang="en-US" sz="2000" dirty="0">
                <a:latin typeface="Arial" panose="020B0604020202020204" pitchFamily="34" charset="0"/>
                <a:cs typeface="Arial" panose="020B0604020202020204" pitchFamily="34" charset="0"/>
              </a:rPr>
              <a:t>One room can be associated with many reservations over time, but each reservation is for one room.</a:t>
            </a:r>
          </a:p>
          <a:p>
            <a:pPr marL="0" indent="0">
              <a:lnSpc>
                <a:spcPct val="150000"/>
              </a:lnSpc>
              <a:buNone/>
            </a:pPr>
            <a:r>
              <a:rPr lang="en-US" sz="2000" dirty="0">
                <a:latin typeface="Arial" panose="020B0604020202020204" pitchFamily="34" charset="0"/>
                <a:cs typeface="Arial" panose="020B0604020202020204" pitchFamily="34" charset="0"/>
              </a:rPr>
              <a:t>Example:</a:t>
            </a: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Room 101 can have Reservation 1, Reservation 2, etc.</a:t>
            </a:r>
          </a:p>
        </p:txBody>
      </p:sp>
      <p:pic>
        <p:nvPicPr>
          <p:cNvPr id="4" name="Picture 3">
            <a:extLst>
              <a:ext uri="{FF2B5EF4-FFF2-40B4-BE49-F238E27FC236}">
                <a16:creationId xmlns:a16="http://schemas.microsoft.com/office/drawing/2014/main" id="{4F4FB44B-BD69-D5E4-2B61-CB34B3960C99}"/>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36357" y="56148"/>
            <a:ext cx="2165685" cy="866100"/>
          </a:xfrm>
          <a:prstGeom prst="rect">
            <a:avLst/>
          </a:prstGeom>
        </p:spPr>
      </p:pic>
    </p:spTree>
    <p:extLst>
      <p:ext uri="{BB962C8B-B14F-4D97-AF65-F5344CB8AC3E}">
        <p14:creationId xmlns:p14="http://schemas.microsoft.com/office/powerpoint/2010/main" val="12258329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lnSpc>
                <a:spcPct val="150000"/>
              </a:lnSpc>
              <a:buNone/>
            </a:pPr>
            <a:r>
              <a:rPr lang="en-US" sz="2000" b="1" dirty="0">
                <a:latin typeface="Arial" panose="020B0604020202020204" pitchFamily="34" charset="0"/>
                <a:cs typeface="Arial" panose="020B0604020202020204" pitchFamily="34" charset="0"/>
              </a:rPr>
              <a:t>Reservation — Payment</a:t>
            </a:r>
          </a:p>
          <a:p>
            <a:pPr marL="0" indent="0">
              <a:lnSpc>
                <a:spcPct val="150000"/>
              </a:lnSpc>
              <a:buNone/>
            </a:pPr>
            <a:r>
              <a:rPr lang="en-US" sz="2000" dirty="0">
                <a:latin typeface="Arial" panose="020B0604020202020204" pitchFamily="34" charset="0"/>
                <a:cs typeface="Arial" panose="020B0604020202020204" pitchFamily="34" charset="0"/>
              </a:rPr>
              <a:t>Relationship: Has</a:t>
            </a:r>
          </a:p>
          <a:p>
            <a:pPr marL="0" indent="0">
              <a:lnSpc>
                <a:spcPct val="150000"/>
              </a:lnSpc>
              <a:buNone/>
            </a:pPr>
            <a:r>
              <a:rPr lang="en-US" sz="2000" dirty="0">
                <a:latin typeface="Arial" panose="020B0604020202020204" pitchFamily="34" charset="0"/>
                <a:cs typeface="Arial" panose="020B0604020202020204" pitchFamily="34" charset="0"/>
              </a:rPr>
              <a:t>Cardinality: 1:1</a:t>
            </a:r>
          </a:p>
          <a:p>
            <a:pPr marL="0" indent="0">
              <a:lnSpc>
                <a:spcPct val="150000"/>
              </a:lnSpc>
              <a:buNone/>
            </a:pPr>
            <a:r>
              <a:rPr lang="en-US" sz="2000" dirty="0">
                <a:latin typeface="Arial" panose="020B0604020202020204" pitchFamily="34" charset="0"/>
                <a:cs typeface="Arial" panose="020B0604020202020204" pitchFamily="34" charset="0"/>
              </a:rPr>
              <a:t>One reservation has one payment, and each payment belongs to one reservation.</a:t>
            </a:r>
          </a:p>
          <a:p>
            <a:pPr marL="0" indent="0">
              <a:lnSpc>
                <a:spcPct val="150000"/>
              </a:lnSpc>
              <a:buNone/>
            </a:pPr>
            <a:r>
              <a:rPr lang="en-US" sz="2000" dirty="0">
                <a:latin typeface="Arial" panose="020B0604020202020204" pitchFamily="34" charset="0"/>
                <a:cs typeface="Arial" panose="020B0604020202020204" pitchFamily="34" charset="0"/>
              </a:rPr>
              <a:t>Example:</a:t>
            </a: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Reservation 1 has Payment 1.</a:t>
            </a:r>
          </a:p>
        </p:txBody>
      </p:sp>
      <p:pic>
        <p:nvPicPr>
          <p:cNvPr id="4" name="Picture 3">
            <a:extLst>
              <a:ext uri="{FF2B5EF4-FFF2-40B4-BE49-F238E27FC236}">
                <a16:creationId xmlns:a16="http://schemas.microsoft.com/office/drawing/2014/main" id="{4F4FB44B-BD69-D5E4-2B61-CB34B3960C99}"/>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36357" y="56148"/>
            <a:ext cx="2165685" cy="866100"/>
          </a:xfrm>
          <a:prstGeom prst="rect">
            <a:avLst/>
          </a:prstGeom>
        </p:spPr>
      </p:pic>
    </p:spTree>
    <p:extLst>
      <p:ext uri="{BB962C8B-B14F-4D97-AF65-F5344CB8AC3E}">
        <p14:creationId xmlns:p14="http://schemas.microsoft.com/office/powerpoint/2010/main" val="40604829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FB5821FE-4C0B-AC21-2569-E8E557918E08}"/>
              </a:ext>
            </a:extLst>
          </p:cNvPr>
          <p:cNvSpPr/>
          <p:nvPr/>
        </p:nvSpPr>
        <p:spPr>
          <a:xfrm>
            <a:off x="168440" y="1331495"/>
            <a:ext cx="2616765" cy="1981244"/>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r>
              <a:rPr lang="en-US" sz="1400" dirty="0">
                <a:latin typeface="Arial" panose="020B0604020202020204" pitchFamily="34" charset="0"/>
                <a:cs typeface="Arial" panose="020B0604020202020204" pitchFamily="34" charset="0"/>
              </a:rPr>
              <a:t>HOTEL(</a:t>
            </a:r>
          </a:p>
          <a:p>
            <a:r>
              <a:rPr lang="en-US" sz="1400" dirty="0" err="1">
                <a:latin typeface="Arial" panose="020B0604020202020204" pitchFamily="34" charset="0"/>
                <a:cs typeface="Arial" panose="020B0604020202020204" pitchFamily="34" charset="0"/>
              </a:rPr>
              <a:t>Hotel_ID:INT</a:t>
            </a:r>
            <a:r>
              <a:rPr lang="en-US" sz="1400" dirty="0">
                <a:latin typeface="Arial" panose="020B0604020202020204" pitchFamily="34" charset="0"/>
                <a:cs typeface="Arial" panose="020B0604020202020204" pitchFamily="34" charset="0"/>
              </a:rPr>
              <a:t> PK, </a:t>
            </a:r>
            <a:r>
              <a:rPr lang="en-US" sz="1400" dirty="0" err="1">
                <a:latin typeface="Arial" panose="020B0604020202020204" pitchFamily="34" charset="0"/>
                <a:cs typeface="Arial" panose="020B0604020202020204" pitchFamily="34" charset="0"/>
              </a:rPr>
              <a:t>Hotel_Name:VARCHAR</a:t>
            </a:r>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(50),</a:t>
            </a:r>
          </a:p>
          <a:p>
            <a:r>
              <a:rPr lang="en-US" sz="1400" dirty="0" err="1">
                <a:latin typeface="Arial" panose="020B0604020202020204" pitchFamily="34" charset="0"/>
                <a:cs typeface="Arial" panose="020B0604020202020204" pitchFamily="34" charset="0"/>
              </a:rPr>
              <a:t>Location:VARCHAR</a:t>
            </a:r>
            <a:r>
              <a:rPr lang="en-US" sz="1400" dirty="0">
                <a:latin typeface="Arial" panose="020B0604020202020204" pitchFamily="34" charset="0"/>
                <a:cs typeface="Arial" panose="020B0604020202020204" pitchFamily="34" charset="0"/>
              </a:rPr>
              <a:t>(100), </a:t>
            </a:r>
            <a:r>
              <a:rPr lang="en-US" sz="1400" dirty="0" err="1">
                <a:latin typeface="Arial" panose="020B0604020202020204" pitchFamily="34" charset="0"/>
                <a:cs typeface="Arial" panose="020B0604020202020204" pitchFamily="34" charset="0"/>
              </a:rPr>
              <a:t>Contact_No:VARCHAR</a:t>
            </a:r>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(15))</a:t>
            </a:r>
          </a:p>
          <a:p>
            <a:endParaRPr lang="en-US" sz="1400" dirty="0">
              <a:solidFill>
                <a:schemeClr val="tx1"/>
              </a:solidFill>
              <a:latin typeface="Arial" panose="020B0604020202020204" pitchFamily="34" charset="0"/>
              <a:cs typeface="Arial" panose="020B0604020202020204" pitchFamily="34" charset="0"/>
            </a:endParaRPr>
          </a:p>
        </p:txBody>
      </p:sp>
      <p:sp>
        <p:nvSpPr>
          <p:cNvPr id="17" name="Rectangle: Rounded Corners 16">
            <a:extLst>
              <a:ext uri="{FF2B5EF4-FFF2-40B4-BE49-F238E27FC236}">
                <a16:creationId xmlns:a16="http://schemas.microsoft.com/office/drawing/2014/main" id="{87756628-5301-A0E7-3EC2-3699ACFB09D4}"/>
              </a:ext>
            </a:extLst>
          </p:cNvPr>
          <p:cNvSpPr/>
          <p:nvPr/>
        </p:nvSpPr>
        <p:spPr>
          <a:xfrm>
            <a:off x="1242905" y="4096598"/>
            <a:ext cx="2616765" cy="2499424"/>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r>
              <a:rPr lang="en-US" sz="1600" dirty="0">
                <a:latin typeface="Arial" panose="020B0604020202020204" pitchFamily="34" charset="0"/>
                <a:cs typeface="Arial" panose="020B0604020202020204" pitchFamily="34" charset="0"/>
              </a:rPr>
              <a:t>GUEST(</a:t>
            </a:r>
          </a:p>
          <a:p>
            <a:r>
              <a:rPr lang="en-US" sz="1600" dirty="0" err="1">
                <a:latin typeface="Arial" panose="020B0604020202020204" pitchFamily="34" charset="0"/>
                <a:cs typeface="Arial" panose="020B0604020202020204" pitchFamily="34" charset="0"/>
              </a:rPr>
              <a:t>Guest_ID:INT</a:t>
            </a:r>
            <a:r>
              <a:rPr lang="en-US" sz="1600" dirty="0">
                <a:latin typeface="Arial" panose="020B0604020202020204" pitchFamily="34" charset="0"/>
                <a:cs typeface="Arial" panose="020B0604020202020204" pitchFamily="34" charset="0"/>
              </a:rPr>
              <a:t> PK, </a:t>
            </a:r>
            <a:r>
              <a:rPr lang="en-US" sz="1600" dirty="0" err="1">
                <a:latin typeface="Arial" panose="020B0604020202020204" pitchFamily="34" charset="0"/>
                <a:cs typeface="Arial" panose="020B0604020202020204" pitchFamily="34" charset="0"/>
              </a:rPr>
              <a:t>Guest_Name:VARCHAR</a:t>
            </a:r>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(50),</a:t>
            </a:r>
          </a:p>
          <a:p>
            <a:r>
              <a:rPr lang="en-US" sz="1600" dirty="0" err="1">
                <a:latin typeface="Arial" panose="020B0604020202020204" pitchFamily="34" charset="0"/>
                <a:cs typeface="Arial" panose="020B0604020202020204" pitchFamily="34" charset="0"/>
              </a:rPr>
              <a:t>Phone:VARCHAR</a:t>
            </a:r>
            <a:r>
              <a:rPr lang="en-US" sz="1600" dirty="0">
                <a:latin typeface="Arial" panose="020B0604020202020204" pitchFamily="34" charset="0"/>
                <a:cs typeface="Arial" panose="020B0604020202020204" pitchFamily="34" charset="0"/>
              </a:rPr>
              <a:t>(15), </a:t>
            </a:r>
            <a:r>
              <a:rPr lang="en-US" sz="1600" dirty="0" err="1">
                <a:latin typeface="Arial" panose="020B0604020202020204" pitchFamily="34" charset="0"/>
                <a:cs typeface="Arial" panose="020B0604020202020204" pitchFamily="34" charset="0"/>
              </a:rPr>
              <a:t>Email;VARCHAR</a:t>
            </a:r>
            <a:r>
              <a:rPr lang="en-US" sz="1600" dirty="0">
                <a:latin typeface="Arial" panose="020B0604020202020204" pitchFamily="34" charset="0"/>
                <a:cs typeface="Arial" panose="020B0604020202020204" pitchFamily="34" charset="0"/>
              </a:rPr>
              <a:t>(100)</a:t>
            </a:r>
          </a:p>
          <a:p>
            <a:r>
              <a:rPr lang="en-US" sz="1600" dirty="0">
                <a:latin typeface="Arial" panose="020B0604020202020204" pitchFamily="34" charset="0"/>
                <a:cs typeface="Arial" panose="020B0604020202020204" pitchFamily="34" charset="0"/>
              </a:rPr>
              <a:t>)</a:t>
            </a:r>
          </a:p>
        </p:txBody>
      </p:sp>
      <p:sp>
        <p:nvSpPr>
          <p:cNvPr id="19" name="Rectangle: Rounded Corners 18">
            <a:extLst>
              <a:ext uri="{FF2B5EF4-FFF2-40B4-BE49-F238E27FC236}">
                <a16:creationId xmlns:a16="http://schemas.microsoft.com/office/drawing/2014/main" id="{39079F64-AB2E-DCA6-92E5-D885A63C59B7}"/>
              </a:ext>
            </a:extLst>
          </p:cNvPr>
          <p:cNvSpPr/>
          <p:nvPr/>
        </p:nvSpPr>
        <p:spPr>
          <a:xfrm>
            <a:off x="3726103" y="1331494"/>
            <a:ext cx="2616765" cy="1981244"/>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r>
              <a:rPr lang="en-US" sz="1600" dirty="0">
                <a:latin typeface="Arial" panose="020B0604020202020204" pitchFamily="34" charset="0"/>
                <a:cs typeface="Arial" panose="020B0604020202020204" pitchFamily="34" charset="0"/>
              </a:rPr>
              <a:t>ROOM(</a:t>
            </a:r>
          </a:p>
          <a:p>
            <a:r>
              <a:rPr lang="en-US" sz="1600" dirty="0" err="1">
                <a:latin typeface="Arial" panose="020B0604020202020204" pitchFamily="34" charset="0"/>
                <a:cs typeface="Arial" panose="020B0604020202020204" pitchFamily="34" charset="0"/>
              </a:rPr>
              <a:t>Room_ID:INT</a:t>
            </a:r>
            <a:r>
              <a:rPr lang="en-US" sz="1600" dirty="0">
                <a:latin typeface="Arial" panose="020B0604020202020204" pitchFamily="34" charset="0"/>
                <a:cs typeface="Arial" panose="020B0604020202020204" pitchFamily="34" charset="0"/>
              </a:rPr>
              <a:t> PK, </a:t>
            </a:r>
            <a:r>
              <a:rPr lang="en-US" sz="1600" dirty="0" err="1">
                <a:latin typeface="Arial" panose="020B0604020202020204" pitchFamily="34" charset="0"/>
                <a:cs typeface="Arial" panose="020B0604020202020204" pitchFamily="34" charset="0"/>
              </a:rPr>
              <a:t>Room_Type:VARCHAR</a:t>
            </a:r>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(30),</a:t>
            </a:r>
          </a:p>
          <a:p>
            <a:r>
              <a:rPr lang="en-US" sz="1600" dirty="0" err="1">
                <a:latin typeface="Arial" panose="020B0604020202020204" pitchFamily="34" charset="0"/>
                <a:cs typeface="Arial" panose="020B0604020202020204" pitchFamily="34" charset="0"/>
              </a:rPr>
              <a:t>Price:REAL</a:t>
            </a:r>
            <a:r>
              <a:rPr lang="en-US" sz="1600" dirty="0">
                <a:latin typeface="Arial" panose="020B0604020202020204" pitchFamily="34" charset="0"/>
                <a:cs typeface="Arial" panose="020B0604020202020204" pitchFamily="34" charset="0"/>
              </a:rPr>
              <a:t>,</a:t>
            </a:r>
          </a:p>
          <a:p>
            <a:r>
              <a:rPr lang="en-US" sz="1600" dirty="0" err="1">
                <a:latin typeface="Arial" panose="020B0604020202020204" pitchFamily="34" charset="0"/>
                <a:cs typeface="Arial" panose="020B0604020202020204" pitchFamily="34" charset="0"/>
              </a:rPr>
              <a:t>Hotel_ID:INT</a:t>
            </a:r>
            <a:r>
              <a:rPr lang="en-US" sz="1600" dirty="0">
                <a:latin typeface="Arial" panose="020B0604020202020204" pitchFamily="34" charset="0"/>
                <a:cs typeface="Arial" panose="020B0604020202020204" pitchFamily="34" charset="0"/>
              </a:rPr>
              <a:t> FK</a:t>
            </a:r>
          </a:p>
          <a:p>
            <a:r>
              <a:rPr lang="en-US" sz="1600" dirty="0">
                <a:latin typeface="Arial" panose="020B0604020202020204" pitchFamily="34" charset="0"/>
                <a:cs typeface="Arial" panose="020B0604020202020204" pitchFamily="34" charset="0"/>
              </a:rPr>
              <a:t>)</a:t>
            </a:r>
          </a:p>
        </p:txBody>
      </p:sp>
      <p:sp>
        <p:nvSpPr>
          <p:cNvPr id="21" name="Rectangle: Rounded Corners 20">
            <a:extLst>
              <a:ext uri="{FF2B5EF4-FFF2-40B4-BE49-F238E27FC236}">
                <a16:creationId xmlns:a16="http://schemas.microsoft.com/office/drawing/2014/main" id="{A7001E8C-A0F2-3A41-D621-1A494D2A6E7A}"/>
              </a:ext>
            </a:extLst>
          </p:cNvPr>
          <p:cNvSpPr/>
          <p:nvPr/>
        </p:nvSpPr>
        <p:spPr>
          <a:xfrm>
            <a:off x="5034486" y="4047026"/>
            <a:ext cx="2467992" cy="2546279"/>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r>
              <a:rPr lang="en-US" sz="1600" dirty="0">
                <a:latin typeface="Arial" panose="020B0604020202020204" pitchFamily="34" charset="0"/>
                <a:cs typeface="Arial" panose="020B0604020202020204" pitchFamily="34" charset="0"/>
              </a:rPr>
              <a:t>RESERVATION(</a:t>
            </a:r>
          </a:p>
          <a:p>
            <a:r>
              <a:rPr lang="en-US" sz="1600" dirty="0" err="1">
                <a:latin typeface="Arial" panose="020B0604020202020204" pitchFamily="34" charset="0"/>
                <a:cs typeface="Arial" panose="020B0604020202020204" pitchFamily="34" charset="0"/>
              </a:rPr>
              <a:t>Reservation_ID:INT</a:t>
            </a:r>
            <a:r>
              <a:rPr lang="en-US" sz="1600" dirty="0">
                <a:latin typeface="Arial" panose="020B0604020202020204" pitchFamily="34" charset="0"/>
                <a:cs typeface="Arial" panose="020B0604020202020204" pitchFamily="34" charset="0"/>
              </a:rPr>
              <a:t> PK, </a:t>
            </a:r>
            <a:r>
              <a:rPr lang="en-US" sz="1600" dirty="0" err="1">
                <a:latin typeface="Arial" panose="020B0604020202020204" pitchFamily="34" charset="0"/>
                <a:cs typeface="Arial" panose="020B0604020202020204" pitchFamily="34" charset="0"/>
              </a:rPr>
              <a:t>Check_In:DATE</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Check_Out:DATE</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Status:VARCHAR</a:t>
            </a:r>
            <a:r>
              <a:rPr lang="en-US" sz="1600" dirty="0">
                <a:latin typeface="Arial" panose="020B0604020202020204" pitchFamily="34" charset="0"/>
                <a:cs typeface="Arial" panose="020B0604020202020204" pitchFamily="34" charset="0"/>
              </a:rPr>
              <a:t>(20),            </a:t>
            </a:r>
            <a:r>
              <a:rPr lang="en-US" sz="1600" dirty="0" err="1">
                <a:latin typeface="Arial" panose="020B0604020202020204" pitchFamily="34" charset="0"/>
                <a:cs typeface="Arial" panose="020B0604020202020204" pitchFamily="34" charset="0"/>
              </a:rPr>
              <a:t>Guest_ID:INT</a:t>
            </a:r>
            <a:r>
              <a:rPr lang="en-US" sz="1600" dirty="0">
                <a:latin typeface="Arial" panose="020B0604020202020204" pitchFamily="34" charset="0"/>
                <a:cs typeface="Arial" panose="020B0604020202020204" pitchFamily="34" charset="0"/>
              </a:rPr>
              <a:t> FK, </a:t>
            </a:r>
            <a:r>
              <a:rPr lang="en-US" sz="1600" dirty="0" err="1">
                <a:latin typeface="Arial" panose="020B0604020202020204" pitchFamily="34" charset="0"/>
                <a:cs typeface="Arial" panose="020B0604020202020204" pitchFamily="34" charset="0"/>
              </a:rPr>
              <a:t>Room_ID:INT</a:t>
            </a:r>
            <a:r>
              <a:rPr lang="en-US" sz="1600" dirty="0">
                <a:latin typeface="Arial" panose="020B0604020202020204" pitchFamily="34" charset="0"/>
                <a:cs typeface="Arial" panose="020B0604020202020204" pitchFamily="34" charset="0"/>
              </a:rPr>
              <a:t> FK</a:t>
            </a:r>
          </a:p>
          <a:p>
            <a:r>
              <a:rPr lang="en-US" sz="1600" dirty="0">
                <a:latin typeface="Arial" panose="020B0604020202020204" pitchFamily="34" charset="0"/>
                <a:cs typeface="Arial" panose="020B0604020202020204" pitchFamily="34" charset="0"/>
              </a:rPr>
              <a:t>)</a:t>
            </a:r>
          </a:p>
        </p:txBody>
      </p:sp>
      <p:sp>
        <p:nvSpPr>
          <p:cNvPr id="22" name="TextBox 21">
            <a:extLst>
              <a:ext uri="{FF2B5EF4-FFF2-40B4-BE49-F238E27FC236}">
                <a16:creationId xmlns:a16="http://schemas.microsoft.com/office/drawing/2014/main" id="{5B6D4B93-BA77-C038-9734-0C102311B4FB}"/>
              </a:ext>
            </a:extLst>
          </p:cNvPr>
          <p:cNvSpPr txBox="1"/>
          <p:nvPr/>
        </p:nvSpPr>
        <p:spPr>
          <a:xfrm>
            <a:off x="3859670" y="264695"/>
            <a:ext cx="4052418" cy="861774"/>
          </a:xfrm>
          <a:prstGeom prst="rect">
            <a:avLst/>
          </a:prstGeom>
          <a:noFill/>
        </p:spPr>
        <p:txBody>
          <a:bodyPr wrap="square" rtlCol="0">
            <a:spAutoFit/>
          </a:bodyPr>
          <a:lstStyle/>
          <a:p>
            <a:r>
              <a:rPr lang="en-US" sz="3200" dirty="0">
                <a:latin typeface="Arial" panose="020B0604020202020204" pitchFamily="34" charset="0"/>
                <a:ea typeface="Artifakt Element Book" panose="020B0503050000020004" pitchFamily="34" charset="0"/>
                <a:cs typeface="Arial" panose="020B0604020202020204" pitchFamily="34" charset="0"/>
              </a:rPr>
              <a:t>Relational Schema</a:t>
            </a:r>
            <a:endParaRPr lang="en-IN" sz="3200" dirty="0">
              <a:latin typeface="Arial" panose="020B0604020202020204" pitchFamily="34" charset="0"/>
              <a:ea typeface="Artifakt Element Book" panose="020B0503050000020004" pitchFamily="34" charset="0"/>
              <a:cs typeface="Arial" panose="020B0604020202020204" pitchFamily="34" charset="0"/>
            </a:endParaRPr>
          </a:p>
          <a:p>
            <a:endParaRPr lang="en-US" dirty="0"/>
          </a:p>
        </p:txBody>
      </p:sp>
      <p:pic>
        <p:nvPicPr>
          <p:cNvPr id="24" name="Picture 23">
            <a:extLst>
              <a:ext uri="{FF2B5EF4-FFF2-40B4-BE49-F238E27FC236}">
                <a16:creationId xmlns:a16="http://schemas.microsoft.com/office/drawing/2014/main" id="{528AE910-5749-1743-6DB0-8BE0632A6BCC}"/>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64167" y="64169"/>
            <a:ext cx="2165685" cy="866100"/>
          </a:xfrm>
          <a:prstGeom prst="rect">
            <a:avLst/>
          </a:prstGeom>
        </p:spPr>
      </p:pic>
      <p:sp>
        <p:nvSpPr>
          <p:cNvPr id="2" name="Rectangle: Rounded Corners 1">
            <a:extLst>
              <a:ext uri="{FF2B5EF4-FFF2-40B4-BE49-F238E27FC236}">
                <a16:creationId xmlns:a16="http://schemas.microsoft.com/office/drawing/2014/main" id="{B9F7DED6-277E-0E42-B4DB-19C97793309E}"/>
              </a:ext>
            </a:extLst>
          </p:cNvPr>
          <p:cNvSpPr/>
          <p:nvPr/>
        </p:nvSpPr>
        <p:spPr>
          <a:xfrm>
            <a:off x="7760128" y="1331494"/>
            <a:ext cx="2558716" cy="1981244"/>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r>
              <a:rPr lang="en-US" sz="1600" dirty="0">
                <a:latin typeface="Arial" panose="020B0604020202020204" pitchFamily="34" charset="0"/>
                <a:cs typeface="Arial" panose="020B0604020202020204" pitchFamily="34" charset="0"/>
              </a:rPr>
              <a:t>STAFF(</a:t>
            </a:r>
          </a:p>
          <a:p>
            <a:r>
              <a:rPr lang="en-US" sz="1600" dirty="0" err="1">
                <a:latin typeface="Arial" panose="020B0604020202020204" pitchFamily="34" charset="0"/>
                <a:cs typeface="Arial" panose="020B0604020202020204" pitchFamily="34" charset="0"/>
              </a:rPr>
              <a:t>Staff_ID</a:t>
            </a:r>
            <a:r>
              <a:rPr lang="en-US" sz="1600" dirty="0">
                <a:latin typeface="Arial" panose="020B0604020202020204" pitchFamily="34" charset="0"/>
                <a:cs typeface="Arial" panose="020B0604020202020204" pitchFamily="34" charset="0"/>
              </a:rPr>
              <a:t> INT PK, </a:t>
            </a:r>
            <a:r>
              <a:rPr lang="en-US" sz="1600" dirty="0" err="1">
                <a:latin typeface="Arial" panose="020B0604020202020204" pitchFamily="34" charset="0"/>
                <a:cs typeface="Arial" panose="020B0604020202020204" pitchFamily="34" charset="0"/>
              </a:rPr>
              <a:t>Staff_Name:VARCHAR</a:t>
            </a:r>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(50),</a:t>
            </a:r>
          </a:p>
          <a:p>
            <a:r>
              <a:rPr lang="en-US" sz="1600" dirty="0" err="1">
                <a:latin typeface="Arial" panose="020B0604020202020204" pitchFamily="34" charset="0"/>
                <a:cs typeface="Arial" panose="020B0604020202020204" pitchFamily="34" charset="0"/>
              </a:rPr>
              <a:t>Role:VARCHAR</a:t>
            </a:r>
            <a:r>
              <a:rPr lang="en-US" sz="1600" dirty="0">
                <a:latin typeface="Arial" panose="020B0604020202020204" pitchFamily="34" charset="0"/>
                <a:cs typeface="Arial" panose="020B0604020202020204" pitchFamily="34" charset="0"/>
              </a:rPr>
              <a:t>(30), </a:t>
            </a:r>
            <a:r>
              <a:rPr lang="en-US" sz="1600" dirty="0" err="1">
                <a:latin typeface="Arial" panose="020B0604020202020204" pitchFamily="34" charset="0"/>
                <a:cs typeface="Arial" panose="020B0604020202020204" pitchFamily="34" charset="0"/>
              </a:rPr>
              <a:t>Phoneno:VARCHAR</a:t>
            </a:r>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(15),</a:t>
            </a:r>
          </a:p>
          <a:p>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Hotel_ID:INT</a:t>
            </a:r>
            <a:r>
              <a:rPr lang="en-US" sz="1600" dirty="0">
                <a:latin typeface="Arial" panose="020B0604020202020204" pitchFamily="34" charset="0"/>
                <a:cs typeface="Arial" panose="020B0604020202020204" pitchFamily="34" charset="0"/>
              </a:rPr>
              <a:t> FK)</a:t>
            </a:r>
          </a:p>
        </p:txBody>
      </p:sp>
      <p:sp>
        <p:nvSpPr>
          <p:cNvPr id="3" name="Rectangle: Rounded Corners 2">
            <a:extLst>
              <a:ext uri="{FF2B5EF4-FFF2-40B4-BE49-F238E27FC236}">
                <a16:creationId xmlns:a16="http://schemas.microsoft.com/office/drawing/2014/main" id="{DFBC9C69-34E0-0FE3-16CD-0A9FBC573952}"/>
              </a:ext>
            </a:extLst>
          </p:cNvPr>
          <p:cNvSpPr/>
          <p:nvPr/>
        </p:nvSpPr>
        <p:spPr>
          <a:xfrm>
            <a:off x="9007402" y="4093881"/>
            <a:ext cx="2390274" cy="2499424"/>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r>
              <a:rPr lang="en-US" sz="1600" dirty="0">
                <a:latin typeface="Arial" panose="020B0604020202020204" pitchFamily="34" charset="0"/>
                <a:cs typeface="Arial" panose="020B0604020202020204" pitchFamily="34" charset="0"/>
              </a:rPr>
              <a:t>PAYMENT(</a:t>
            </a:r>
          </a:p>
          <a:p>
            <a:r>
              <a:rPr lang="en-US" sz="1600" dirty="0" err="1">
                <a:latin typeface="Arial" panose="020B0604020202020204" pitchFamily="34" charset="0"/>
                <a:cs typeface="Arial" panose="020B0604020202020204" pitchFamily="34" charset="0"/>
              </a:rPr>
              <a:t>Payment_ID:INT</a:t>
            </a:r>
            <a:r>
              <a:rPr lang="en-US" sz="1600" dirty="0">
                <a:latin typeface="Arial" panose="020B0604020202020204" pitchFamily="34" charset="0"/>
                <a:cs typeface="Arial" panose="020B0604020202020204" pitchFamily="34" charset="0"/>
              </a:rPr>
              <a:t> PK, </a:t>
            </a:r>
            <a:r>
              <a:rPr lang="en-US" sz="1600" dirty="0" err="1">
                <a:latin typeface="Arial" panose="020B0604020202020204" pitchFamily="34" charset="0"/>
                <a:cs typeface="Arial" panose="020B0604020202020204" pitchFamily="34" charset="0"/>
              </a:rPr>
              <a:t>Amount:REAL</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Payment_Date:DATE</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Payment_Status</a:t>
            </a:r>
            <a:r>
              <a:rPr lang="en-US" sz="1600" dirty="0">
                <a:latin typeface="Arial" panose="020B0604020202020204" pitchFamily="34" charset="0"/>
                <a:cs typeface="Arial" panose="020B0604020202020204" pitchFamily="34" charset="0"/>
              </a:rPr>
              <a:t>:</a:t>
            </a:r>
          </a:p>
          <a:p>
            <a:r>
              <a:rPr lang="en-US" sz="1600" dirty="0">
                <a:latin typeface="Arial" panose="020B0604020202020204" pitchFamily="34" charset="0"/>
                <a:cs typeface="Arial" panose="020B0604020202020204" pitchFamily="34" charset="0"/>
              </a:rPr>
              <a:t>VARCHAR(20),        </a:t>
            </a:r>
            <a:r>
              <a:rPr lang="en-US" sz="1600" dirty="0" err="1">
                <a:latin typeface="Arial" panose="020B0604020202020204" pitchFamily="34" charset="0"/>
                <a:cs typeface="Arial" panose="020B0604020202020204" pitchFamily="34" charset="0"/>
              </a:rPr>
              <a:t>Reservation_ID:INT</a:t>
            </a:r>
            <a:r>
              <a:rPr lang="en-US" sz="1600" dirty="0">
                <a:latin typeface="Arial" panose="020B0604020202020204" pitchFamily="34" charset="0"/>
                <a:cs typeface="Arial" panose="020B0604020202020204" pitchFamily="34" charset="0"/>
              </a:rPr>
              <a:t> FK</a:t>
            </a:r>
          </a:p>
          <a:p>
            <a:r>
              <a:rPr lang="en-US" sz="1600"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18586735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00926" y="489198"/>
            <a:ext cx="3918284" cy="1090037"/>
          </a:xfrm>
        </p:spPr>
        <p:txBody>
          <a:bodyPr>
            <a:normAutofit/>
          </a:bodyPr>
          <a:lstStyle/>
          <a:p>
            <a:pPr algn="ctr"/>
            <a:r>
              <a:rPr lang="en-US" sz="3200" b="1" dirty="0">
                <a:latin typeface="Arial" panose="020B0604020202020204" pitchFamily="34" charset="0"/>
                <a:cs typeface="Arial" panose="020B0604020202020204" pitchFamily="34" charset="0"/>
              </a:rPr>
              <a:t>Cardinality</a:t>
            </a:r>
            <a:endParaRPr lang="en-IN" sz="3200" b="1"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06115" y="1579235"/>
            <a:ext cx="10515600" cy="4459705"/>
          </a:xfrm>
        </p:spPr>
        <p:txBody>
          <a:bodyPr>
            <a:noAutofit/>
          </a:bodyPr>
          <a:lstStyle/>
          <a:p>
            <a:pPr marL="0" indent="0">
              <a:lnSpc>
                <a:spcPct val="150000"/>
              </a:lnSpc>
              <a:buNone/>
            </a:pPr>
            <a:r>
              <a:rPr lang="en-US" sz="2000" b="1" dirty="0">
                <a:latin typeface="Arial" panose="020B0604020202020204" pitchFamily="34" charset="0"/>
                <a:cs typeface="Arial" panose="020B0604020202020204" pitchFamily="34" charset="0"/>
              </a:rPr>
              <a:t>Hotel–Room</a:t>
            </a:r>
            <a:r>
              <a:rPr lang="en-US" sz="2000" dirty="0">
                <a:latin typeface="Arial" panose="020B0604020202020204" pitchFamily="34" charset="0"/>
                <a:cs typeface="Arial" panose="020B0604020202020204" pitchFamily="34" charset="0"/>
              </a:rPr>
              <a:t>: 1:M</a:t>
            </a:r>
            <a:br>
              <a:rPr lang="en-US" sz="2000" dirty="0">
                <a:latin typeface="Arial" panose="020B0604020202020204" pitchFamily="34" charset="0"/>
                <a:cs typeface="Arial" panose="020B0604020202020204" pitchFamily="34" charset="0"/>
              </a:rPr>
            </a:br>
            <a:r>
              <a:rPr lang="en-US" sz="1800" dirty="0">
                <a:latin typeface="Arial" panose="020B0604020202020204" pitchFamily="34" charset="0"/>
                <a:cs typeface="Arial" panose="020B0604020202020204" pitchFamily="34" charset="0"/>
              </a:rPr>
              <a:t>One hotel can contain many rooms, but each room belongs to one hotel.</a:t>
            </a:r>
          </a:p>
          <a:p>
            <a:pPr marL="0" indent="0">
              <a:lnSpc>
                <a:spcPct val="150000"/>
              </a:lnSpc>
              <a:buNone/>
            </a:pPr>
            <a:r>
              <a:rPr lang="en-US" sz="2000" b="1" dirty="0">
                <a:latin typeface="Arial" panose="020B0604020202020204" pitchFamily="34" charset="0"/>
                <a:cs typeface="Arial" panose="020B0604020202020204" pitchFamily="34" charset="0"/>
              </a:rPr>
              <a:t>Hotel–Staff</a:t>
            </a:r>
            <a:r>
              <a:rPr lang="en-US" sz="2000" dirty="0">
                <a:latin typeface="Arial" panose="020B0604020202020204" pitchFamily="34" charset="0"/>
                <a:cs typeface="Arial" panose="020B0604020202020204" pitchFamily="34" charset="0"/>
              </a:rPr>
              <a:t>: 1:M</a:t>
            </a:r>
            <a:br>
              <a:rPr lang="en-US" sz="2000" dirty="0">
                <a:latin typeface="Arial" panose="020B0604020202020204" pitchFamily="34" charset="0"/>
                <a:cs typeface="Arial" panose="020B0604020202020204" pitchFamily="34" charset="0"/>
              </a:rPr>
            </a:br>
            <a:r>
              <a:rPr lang="en-US" sz="1800" dirty="0">
                <a:latin typeface="Arial" panose="020B0604020202020204" pitchFamily="34" charset="0"/>
                <a:cs typeface="Arial" panose="020B0604020202020204" pitchFamily="34" charset="0"/>
              </a:rPr>
              <a:t>One hotel can employ many staff members, but each staff member works for one hotel.</a:t>
            </a:r>
          </a:p>
          <a:p>
            <a:pPr marL="0" indent="0">
              <a:lnSpc>
                <a:spcPct val="150000"/>
              </a:lnSpc>
              <a:buNone/>
            </a:pPr>
            <a:r>
              <a:rPr lang="en-US" sz="2000" b="1" dirty="0">
                <a:latin typeface="Arial" panose="020B0604020202020204" pitchFamily="34" charset="0"/>
                <a:cs typeface="Arial" panose="020B0604020202020204" pitchFamily="34" charset="0"/>
              </a:rPr>
              <a:t>Guest–Reservation</a:t>
            </a:r>
            <a:r>
              <a:rPr lang="en-US" sz="2000" dirty="0">
                <a:latin typeface="Arial" panose="020B0604020202020204" pitchFamily="34" charset="0"/>
                <a:cs typeface="Arial" panose="020B0604020202020204" pitchFamily="34" charset="0"/>
              </a:rPr>
              <a:t>: 1:M</a:t>
            </a:r>
            <a:br>
              <a:rPr lang="en-US" sz="2000" dirty="0">
                <a:latin typeface="Arial" panose="020B0604020202020204" pitchFamily="34" charset="0"/>
                <a:cs typeface="Arial" panose="020B0604020202020204" pitchFamily="34" charset="0"/>
              </a:rPr>
            </a:br>
            <a:r>
              <a:rPr lang="en-US" sz="1800" dirty="0">
                <a:latin typeface="Arial" panose="020B0604020202020204" pitchFamily="34" charset="0"/>
                <a:cs typeface="Arial" panose="020B0604020202020204" pitchFamily="34" charset="0"/>
              </a:rPr>
              <a:t>One guest can make many reservations, but each reservation belongs to one guest.</a:t>
            </a:r>
          </a:p>
          <a:p>
            <a:pPr marL="0" indent="0">
              <a:lnSpc>
                <a:spcPct val="150000"/>
              </a:lnSpc>
              <a:buNone/>
            </a:pPr>
            <a:r>
              <a:rPr lang="en-US" sz="2000" b="1" dirty="0">
                <a:latin typeface="Arial" panose="020B0604020202020204" pitchFamily="34" charset="0"/>
                <a:cs typeface="Arial" panose="020B0604020202020204" pitchFamily="34" charset="0"/>
              </a:rPr>
              <a:t>Room–Reservation</a:t>
            </a:r>
            <a:r>
              <a:rPr lang="en-US" sz="2000" dirty="0">
                <a:latin typeface="Arial" panose="020B0604020202020204" pitchFamily="34" charset="0"/>
                <a:cs typeface="Arial" panose="020B0604020202020204" pitchFamily="34" charset="0"/>
              </a:rPr>
              <a:t>: 1:M</a:t>
            </a:r>
            <a:br>
              <a:rPr lang="en-US" sz="2000" dirty="0">
                <a:latin typeface="Arial" panose="020B0604020202020204" pitchFamily="34" charset="0"/>
                <a:cs typeface="Arial" panose="020B0604020202020204" pitchFamily="34" charset="0"/>
              </a:rPr>
            </a:br>
            <a:r>
              <a:rPr lang="en-US" sz="1800" dirty="0">
                <a:latin typeface="Arial" panose="020B0604020202020204" pitchFamily="34" charset="0"/>
                <a:cs typeface="Arial" panose="020B0604020202020204" pitchFamily="34" charset="0"/>
              </a:rPr>
              <a:t>One room can have many reservations over different periods, but each reservation is for one room.</a:t>
            </a:r>
          </a:p>
          <a:p>
            <a:pPr marL="0" indent="0">
              <a:lnSpc>
                <a:spcPct val="150000"/>
              </a:lnSpc>
              <a:buNone/>
            </a:pPr>
            <a:endParaRPr lang="en-US" sz="2000"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B99B1445-4360-06D8-540E-E54248FF3FC5}"/>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36357" y="56148"/>
            <a:ext cx="2165685" cy="866100"/>
          </a:xfrm>
          <a:prstGeom prst="rect">
            <a:avLst/>
          </a:prstGeom>
        </p:spPr>
      </p:pic>
    </p:spTree>
    <p:extLst>
      <p:ext uri="{BB962C8B-B14F-4D97-AF65-F5344CB8AC3E}">
        <p14:creationId xmlns:p14="http://schemas.microsoft.com/office/powerpoint/2010/main" val="9890447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98884"/>
            <a:ext cx="10515600" cy="5078079"/>
          </a:xfrm>
        </p:spPr>
        <p:txBody>
          <a:bodyPr>
            <a:normAutofit/>
          </a:bodyPr>
          <a:lstStyle/>
          <a:p>
            <a:pPr marL="0" indent="0">
              <a:lnSpc>
                <a:spcPct val="150000"/>
              </a:lnSpc>
              <a:buNone/>
            </a:pPr>
            <a:r>
              <a:rPr lang="en-US" sz="2000" b="1" dirty="0">
                <a:latin typeface="Arial" panose="020B0604020202020204" pitchFamily="34" charset="0"/>
                <a:cs typeface="Arial" panose="020B0604020202020204" pitchFamily="34" charset="0"/>
              </a:rPr>
              <a:t>Reservation–Payment</a:t>
            </a:r>
            <a:r>
              <a:rPr lang="en-US" sz="2000" dirty="0">
                <a:latin typeface="Arial" panose="020B0604020202020204" pitchFamily="34" charset="0"/>
                <a:cs typeface="Arial" panose="020B0604020202020204" pitchFamily="34" charset="0"/>
              </a:rPr>
              <a:t>: 1:1</a:t>
            </a: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One reservation has one payment record, and one payment record belongs to one reservation in our basic system.</a:t>
            </a:r>
          </a:p>
          <a:p>
            <a:pPr marL="0" indent="0">
              <a:lnSpc>
                <a:spcPct val="150000"/>
              </a:lnSpc>
              <a:buNone/>
            </a:pPr>
            <a:r>
              <a:rPr lang="en-US" sz="2000" b="1" dirty="0">
                <a:latin typeface="Arial" panose="020B0604020202020204" pitchFamily="34" charset="0"/>
                <a:cs typeface="Arial" panose="020B0604020202020204" pitchFamily="34" charset="0"/>
              </a:rPr>
              <a:t>M:N relationship</a:t>
            </a:r>
            <a:r>
              <a:rPr lang="en-US" sz="2000" dirty="0">
                <a:latin typeface="Arial" panose="020B0604020202020204" pitchFamily="34" charset="0"/>
                <a:cs typeface="Arial" panose="020B0604020202020204" pitchFamily="34" charset="0"/>
              </a:rPr>
              <a:t>:</a:t>
            </a: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Guest and Room can have an M:N relationship because one guest can book different rooms and one room can be booked by different guests over time. This M:N relationship is handled through the Reservation entity.</a:t>
            </a:r>
          </a:p>
        </p:txBody>
      </p:sp>
      <p:pic>
        <p:nvPicPr>
          <p:cNvPr id="4" name="Picture 3">
            <a:extLst>
              <a:ext uri="{FF2B5EF4-FFF2-40B4-BE49-F238E27FC236}">
                <a16:creationId xmlns:a16="http://schemas.microsoft.com/office/drawing/2014/main" id="{B99B1445-4360-06D8-540E-E54248FF3FC5}"/>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36357" y="56148"/>
            <a:ext cx="2165685" cy="866100"/>
          </a:xfrm>
          <a:prstGeom prst="rect">
            <a:avLst/>
          </a:prstGeom>
        </p:spPr>
      </p:pic>
    </p:spTree>
    <p:extLst>
      <p:ext uri="{BB962C8B-B14F-4D97-AF65-F5344CB8AC3E}">
        <p14:creationId xmlns:p14="http://schemas.microsoft.com/office/powerpoint/2010/main" val="3540913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10515600" cy="1325563"/>
          </a:xfrm>
        </p:spPr>
        <p:txBody>
          <a:bodyPr>
            <a:normAutofit/>
          </a:bodyPr>
          <a:lstStyle/>
          <a:p>
            <a:r>
              <a:rPr lang="en-IN" sz="2400" dirty="0">
                <a:latin typeface="Times New Roman" panose="02020603050405020304" pitchFamily="18" charset="0"/>
                <a:cs typeface="Times New Roman" panose="02020603050405020304" pitchFamily="18" charset="0"/>
              </a:rPr>
              <a:t>ER Diagram</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1685" y="1002632"/>
            <a:ext cx="10876548" cy="5077326"/>
          </a:xfrm>
          <a:prstGeom prst="rect">
            <a:avLst/>
          </a:prstGeom>
        </p:spPr>
      </p:pic>
    </p:spTree>
    <p:extLst>
      <p:ext uri="{BB962C8B-B14F-4D97-AF65-F5344CB8AC3E}">
        <p14:creationId xmlns:p14="http://schemas.microsoft.com/office/powerpoint/2010/main" val="11004572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b="1" dirty="0">
                <a:latin typeface="Times New Roman" panose="02020603050405020304" pitchFamily="18" charset="0"/>
                <a:cs typeface="Times New Roman" panose="02020603050405020304" pitchFamily="18" charset="0"/>
              </a:rPr>
              <a:t>Entity sets to Tables</a:t>
            </a:r>
            <a:br>
              <a:rPr lang="en-IN" sz="2400" dirty="0">
                <a:latin typeface="Times New Roman" panose="02020603050405020304" pitchFamily="18" charset="0"/>
                <a:cs typeface="Times New Roman" panose="02020603050405020304" pitchFamily="18" charset="0"/>
              </a:rPr>
            </a:br>
            <a:br>
              <a:rPr lang="en-IN" sz="2400" dirty="0">
                <a:latin typeface="Times New Roman" panose="02020603050405020304" pitchFamily="18" charset="0"/>
                <a:cs typeface="Times New Roman" panose="02020603050405020304" pitchFamily="18" charset="0"/>
              </a:rPr>
            </a:br>
            <a:endParaRPr lang="en-IN" sz="24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0231" y="2262688"/>
            <a:ext cx="4229100" cy="2295525"/>
          </a:xfrm>
          <a:prstGeom prst="rect">
            <a:avLst/>
          </a:prstGeom>
          <a:ln>
            <a:noFill/>
          </a:ln>
          <a:effectLst>
            <a:outerShdw blurRad="292100" dist="139700" dir="2700000" algn="tl" rotWithShape="0">
              <a:srgbClr val="333333">
                <a:alpha val="65000"/>
              </a:srgbClr>
            </a:outerShdw>
          </a:effectLst>
        </p:spPr>
      </p:pic>
      <p:sp>
        <p:nvSpPr>
          <p:cNvPr id="3" name="Rectangle 2"/>
          <p:cNvSpPr/>
          <p:nvPr/>
        </p:nvSpPr>
        <p:spPr>
          <a:xfrm>
            <a:off x="906379" y="1059124"/>
            <a:ext cx="6096000" cy="1015663"/>
          </a:xfrm>
          <a:prstGeom prst="rect">
            <a:avLst/>
          </a:prstGeom>
        </p:spPr>
        <p:txBody>
          <a:bodyPr>
            <a:spAutoFit/>
          </a:bodyPr>
          <a:lstStyle/>
          <a:p>
            <a:r>
              <a:rPr lang="en-IN" sz="2400" b="1" dirty="0">
                <a:latin typeface="Times New Roman" panose="02020603050405020304" pitchFamily="18" charset="0"/>
                <a:cs typeface="Times New Roman" panose="02020603050405020304" pitchFamily="18" charset="0"/>
              </a:rPr>
              <a:t>Hotel Table</a:t>
            </a:r>
            <a:br>
              <a:rPr lang="en-IN" dirty="0">
                <a:latin typeface="Times New Roman" panose="02020603050405020304" pitchFamily="18" charset="0"/>
                <a:cs typeface="Times New Roman" panose="02020603050405020304" pitchFamily="18" charset="0"/>
              </a:rPr>
            </a:b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3"/>
          <a:stretch>
            <a:fillRect/>
          </a:stretch>
        </p:blipFill>
        <p:spPr>
          <a:xfrm>
            <a:off x="5953388" y="2262688"/>
            <a:ext cx="5921253" cy="1386960"/>
          </a:xfrm>
          <a:prstGeom prst="rect">
            <a:avLst/>
          </a:prstGeom>
        </p:spPr>
      </p:pic>
    </p:spTree>
    <p:extLst>
      <p:ext uri="{BB962C8B-B14F-4D97-AF65-F5344CB8AC3E}">
        <p14:creationId xmlns:p14="http://schemas.microsoft.com/office/powerpoint/2010/main" val="25465257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5565" y="1463842"/>
            <a:ext cx="3175334" cy="2677276"/>
          </a:xfrm>
          <a:prstGeom prst="rect">
            <a:avLst/>
          </a:prstGeom>
          <a:ln>
            <a:noFill/>
          </a:ln>
          <a:effectLst>
            <a:outerShdw blurRad="292100" dist="139700" dir="2700000" algn="tl" rotWithShape="0">
              <a:srgbClr val="333333">
                <a:alpha val="65000"/>
              </a:srgbClr>
            </a:outerShdw>
          </a:effectLst>
        </p:spPr>
      </p:pic>
      <p:sp>
        <p:nvSpPr>
          <p:cNvPr id="5" name="Rectangle 4"/>
          <p:cNvSpPr/>
          <p:nvPr/>
        </p:nvSpPr>
        <p:spPr>
          <a:xfrm>
            <a:off x="956510" y="1002177"/>
            <a:ext cx="6096000" cy="923330"/>
          </a:xfrm>
          <a:prstGeom prst="rect">
            <a:avLst/>
          </a:prstGeom>
        </p:spPr>
        <p:txBody>
          <a:bodyPr>
            <a:spAutoFit/>
          </a:bodyPr>
          <a:lstStyle/>
          <a:p>
            <a:r>
              <a:rPr lang="en-IN" b="1" dirty="0">
                <a:latin typeface="Times New Roman" panose="02020603050405020304" pitchFamily="18" charset="0"/>
                <a:cs typeface="Times New Roman" panose="02020603050405020304" pitchFamily="18" charset="0"/>
              </a:rPr>
              <a:t>Room Table</a:t>
            </a:r>
            <a:br>
              <a:rPr lang="en-IN" dirty="0">
                <a:latin typeface="Times New Roman" panose="02020603050405020304" pitchFamily="18" charset="0"/>
                <a:cs typeface="Times New Roman" panose="02020603050405020304" pitchFamily="18" charset="0"/>
              </a:rPr>
            </a:b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581F5F1A-942C-9E26-4E5C-EA9E3795C439}"/>
              </a:ext>
            </a:extLst>
          </p:cNvPr>
          <p:cNvPicPr>
            <a:picLocks noChangeAspect="1"/>
          </p:cNvPicPr>
          <p:nvPr/>
        </p:nvPicPr>
        <p:blipFill>
          <a:blip r:embed="rId3"/>
          <a:stretch>
            <a:fillRect/>
          </a:stretch>
        </p:blipFill>
        <p:spPr>
          <a:xfrm>
            <a:off x="665565" y="4529213"/>
            <a:ext cx="5730737" cy="1729890"/>
          </a:xfrm>
          <a:prstGeom prst="rect">
            <a:avLst/>
          </a:prstGeom>
        </p:spPr>
      </p:pic>
      <p:pic>
        <p:nvPicPr>
          <p:cNvPr id="7" name="Picture 6"/>
          <p:cNvPicPr>
            <a:picLocks noChangeAspect="1"/>
          </p:cNvPicPr>
          <p:nvPr/>
        </p:nvPicPr>
        <p:blipFill>
          <a:blip r:embed="rId4"/>
          <a:stretch>
            <a:fillRect/>
          </a:stretch>
        </p:blipFill>
        <p:spPr>
          <a:xfrm>
            <a:off x="5321621" y="2313602"/>
            <a:ext cx="5921253" cy="1386960"/>
          </a:xfrm>
          <a:prstGeom prst="rect">
            <a:avLst/>
          </a:prstGeom>
        </p:spPr>
      </p:pic>
    </p:spTree>
    <p:extLst>
      <p:ext uri="{BB962C8B-B14F-4D97-AF65-F5344CB8AC3E}">
        <p14:creationId xmlns:p14="http://schemas.microsoft.com/office/powerpoint/2010/main" val="27302726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19937" y="729462"/>
            <a:ext cx="6096000" cy="1200329"/>
          </a:xfrm>
          <a:prstGeom prst="rect">
            <a:avLst/>
          </a:prstGeom>
        </p:spPr>
        <p:txBody>
          <a:bodyPr>
            <a:spAutoFit/>
          </a:bodyPr>
          <a:lstStyle/>
          <a:p>
            <a:r>
              <a:rPr lang="en-IN" sz="2400" b="1" dirty="0">
                <a:latin typeface="Times New Roman" panose="02020603050405020304" pitchFamily="18" charset="0"/>
                <a:cs typeface="Times New Roman" panose="02020603050405020304" pitchFamily="18" charset="0"/>
              </a:rPr>
              <a:t>Guest Table</a:t>
            </a:r>
            <a:br>
              <a:rPr lang="en-IN" sz="2400" dirty="0">
                <a:latin typeface="Times New Roman" panose="02020603050405020304" pitchFamily="18" charset="0"/>
                <a:cs typeface="Times New Roman" panose="02020603050405020304" pitchFamily="18" charset="0"/>
              </a:rPr>
            </a:br>
            <a:br>
              <a:rPr lang="en-IN" sz="2400" dirty="0">
                <a:latin typeface="Times New Roman" panose="02020603050405020304" pitchFamily="18" charset="0"/>
                <a:cs typeface="Times New Roman" panose="02020603050405020304" pitchFamily="18" charset="0"/>
              </a:rPr>
            </a:br>
            <a:endParaRPr lang="en-IN" sz="2400"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0432" y="1396204"/>
            <a:ext cx="3136232" cy="2762250"/>
          </a:xfrm>
          <a:prstGeom prst="rect">
            <a:avLst/>
          </a:prstGeom>
          <a:ln>
            <a:noFill/>
          </a:ln>
          <a:effectLst>
            <a:outerShdw blurRad="292100" dist="139700" dir="2700000" algn="tl" rotWithShape="0">
              <a:srgbClr val="333333">
                <a:alpha val="65000"/>
              </a:srgbClr>
            </a:outerShdw>
          </a:effectLst>
        </p:spPr>
      </p:pic>
      <p:pic>
        <p:nvPicPr>
          <p:cNvPr id="8" name="Picture 7">
            <a:extLst>
              <a:ext uri="{FF2B5EF4-FFF2-40B4-BE49-F238E27FC236}">
                <a16:creationId xmlns:a16="http://schemas.microsoft.com/office/drawing/2014/main" id="{86AAC4D0-2570-3D96-CB95-1798C01BCDC4}"/>
              </a:ext>
            </a:extLst>
          </p:cNvPr>
          <p:cNvPicPr>
            <a:picLocks noChangeAspect="1"/>
          </p:cNvPicPr>
          <p:nvPr/>
        </p:nvPicPr>
        <p:blipFill>
          <a:blip r:embed="rId3"/>
          <a:stretch>
            <a:fillRect/>
          </a:stretch>
        </p:blipFill>
        <p:spPr>
          <a:xfrm>
            <a:off x="620432" y="4581609"/>
            <a:ext cx="7559695" cy="1760373"/>
          </a:xfrm>
          <a:prstGeom prst="rect">
            <a:avLst/>
          </a:prstGeom>
        </p:spPr>
      </p:pic>
      <p:pic>
        <p:nvPicPr>
          <p:cNvPr id="3" name="Picture 2"/>
          <p:cNvPicPr>
            <a:picLocks noChangeAspect="1"/>
          </p:cNvPicPr>
          <p:nvPr/>
        </p:nvPicPr>
        <p:blipFill>
          <a:blip r:embed="rId4"/>
          <a:stretch>
            <a:fillRect/>
          </a:stretch>
        </p:blipFill>
        <p:spPr>
          <a:xfrm>
            <a:off x="5665584" y="1932793"/>
            <a:ext cx="5349704" cy="1767993"/>
          </a:xfrm>
          <a:prstGeom prst="rect">
            <a:avLst/>
          </a:prstGeom>
        </p:spPr>
      </p:pic>
    </p:spTree>
    <p:extLst>
      <p:ext uri="{BB962C8B-B14F-4D97-AF65-F5344CB8AC3E}">
        <p14:creationId xmlns:p14="http://schemas.microsoft.com/office/powerpoint/2010/main" val="42296272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8095" y="629820"/>
            <a:ext cx="3308684" cy="1325563"/>
          </a:xfrm>
        </p:spPr>
        <p:txBody>
          <a:bodyPr>
            <a:normAutofit/>
          </a:bodyPr>
          <a:lstStyle/>
          <a:p>
            <a:r>
              <a:rPr lang="en-IN" sz="2400" b="1" dirty="0">
                <a:latin typeface="Times New Roman" panose="02020603050405020304" pitchFamily="18" charset="0"/>
                <a:cs typeface="Times New Roman" panose="02020603050405020304" pitchFamily="18" charset="0"/>
              </a:rPr>
              <a:t>Reservation Table</a:t>
            </a: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1C3943BA-B6F1-09CD-CF0F-AFC08F1A0C7C}"/>
              </a:ext>
            </a:extLst>
          </p:cNvPr>
          <p:cNvPicPr>
            <a:picLocks noChangeAspect="1"/>
          </p:cNvPicPr>
          <p:nvPr/>
        </p:nvPicPr>
        <p:blipFill>
          <a:blip r:embed="rId2"/>
          <a:stretch>
            <a:fillRect/>
          </a:stretch>
        </p:blipFill>
        <p:spPr>
          <a:xfrm>
            <a:off x="636904" y="4575573"/>
            <a:ext cx="7712108" cy="1767993"/>
          </a:xfrm>
          <a:prstGeom prst="rect">
            <a:avLst/>
          </a:prstGeom>
        </p:spPr>
      </p:pic>
      <p:pic>
        <p:nvPicPr>
          <p:cNvPr id="5" name="Picture 4"/>
          <p:cNvPicPr>
            <a:picLocks noChangeAspect="1"/>
          </p:cNvPicPr>
          <p:nvPr/>
        </p:nvPicPr>
        <p:blipFill>
          <a:blip r:embed="rId3"/>
          <a:stretch>
            <a:fillRect/>
          </a:stretch>
        </p:blipFill>
        <p:spPr>
          <a:xfrm>
            <a:off x="7629917" y="1224243"/>
            <a:ext cx="2933954" cy="3528366"/>
          </a:xfrm>
          <a:prstGeom prst="rect">
            <a:avLst/>
          </a:prstGeom>
        </p:spPr>
      </p:pic>
      <p:pic>
        <p:nvPicPr>
          <p:cNvPr id="15" name="Picture 14">
            <a:extLst>
              <a:ext uri="{FF2B5EF4-FFF2-40B4-BE49-F238E27FC236}">
                <a16:creationId xmlns:a16="http://schemas.microsoft.com/office/drawing/2014/main" id="{19FC93E6-C957-E6A9-B56B-F32FAEA7381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98095" y="1224243"/>
            <a:ext cx="3225367" cy="3351330"/>
          </a:xfrm>
          <a:prstGeom prst="rect">
            <a:avLst/>
          </a:prstGeom>
        </p:spPr>
      </p:pic>
    </p:spTree>
    <p:extLst>
      <p:ext uri="{BB962C8B-B14F-4D97-AF65-F5344CB8AC3E}">
        <p14:creationId xmlns:p14="http://schemas.microsoft.com/office/powerpoint/2010/main" val="8567698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99861" y="625188"/>
            <a:ext cx="6096000" cy="1200329"/>
          </a:xfrm>
          <a:prstGeom prst="rect">
            <a:avLst/>
          </a:prstGeom>
        </p:spPr>
        <p:txBody>
          <a:bodyPr>
            <a:spAutoFit/>
          </a:bodyPr>
          <a:lstStyle/>
          <a:p>
            <a:r>
              <a:rPr lang="en-IN" sz="2400" b="1" dirty="0">
                <a:latin typeface="Times New Roman" panose="02020603050405020304" pitchFamily="18" charset="0"/>
                <a:cs typeface="Times New Roman" panose="02020603050405020304" pitchFamily="18" charset="0"/>
              </a:rPr>
              <a:t>Payment Table</a:t>
            </a:r>
            <a:br>
              <a:rPr lang="en-IN" sz="2400" dirty="0">
                <a:latin typeface="Times New Roman" panose="02020603050405020304" pitchFamily="18" charset="0"/>
                <a:cs typeface="Times New Roman" panose="02020603050405020304" pitchFamily="18" charset="0"/>
              </a:rPr>
            </a:br>
            <a:br>
              <a:rPr lang="en-IN" sz="2400" dirty="0">
                <a:latin typeface="Times New Roman" panose="02020603050405020304" pitchFamily="18" charset="0"/>
                <a:cs typeface="Times New Roman" panose="02020603050405020304" pitchFamily="18" charset="0"/>
              </a:rPr>
            </a:br>
            <a:endParaRPr lang="en-IN" sz="2400"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9994" y="1325380"/>
            <a:ext cx="4518611" cy="2819400"/>
          </a:xfrm>
          <a:prstGeom prst="rect">
            <a:avLst/>
          </a:prstGeom>
          <a:ln>
            <a:noFill/>
          </a:ln>
          <a:effectLst>
            <a:outerShdw blurRad="292100" dist="139700" dir="2700000" algn="tl" rotWithShape="0">
              <a:srgbClr val="333333">
                <a:alpha val="65000"/>
              </a:srgbClr>
            </a:outerShdw>
          </a:effectLst>
        </p:spPr>
      </p:pic>
      <p:pic>
        <p:nvPicPr>
          <p:cNvPr id="6" name="Picture 5">
            <a:extLst>
              <a:ext uri="{FF2B5EF4-FFF2-40B4-BE49-F238E27FC236}">
                <a16:creationId xmlns:a16="http://schemas.microsoft.com/office/drawing/2014/main" id="{3001B916-2B5B-B519-9C55-000D8CC545EA}"/>
              </a:ext>
            </a:extLst>
          </p:cNvPr>
          <p:cNvPicPr>
            <a:picLocks noChangeAspect="1"/>
          </p:cNvPicPr>
          <p:nvPr/>
        </p:nvPicPr>
        <p:blipFill>
          <a:blip r:embed="rId3"/>
          <a:stretch>
            <a:fillRect/>
          </a:stretch>
        </p:blipFill>
        <p:spPr>
          <a:xfrm>
            <a:off x="512975" y="4571508"/>
            <a:ext cx="7757832" cy="1661304"/>
          </a:xfrm>
          <a:prstGeom prst="rect">
            <a:avLst/>
          </a:prstGeom>
        </p:spPr>
      </p:pic>
      <p:pic>
        <p:nvPicPr>
          <p:cNvPr id="3" name="Picture 2"/>
          <p:cNvPicPr>
            <a:picLocks noChangeAspect="1"/>
          </p:cNvPicPr>
          <p:nvPr/>
        </p:nvPicPr>
        <p:blipFill>
          <a:blip r:embed="rId4"/>
          <a:stretch>
            <a:fillRect/>
          </a:stretch>
        </p:blipFill>
        <p:spPr>
          <a:xfrm>
            <a:off x="7315728" y="1401342"/>
            <a:ext cx="3048264" cy="2743438"/>
          </a:xfrm>
          <a:prstGeom prst="rect">
            <a:avLst/>
          </a:prstGeom>
        </p:spPr>
      </p:pic>
    </p:spTree>
    <p:extLst>
      <p:ext uri="{BB962C8B-B14F-4D97-AF65-F5344CB8AC3E}">
        <p14:creationId xmlns:p14="http://schemas.microsoft.com/office/powerpoint/2010/main" val="35448505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79246" y="715783"/>
            <a:ext cx="6096000" cy="1200329"/>
          </a:xfrm>
          <a:prstGeom prst="rect">
            <a:avLst/>
          </a:prstGeom>
        </p:spPr>
        <p:txBody>
          <a:bodyPr>
            <a:spAutoFit/>
          </a:bodyPr>
          <a:lstStyle/>
          <a:p>
            <a:r>
              <a:rPr lang="en-IN" sz="2400" b="1" dirty="0">
                <a:latin typeface="Times New Roman" panose="02020603050405020304" pitchFamily="18" charset="0"/>
                <a:cs typeface="Times New Roman" panose="02020603050405020304" pitchFamily="18" charset="0"/>
              </a:rPr>
              <a:t>Staff Table</a:t>
            </a:r>
            <a:br>
              <a:rPr lang="en-IN" sz="2400" dirty="0">
                <a:latin typeface="Times New Roman" panose="02020603050405020304" pitchFamily="18" charset="0"/>
                <a:cs typeface="Times New Roman" panose="02020603050405020304" pitchFamily="18" charset="0"/>
              </a:rPr>
            </a:br>
            <a:br>
              <a:rPr lang="en-IN" sz="2400" dirty="0">
                <a:latin typeface="Times New Roman" panose="02020603050405020304" pitchFamily="18" charset="0"/>
                <a:cs typeface="Times New Roman" panose="02020603050405020304" pitchFamily="18" charset="0"/>
              </a:rPr>
            </a:br>
            <a:endParaRPr lang="en-IN" sz="2400"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1790" y="1315947"/>
            <a:ext cx="3101389" cy="2614611"/>
          </a:xfrm>
          <a:prstGeom prst="rect">
            <a:avLst/>
          </a:prstGeom>
          <a:ln>
            <a:noFill/>
          </a:ln>
          <a:effectLst>
            <a:outerShdw blurRad="292100" dist="139700" dir="2700000" algn="tl" rotWithShape="0">
              <a:srgbClr val="333333">
                <a:alpha val="65000"/>
              </a:srgbClr>
            </a:outerShdw>
          </a:effectLst>
        </p:spPr>
      </p:pic>
      <p:pic>
        <p:nvPicPr>
          <p:cNvPr id="6" name="Picture 5">
            <a:extLst>
              <a:ext uri="{FF2B5EF4-FFF2-40B4-BE49-F238E27FC236}">
                <a16:creationId xmlns:a16="http://schemas.microsoft.com/office/drawing/2014/main" id="{0438998D-7108-381F-802F-845781633940}"/>
              </a:ext>
            </a:extLst>
          </p:cNvPr>
          <p:cNvPicPr>
            <a:picLocks noChangeAspect="1"/>
          </p:cNvPicPr>
          <p:nvPr/>
        </p:nvPicPr>
        <p:blipFill>
          <a:blip r:embed="rId3"/>
          <a:stretch>
            <a:fillRect/>
          </a:stretch>
        </p:blipFill>
        <p:spPr>
          <a:xfrm>
            <a:off x="349506" y="4500921"/>
            <a:ext cx="5814564" cy="1729890"/>
          </a:xfrm>
          <a:prstGeom prst="rect">
            <a:avLst/>
          </a:prstGeom>
        </p:spPr>
      </p:pic>
      <p:pic>
        <p:nvPicPr>
          <p:cNvPr id="3" name="Picture 2"/>
          <p:cNvPicPr>
            <a:picLocks noChangeAspect="1"/>
          </p:cNvPicPr>
          <p:nvPr/>
        </p:nvPicPr>
        <p:blipFill>
          <a:blip r:embed="rId4"/>
          <a:stretch>
            <a:fillRect/>
          </a:stretch>
        </p:blipFill>
        <p:spPr>
          <a:xfrm>
            <a:off x="6853708" y="815629"/>
            <a:ext cx="3139712" cy="4785775"/>
          </a:xfrm>
          <a:prstGeom prst="rect">
            <a:avLst/>
          </a:prstGeom>
        </p:spPr>
      </p:pic>
    </p:spTree>
    <p:extLst>
      <p:ext uri="{BB962C8B-B14F-4D97-AF65-F5344CB8AC3E}">
        <p14:creationId xmlns:p14="http://schemas.microsoft.com/office/powerpoint/2010/main" val="26530486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876800" y="298950"/>
            <a:ext cx="6096000" cy="923330"/>
          </a:xfrm>
          <a:prstGeom prst="rect">
            <a:avLst/>
          </a:prstGeom>
        </p:spPr>
        <p:txBody>
          <a:bodyPr>
            <a:spAutoFit/>
          </a:bodyPr>
          <a:lstStyle/>
          <a:p>
            <a:r>
              <a:rPr lang="en-IN" b="1" dirty="0">
                <a:latin typeface="Times New Roman" panose="02020603050405020304" pitchFamily="18" charset="0"/>
                <a:cs typeface="Times New Roman" panose="02020603050405020304" pitchFamily="18" charset="0"/>
              </a:rPr>
              <a:t>Hotel Table</a:t>
            </a:r>
            <a:br>
              <a:rPr lang="en-IN" dirty="0">
                <a:latin typeface="Times New Roman" panose="02020603050405020304" pitchFamily="18" charset="0"/>
                <a:cs typeface="Times New Roman" panose="02020603050405020304" pitchFamily="18" charset="0"/>
              </a:rPr>
            </a:b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52211072-5691-F40F-10B6-178FF49989A7}"/>
              </a:ext>
            </a:extLst>
          </p:cNvPr>
          <p:cNvPicPr>
            <a:picLocks noChangeAspect="1"/>
          </p:cNvPicPr>
          <p:nvPr/>
        </p:nvPicPr>
        <p:blipFill>
          <a:blip r:embed="rId2"/>
          <a:stretch>
            <a:fillRect/>
          </a:stretch>
        </p:blipFill>
        <p:spPr>
          <a:xfrm>
            <a:off x="2478651" y="689698"/>
            <a:ext cx="6287045" cy="5944115"/>
          </a:xfrm>
          <a:prstGeom prst="rect">
            <a:avLst/>
          </a:prstGeom>
        </p:spPr>
      </p:pic>
    </p:spTree>
    <p:extLst>
      <p:ext uri="{BB962C8B-B14F-4D97-AF65-F5344CB8AC3E}">
        <p14:creationId xmlns:p14="http://schemas.microsoft.com/office/powerpoint/2010/main" val="13794813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60917" y="182572"/>
            <a:ext cx="6096000" cy="923330"/>
          </a:xfrm>
          <a:prstGeom prst="rect">
            <a:avLst/>
          </a:prstGeom>
        </p:spPr>
        <p:txBody>
          <a:bodyPr>
            <a:spAutoFit/>
          </a:bodyPr>
          <a:lstStyle/>
          <a:p>
            <a:r>
              <a:rPr lang="en-IN" b="1" dirty="0">
                <a:latin typeface="Times New Roman" panose="02020603050405020304" pitchFamily="18" charset="0"/>
                <a:cs typeface="Times New Roman" panose="02020603050405020304" pitchFamily="18" charset="0"/>
              </a:rPr>
              <a:t>Room Table</a:t>
            </a:r>
            <a:br>
              <a:rPr lang="en-IN" dirty="0">
                <a:latin typeface="Times New Roman" panose="02020603050405020304" pitchFamily="18" charset="0"/>
                <a:cs typeface="Times New Roman" panose="02020603050405020304" pitchFamily="18" charset="0"/>
              </a:rPr>
            </a:b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9ADFDBE0-4ED9-373C-8320-9244A89EEC88}"/>
              </a:ext>
            </a:extLst>
          </p:cNvPr>
          <p:cNvPicPr>
            <a:picLocks noChangeAspect="1"/>
          </p:cNvPicPr>
          <p:nvPr/>
        </p:nvPicPr>
        <p:blipFill>
          <a:blip r:embed="rId2"/>
          <a:stretch>
            <a:fillRect/>
          </a:stretch>
        </p:blipFill>
        <p:spPr>
          <a:xfrm>
            <a:off x="3283331" y="644237"/>
            <a:ext cx="4511431" cy="5959356"/>
          </a:xfrm>
          <a:prstGeom prst="rect">
            <a:avLst/>
          </a:prstGeom>
        </p:spPr>
      </p:pic>
    </p:spTree>
    <p:extLst>
      <p:ext uri="{BB962C8B-B14F-4D97-AF65-F5344CB8AC3E}">
        <p14:creationId xmlns:p14="http://schemas.microsoft.com/office/powerpoint/2010/main" val="19778344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777048" y="564956"/>
            <a:ext cx="2197330" cy="923330"/>
          </a:xfrm>
          <a:prstGeom prst="rect">
            <a:avLst/>
          </a:prstGeom>
        </p:spPr>
        <p:txBody>
          <a:bodyPr wrap="square">
            <a:spAutoFit/>
          </a:bodyPr>
          <a:lstStyle/>
          <a:p>
            <a:pPr algn="ctr"/>
            <a:r>
              <a:rPr lang="en-IN" b="1" dirty="0">
                <a:latin typeface="Times New Roman" panose="02020603050405020304" pitchFamily="18" charset="0"/>
                <a:cs typeface="Times New Roman" panose="02020603050405020304" pitchFamily="18" charset="0"/>
              </a:rPr>
              <a:t>Guest Table</a:t>
            </a:r>
            <a:br>
              <a:rPr lang="en-IN" dirty="0">
                <a:latin typeface="Times New Roman" panose="02020603050405020304" pitchFamily="18" charset="0"/>
                <a:cs typeface="Times New Roman" panose="02020603050405020304" pitchFamily="18" charset="0"/>
              </a:rPr>
            </a:b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414738A8-94C6-2FD6-094A-30F18D0EFF9A}"/>
              </a:ext>
            </a:extLst>
          </p:cNvPr>
          <p:cNvPicPr>
            <a:picLocks noChangeAspect="1"/>
          </p:cNvPicPr>
          <p:nvPr/>
        </p:nvPicPr>
        <p:blipFill>
          <a:blip r:embed="rId2"/>
          <a:stretch>
            <a:fillRect/>
          </a:stretch>
        </p:blipFill>
        <p:spPr>
          <a:xfrm>
            <a:off x="1661488" y="891023"/>
            <a:ext cx="8428450" cy="5966977"/>
          </a:xfrm>
          <a:prstGeom prst="rect">
            <a:avLst/>
          </a:prstGeom>
        </p:spPr>
      </p:pic>
    </p:spTree>
    <p:extLst>
      <p:ext uri="{BB962C8B-B14F-4D97-AF65-F5344CB8AC3E}">
        <p14:creationId xmlns:p14="http://schemas.microsoft.com/office/powerpoint/2010/main" val="5070868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261659" y="753052"/>
            <a:ext cx="6096000" cy="646331"/>
          </a:xfrm>
          <a:prstGeom prst="rect">
            <a:avLst/>
          </a:prstGeom>
        </p:spPr>
        <p:txBody>
          <a:bodyPr>
            <a:spAutoFit/>
          </a:bodyPr>
          <a:lstStyle/>
          <a:p>
            <a:br>
              <a:rPr lang="en-IN" dirty="0">
                <a:latin typeface="Times New Roman" panose="02020603050405020304" pitchFamily="18" charset="0"/>
                <a:cs typeface="Times New Roman" panose="02020603050405020304" pitchFamily="18" charset="0"/>
              </a:rPr>
            </a:br>
            <a:endParaRPr lang="en-IN" dirty="0"/>
          </a:p>
        </p:txBody>
      </p:sp>
      <p:pic>
        <p:nvPicPr>
          <p:cNvPr id="5" name="Picture 4">
            <a:extLst>
              <a:ext uri="{FF2B5EF4-FFF2-40B4-BE49-F238E27FC236}">
                <a16:creationId xmlns:a16="http://schemas.microsoft.com/office/drawing/2014/main" id="{A168D7ED-BA08-89C9-04CF-783981FFA9C0}"/>
              </a:ext>
            </a:extLst>
          </p:cNvPr>
          <p:cNvPicPr>
            <a:picLocks noChangeAspect="1"/>
          </p:cNvPicPr>
          <p:nvPr/>
        </p:nvPicPr>
        <p:blipFill>
          <a:blip r:embed="rId2"/>
          <a:stretch>
            <a:fillRect/>
          </a:stretch>
        </p:blipFill>
        <p:spPr>
          <a:xfrm>
            <a:off x="1834341" y="898644"/>
            <a:ext cx="7734970" cy="5959356"/>
          </a:xfrm>
          <a:prstGeom prst="rect">
            <a:avLst/>
          </a:prstGeom>
        </p:spPr>
      </p:pic>
      <p:sp>
        <p:nvSpPr>
          <p:cNvPr id="10" name="TextBox 9">
            <a:extLst>
              <a:ext uri="{FF2B5EF4-FFF2-40B4-BE49-F238E27FC236}">
                <a16:creationId xmlns:a16="http://schemas.microsoft.com/office/drawing/2014/main" id="{12216E3B-5A5B-2B72-3F0E-623F3D5650BF}"/>
              </a:ext>
            </a:extLst>
          </p:cNvPr>
          <p:cNvSpPr txBox="1"/>
          <p:nvPr/>
        </p:nvSpPr>
        <p:spPr>
          <a:xfrm>
            <a:off x="4261659" y="515389"/>
            <a:ext cx="3013436"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RESERVATION TABLE</a:t>
            </a:r>
          </a:p>
        </p:txBody>
      </p:sp>
    </p:spTree>
    <p:extLst>
      <p:ext uri="{BB962C8B-B14F-4D97-AF65-F5344CB8AC3E}">
        <p14:creationId xmlns:p14="http://schemas.microsoft.com/office/powerpoint/2010/main" val="36154721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77CF76E-857C-177E-A693-62E180E8627E}"/>
              </a:ext>
            </a:extLst>
          </p:cNvPr>
          <p:cNvPicPr>
            <a:picLocks noChangeAspect="1"/>
          </p:cNvPicPr>
          <p:nvPr/>
        </p:nvPicPr>
        <p:blipFill>
          <a:blip r:embed="rId2"/>
          <a:stretch>
            <a:fillRect/>
          </a:stretch>
        </p:blipFill>
        <p:spPr>
          <a:xfrm>
            <a:off x="1670170" y="854311"/>
            <a:ext cx="7887383" cy="5928874"/>
          </a:xfrm>
          <a:prstGeom prst="rect">
            <a:avLst/>
          </a:prstGeom>
        </p:spPr>
      </p:pic>
      <p:sp>
        <p:nvSpPr>
          <p:cNvPr id="6" name="TextBox 5">
            <a:extLst>
              <a:ext uri="{FF2B5EF4-FFF2-40B4-BE49-F238E27FC236}">
                <a16:creationId xmlns:a16="http://schemas.microsoft.com/office/drawing/2014/main" id="{3E17BB61-8450-F683-BAB1-FC06B2C3FC14}"/>
              </a:ext>
            </a:extLst>
          </p:cNvPr>
          <p:cNvSpPr txBox="1"/>
          <p:nvPr/>
        </p:nvSpPr>
        <p:spPr>
          <a:xfrm>
            <a:off x="3376863" y="360288"/>
            <a:ext cx="3922295" cy="369332"/>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PAYMENT TABLE</a:t>
            </a:r>
          </a:p>
        </p:txBody>
      </p:sp>
    </p:spTree>
    <p:extLst>
      <p:ext uri="{BB962C8B-B14F-4D97-AF65-F5344CB8AC3E}">
        <p14:creationId xmlns:p14="http://schemas.microsoft.com/office/powerpoint/2010/main" val="22707476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1F92FB1-4EC9-4843-716A-DBBF78D027BD}"/>
              </a:ext>
            </a:extLst>
          </p:cNvPr>
          <p:cNvPicPr>
            <a:picLocks noChangeAspect="1"/>
          </p:cNvPicPr>
          <p:nvPr/>
        </p:nvPicPr>
        <p:blipFill>
          <a:blip r:embed="rId2"/>
          <a:stretch>
            <a:fillRect/>
          </a:stretch>
        </p:blipFill>
        <p:spPr>
          <a:xfrm>
            <a:off x="2183896" y="815083"/>
            <a:ext cx="6294665" cy="5959356"/>
          </a:xfrm>
          <a:prstGeom prst="rect">
            <a:avLst/>
          </a:prstGeom>
        </p:spPr>
      </p:pic>
      <p:sp>
        <p:nvSpPr>
          <p:cNvPr id="6" name="TextBox 5">
            <a:extLst>
              <a:ext uri="{FF2B5EF4-FFF2-40B4-BE49-F238E27FC236}">
                <a16:creationId xmlns:a16="http://schemas.microsoft.com/office/drawing/2014/main" id="{26C98D4D-CC5B-B0BD-1892-B3B6BD624BED}"/>
              </a:ext>
            </a:extLst>
          </p:cNvPr>
          <p:cNvSpPr txBox="1"/>
          <p:nvPr/>
        </p:nvSpPr>
        <p:spPr>
          <a:xfrm>
            <a:off x="4189614" y="332508"/>
            <a:ext cx="1712422" cy="369332"/>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STAFF TABLE</a:t>
            </a:r>
          </a:p>
        </p:txBody>
      </p:sp>
    </p:spTree>
    <p:extLst>
      <p:ext uri="{BB962C8B-B14F-4D97-AF65-F5344CB8AC3E}">
        <p14:creationId xmlns:p14="http://schemas.microsoft.com/office/powerpoint/2010/main" val="2693331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0075" y="662285"/>
            <a:ext cx="6096000" cy="1015663"/>
          </a:xfrm>
          <a:prstGeom prst="rect">
            <a:avLst/>
          </a:prstGeom>
        </p:spPr>
        <p:txBody>
          <a:bodyPr>
            <a:spAutoFit/>
          </a:bodyPr>
          <a:lstStyle/>
          <a:p>
            <a:r>
              <a:rPr lang="en-IN" sz="2400" b="1" dirty="0">
                <a:latin typeface="Times New Roman" panose="02020603050405020304" pitchFamily="18" charset="0"/>
                <a:cs typeface="Times New Roman" panose="02020603050405020304" pitchFamily="18" charset="0"/>
              </a:rPr>
              <a:t>Manager Table</a:t>
            </a:r>
            <a:br>
              <a:rPr lang="en-IN" dirty="0">
                <a:latin typeface="Times New Roman" panose="02020603050405020304" pitchFamily="18" charset="0"/>
                <a:cs typeface="Times New Roman" panose="02020603050405020304" pitchFamily="18" charset="0"/>
              </a:rPr>
            </a:b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7330" y="2202029"/>
            <a:ext cx="4912895" cy="1714500"/>
          </a:xfrm>
          <a:prstGeom prst="rect">
            <a:avLst/>
          </a:prstGeom>
          <a:ln>
            <a:noFill/>
          </a:ln>
          <a:effectLst>
            <a:outerShdw blurRad="292100" dist="139700" dir="2700000" algn="tl" rotWithShape="0">
              <a:srgbClr val="333333">
                <a:alpha val="65000"/>
              </a:srgbClr>
            </a:outerShdw>
          </a:effectLst>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91375" y="904875"/>
            <a:ext cx="3076576" cy="4857750"/>
          </a:xfrm>
          <a:prstGeom prst="rect">
            <a:avLst/>
          </a:prstGeom>
        </p:spPr>
      </p:pic>
    </p:spTree>
    <p:extLst>
      <p:ext uri="{BB962C8B-B14F-4D97-AF65-F5344CB8AC3E}">
        <p14:creationId xmlns:p14="http://schemas.microsoft.com/office/powerpoint/2010/main" val="34620957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76275" y="509885"/>
            <a:ext cx="6096000" cy="1015663"/>
          </a:xfrm>
          <a:prstGeom prst="rect">
            <a:avLst/>
          </a:prstGeom>
        </p:spPr>
        <p:txBody>
          <a:bodyPr>
            <a:spAutoFit/>
          </a:bodyPr>
          <a:lstStyle/>
          <a:p>
            <a:r>
              <a:rPr lang="en-IN" sz="2400" b="1" dirty="0">
                <a:latin typeface="Times New Roman" panose="02020603050405020304" pitchFamily="18" charset="0"/>
                <a:cs typeface="Times New Roman" panose="02020603050405020304" pitchFamily="18" charset="0"/>
              </a:rPr>
              <a:t>Receptionist Table</a:t>
            </a:r>
            <a:br>
              <a:rPr lang="en-IN" sz="2400" dirty="0">
                <a:latin typeface="Times New Roman" panose="02020603050405020304" pitchFamily="18" charset="0"/>
                <a:cs typeface="Times New Roman" panose="02020603050405020304" pitchFamily="18" charset="0"/>
              </a:rPr>
            </a:b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9731" y="2125829"/>
            <a:ext cx="4229100" cy="1933575"/>
          </a:xfrm>
          <a:prstGeom prst="rect">
            <a:avLst/>
          </a:prstGeom>
          <a:ln>
            <a:noFill/>
          </a:ln>
          <a:effectLst>
            <a:outerShdw blurRad="292100" dist="139700" dir="2700000" algn="tl" rotWithShape="0">
              <a:srgbClr val="333333">
                <a:alpha val="65000"/>
              </a:srgbClr>
            </a:outerShdw>
          </a:effectLst>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72275" y="1017716"/>
            <a:ext cx="3028950" cy="4838700"/>
          </a:xfrm>
          <a:prstGeom prst="rect">
            <a:avLst/>
          </a:prstGeom>
        </p:spPr>
      </p:pic>
    </p:spTree>
    <p:extLst>
      <p:ext uri="{BB962C8B-B14F-4D97-AF65-F5344CB8AC3E}">
        <p14:creationId xmlns:p14="http://schemas.microsoft.com/office/powerpoint/2010/main" val="30997680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85775" y="347960"/>
            <a:ext cx="6096000" cy="1015663"/>
          </a:xfrm>
          <a:prstGeom prst="rect">
            <a:avLst/>
          </a:prstGeom>
        </p:spPr>
        <p:txBody>
          <a:bodyPr>
            <a:spAutoFit/>
          </a:bodyPr>
          <a:lstStyle/>
          <a:p>
            <a:r>
              <a:rPr lang="en-IN" sz="2400" b="1" dirty="0">
                <a:latin typeface="Times New Roman" panose="02020603050405020304" pitchFamily="18" charset="0"/>
                <a:cs typeface="Times New Roman" panose="02020603050405020304" pitchFamily="18" charset="0"/>
              </a:rPr>
              <a:t>Housekeeper Table</a:t>
            </a:r>
            <a:br>
              <a:rPr lang="en-IN" sz="2400" dirty="0">
                <a:latin typeface="Times New Roman" panose="02020603050405020304" pitchFamily="18" charset="0"/>
                <a:cs typeface="Times New Roman" panose="02020603050405020304" pitchFamily="18" charset="0"/>
              </a:rPr>
            </a:b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8755" y="1813508"/>
            <a:ext cx="4788569" cy="2295525"/>
          </a:xfrm>
          <a:prstGeom prst="rect">
            <a:avLst/>
          </a:prstGeom>
          <a:ln>
            <a:noFill/>
          </a:ln>
          <a:effectLst>
            <a:outerShdw blurRad="292100" dist="139700" dir="2700000" algn="tl" rotWithShape="0">
              <a:srgbClr val="333333">
                <a:alpha val="65000"/>
              </a:srgbClr>
            </a:outerShdw>
          </a:effectLst>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72300" y="855791"/>
            <a:ext cx="2781300" cy="4857750"/>
          </a:xfrm>
          <a:prstGeom prst="rect">
            <a:avLst/>
          </a:prstGeom>
        </p:spPr>
      </p:pic>
    </p:spTree>
    <p:extLst>
      <p:ext uri="{BB962C8B-B14F-4D97-AF65-F5344CB8AC3E}">
        <p14:creationId xmlns:p14="http://schemas.microsoft.com/office/powerpoint/2010/main" val="336608002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987195" y="377309"/>
            <a:ext cx="1569661" cy="461665"/>
          </a:xfrm>
          <a:prstGeom prst="rect">
            <a:avLst/>
          </a:prstGeom>
        </p:spPr>
        <p:txBody>
          <a:bodyPr wrap="none">
            <a:spAutoFit/>
          </a:bodyPr>
          <a:lstStyle/>
          <a:p>
            <a:pPr algn="ctr"/>
            <a:r>
              <a:rPr lang="en-US" sz="2400" b="1" dirty="0">
                <a:latin typeface="Times New Roman" panose="02020603050405020304" pitchFamily="18" charset="0"/>
                <a:cs typeface="Times New Roman" panose="02020603050405020304" pitchFamily="18" charset="0"/>
              </a:rPr>
              <a:t>QUERIES</a:t>
            </a:r>
            <a:endParaRPr lang="en-IN" sz="2400" dirty="0">
              <a:latin typeface="Times New Roman" panose="02020603050405020304" pitchFamily="18" charset="0"/>
              <a:cs typeface="Times New Roman" panose="02020603050405020304" pitchFamily="18" charset="0"/>
            </a:endParaRPr>
          </a:p>
        </p:txBody>
      </p:sp>
      <p:sp>
        <p:nvSpPr>
          <p:cNvPr id="5" name="Rectangle 4"/>
          <p:cNvSpPr/>
          <p:nvPr/>
        </p:nvSpPr>
        <p:spPr>
          <a:xfrm>
            <a:off x="816830" y="996434"/>
            <a:ext cx="1986441" cy="461665"/>
          </a:xfrm>
          <a:prstGeom prst="rect">
            <a:avLst/>
          </a:prstGeom>
        </p:spPr>
        <p:txBody>
          <a:bodyPr wrap="none">
            <a:spAutoFit/>
          </a:bodyPr>
          <a:lstStyle/>
          <a:p>
            <a:r>
              <a:rPr lang="en-US" sz="2400" b="1" dirty="0">
                <a:latin typeface="Times New Roman" panose="02020603050405020304" pitchFamily="18" charset="0"/>
                <a:cs typeface="Times New Roman" panose="02020603050405020304" pitchFamily="18" charset="0"/>
              </a:rPr>
              <a:t>Basic Queries</a:t>
            </a:r>
            <a:endParaRPr lang="en-IN" sz="2400" dirty="0">
              <a:latin typeface="Times New Roman" panose="02020603050405020304" pitchFamily="18" charset="0"/>
              <a:cs typeface="Times New Roman" panose="02020603050405020304" pitchFamily="18" charset="0"/>
            </a:endParaRPr>
          </a:p>
        </p:txBody>
      </p:sp>
      <p:sp>
        <p:nvSpPr>
          <p:cNvPr id="6" name="Rectangle 5"/>
          <p:cNvSpPr/>
          <p:nvPr/>
        </p:nvSpPr>
        <p:spPr>
          <a:xfrm>
            <a:off x="816830" y="1792455"/>
            <a:ext cx="4777911" cy="369332"/>
          </a:xfrm>
          <a:prstGeom prst="rect">
            <a:avLst/>
          </a:prstGeom>
        </p:spPr>
        <p:txBody>
          <a:bodyPr wrap="none">
            <a:spAutoFit/>
          </a:bodyPr>
          <a:lstStyle/>
          <a:p>
            <a:r>
              <a:rPr lang="en-US" b="1" dirty="0">
                <a:latin typeface="Times New Roman" panose="02020603050405020304" pitchFamily="18" charset="0"/>
                <a:cs typeface="Times New Roman" panose="02020603050405020304" pitchFamily="18" charset="0"/>
              </a:rPr>
              <a:t>Query 1: Retrieve all hotels and their locations</a:t>
            </a:r>
            <a:endParaRPr lang="en-IN" dirty="0">
              <a:latin typeface="Times New Roman" panose="02020603050405020304" pitchFamily="18" charset="0"/>
              <a:cs typeface="Times New Roman" panose="02020603050405020304" pitchFamily="18" charset="0"/>
            </a:endParaRPr>
          </a:p>
        </p:txBody>
      </p:sp>
      <p:sp>
        <p:nvSpPr>
          <p:cNvPr id="7" name="Rectangle 6"/>
          <p:cNvSpPr/>
          <p:nvPr/>
        </p:nvSpPr>
        <p:spPr>
          <a:xfrm>
            <a:off x="891729" y="2865476"/>
            <a:ext cx="5299030" cy="369332"/>
          </a:xfrm>
          <a:prstGeom prst="rect">
            <a:avLst/>
          </a:prstGeom>
        </p:spPr>
        <p:txBody>
          <a:bodyPr wrap="square">
            <a:spAutoFit/>
          </a:bodyPr>
          <a:lstStyle/>
          <a:p>
            <a:r>
              <a:rPr lang="en-IN" dirty="0">
                <a:latin typeface="Times New Roman" panose="02020603050405020304" pitchFamily="18" charset="0"/>
                <a:cs typeface="Times New Roman" panose="02020603050405020304" pitchFamily="18" charset="0"/>
              </a:rPr>
              <a:t>SQL&gt;SELECT </a:t>
            </a:r>
            <a:r>
              <a:rPr lang="en-IN" dirty="0" err="1">
                <a:latin typeface="Times New Roman" panose="02020603050405020304" pitchFamily="18" charset="0"/>
                <a:cs typeface="Times New Roman" panose="02020603050405020304" pitchFamily="18" charset="0"/>
              </a:rPr>
              <a:t>Hotel_name</a:t>
            </a:r>
            <a:r>
              <a:rPr lang="en-IN" dirty="0">
                <a:latin typeface="Times New Roman" panose="02020603050405020304" pitchFamily="18" charset="0"/>
                <a:cs typeface="Times New Roman" panose="02020603050405020304" pitchFamily="18" charset="0"/>
              </a:rPr>
              <a:t>, Location FROM Hotel;</a:t>
            </a:r>
          </a:p>
        </p:txBody>
      </p:sp>
      <p:pic>
        <p:nvPicPr>
          <p:cNvPr id="3" name="Picture 2">
            <a:extLst>
              <a:ext uri="{FF2B5EF4-FFF2-40B4-BE49-F238E27FC236}">
                <a16:creationId xmlns:a16="http://schemas.microsoft.com/office/drawing/2014/main" id="{F7C64014-FFFA-1576-C2F3-825153A7C7E5}"/>
              </a:ext>
            </a:extLst>
          </p:cNvPr>
          <p:cNvPicPr>
            <a:picLocks noChangeAspect="1"/>
          </p:cNvPicPr>
          <p:nvPr/>
        </p:nvPicPr>
        <p:blipFill>
          <a:blip r:embed="rId2"/>
          <a:stretch>
            <a:fillRect/>
          </a:stretch>
        </p:blipFill>
        <p:spPr>
          <a:xfrm>
            <a:off x="6519099" y="377309"/>
            <a:ext cx="3642676" cy="5913632"/>
          </a:xfrm>
          <a:prstGeom prst="rect">
            <a:avLst/>
          </a:prstGeom>
        </p:spPr>
      </p:pic>
    </p:spTree>
    <p:extLst>
      <p:ext uri="{BB962C8B-B14F-4D97-AF65-F5344CB8AC3E}">
        <p14:creationId xmlns:p14="http://schemas.microsoft.com/office/powerpoint/2010/main" val="7429127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000648" y="1139309"/>
            <a:ext cx="4683975" cy="369332"/>
          </a:xfrm>
          <a:prstGeom prst="rect">
            <a:avLst/>
          </a:prstGeom>
        </p:spPr>
        <p:txBody>
          <a:bodyPr wrap="none">
            <a:spAutoFit/>
          </a:bodyPr>
          <a:lstStyle/>
          <a:p>
            <a:r>
              <a:rPr lang="en-US" b="1" dirty="0">
                <a:latin typeface="Times New Roman" panose="02020603050405020304" pitchFamily="18" charset="0"/>
                <a:cs typeface="Times New Roman" panose="02020603050405020304" pitchFamily="18" charset="0"/>
              </a:rPr>
              <a:t>Query 2:List all rooms along with their prices</a:t>
            </a:r>
            <a:endParaRPr lang="en-IN" dirty="0">
              <a:latin typeface="Times New Roman" panose="02020603050405020304" pitchFamily="18" charset="0"/>
              <a:cs typeface="Times New Roman" panose="02020603050405020304" pitchFamily="18" charset="0"/>
            </a:endParaRPr>
          </a:p>
        </p:txBody>
      </p:sp>
      <p:sp>
        <p:nvSpPr>
          <p:cNvPr id="5" name="Rectangle 4"/>
          <p:cNvSpPr/>
          <p:nvPr/>
        </p:nvSpPr>
        <p:spPr>
          <a:xfrm>
            <a:off x="1076849" y="2453759"/>
            <a:ext cx="5400152" cy="646331"/>
          </a:xfrm>
          <a:prstGeom prst="rect">
            <a:avLst/>
          </a:prstGeom>
        </p:spPr>
        <p:txBody>
          <a:bodyPr wrap="square">
            <a:spAutoFit/>
          </a:bodyPr>
          <a:lstStyle/>
          <a:p>
            <a:r>
              <a:rPr lang="en-IN" dirty="0">
                <a:latin typeface="Times New Roman" panose="02020603050405020304" pitchFamily="18" charset="0"/>
                <a:cs typeface="Times New Roman" panose="02020603050405020304" pitchFamily="18" charset="0"/>
              </a:rPr>
              <a:t>SQL&gt;SELECT </a:t>
            </a:r>
            <a:r>
              <a:rPr lang="en-IN" dirty="0" err="1">
                <a:latin typeface="Times New Roman" panose="02020603050405020304" pitchFamily="18" charset="0"/>
                <a:cs typeface="Times New Roman" panose="02020603050405020304" pitchFamily="18" charset="0"/>
              </a:rPr>
              <a:t>Room_ID</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Room_Type</a:t>
            </a:r>
            <a:r>
              <a:rPr lang="en-IN" dirty="0">
                <a:latin typeface="Times New Roman" panose="02020603050405020304" pitchFamily="18" charset="0"/>
                <a:cs typeface="Times New Roman" panose="02020603050405020304" pitchFamily="18" charset="0"/>
              </a:rPr>
              <a:t>, Price FROM Room;</a:t>
            </a:r>
          </a:p>
        </p:txBody>
      </p:sp>
      <p:pic>
        <p:nvPicPr>
          <p:cNvPr id="3" name="Picture 2">
            <a:extLst>
              <a:ext uri="{FF2B5EF4-FFF2-40B4-BE49-F238E27FC236}">
                <a16:creationId xmlns:a16="http://schemas.microsoft.com/office/drawing/2014/main" id="{0E124AF9-B879-67AA-307B-740C02B66A69}"/>
              </a:ext>
            </a:extLst>
          </p:cNvPr>
          <p:cNvPicPr>
            <a:picLocks noChangeAspect="1"/>
          </p:cNvPicPr>
          <p:nvPr/>
        </p:nvPicPr>
        <p:blipFill>
          <a:blip r:embed="rId2"/>
          <a:stretch>
            <a:fillRect/>
          </a:stretch>
        </p:blipFill>
        <p:spPr>
          <a:xfrm>
            <a:off x="6621635" y="522752"/>
            <a:ext cx="3337849" cy="5928874"/>
          </a:xfrm>
          <a:prstGeom prst="rect">
            <a:avLst/>
          </a:prstGeom>
        </p:spPr>
      </p:pic>
    </p:spTree>
    <p:extLst>
      <p:ext uri="{BB962C8B-B14F-4D97-AF65-F5344CB8AC3E}">
        <p14:creationId xmlns:p14="http://schemas.microsoft.com/office/powerpoint/2010/main" val="54600859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37780" y="701159"/>
            <a:ext cx="4252126" cy="369332"/>
          </a:xfrm>
          <a:prstGeom prst="rect">
            <a:avLst/>
          </a:prstGeom>
        </p:spPr>
        <p:txBody>
          <a:bodyPr wrap="none">
            <a:spAutoFit/>
          </a:bodyPr>
          <a:lstStyle/>
          <a:p>
            <a:r>
              <a:rPr lang="en-US" b="1" dirty="0">
                <a:latin typeface="Times New Roman" panose="02020603050405020304" pitchFamily="18" charset="0"/>
                <a:cs typeface="Times New Roman" panose="02020603050405020304" pitchFamily="18" charset="0"/>
              </a:rPr>
              <a:t>Query 3:Find all rooms in a specific hotel</a:t>
            </a:r>
            <a:endParaRPr lang="en-IN" dirty="0">
              <a:latin typeface="Times New Roman" panose="02020603050405020304" pitchFamily="18" charset="0"/>
              <a:cs typeface="Times New Roman" panose="02020603050405020304" pitchFamily="18" charset="0"/>
            </a:endParaRPr>
          </a:p>
        </p:txBody>
      </p:sp>
      <p:sp>
        <p:nvSpPr>
          <p:cNvPr id="5" name="Rectangle 4"/>
          <p:cNvSpPr/>
          <p:nvPr/>
        </p:nvSpPr>
        <p:spPr>
          <a:xfrm>
            <a:off x="537780" y="1428661"/>
            <a:ext cx="5133975" cy="923330"/>
          </a:xfrm>
          <a:prstGeom prst="rect">
            <a:avLst/>
          </a:prstGeom>
        </p:spPr>
        <p:txBody>
          <a:bodyPr wrap="square">
            <a:spAutoFit/>
          </a:bodyPr>
          <a:lstStyle/>
          <a:p>
            <a:r>
              <a:rPr lang="en-IN" dirty="0">
                <a:latin typeface="Times New Roman" panose="02020603050405020304" pitchFamily="18" charset="0"/>
                <a:cs typeface="Times New Roman" panose="02020603050405020304" pitchFamily="18" charset="0"/>
              </a:rPr>
              <a:t>SQL&gt;select </a:t>
            </a:r>
            <a:r>
              <a:rPr lang="en-IN" dirty="0" err="1">
                <a:latin typeface="Times New Roman" panose="02020603050405020304" pitchFamily="18" charset="0"/>
                <a:cs typeface="Times New Roman" panose="02020603050405020304" pitchFamily="18" charset="0"/>
              </a:rPr>
              <a:t>r.Room_ID</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r.Room_Type,r.Price</a:t>
            </a:r>
            <a:r>
              <a:rPr lang="en-IN" dirty="0">
                <a:latin typeface="Times New Roman" panose="02020603050405020304" pitchFamily="18" charset="0"/>
                <a:cs typeface="Times New Roman" panose="02020603050405020304" pitchFamily="18" charset="0"/>
              </a:rPr>
              <a:t> from Room </a:t>
            </a:r>
            <a:r>
              <a:rPr lang="en-IN" dirty="0" err="1">
                <a:latin typeface="Times New Roman" panose="02020603050405020304" pitchFamily="18" charset="0"/>
                <a:cs typeface="Times New Roman" panose="02020603050405020304" pitchFamily="18" charset="0"/>
              </a:rPr>
              <a:t>rwhere</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r.Hotel_ID</a:t>
            </a:r>
            <a:r>
              <a:rPr lang="en-IN" dirty="0">
                <a:latin typeface="Times New Roman" panose="02020603050405020304" pitchFamily="18" charset="0"/>
                <a:cs typeface="Times New Roman" panose="02020603050405020304" pitchFamily="18" charset="0"/>
              </a:rPr>
              <a:t>  IN (select </a:t>
            </a:r>
            <a:r>
              <a:rPr lang="en-IN" dirty="0" err="1">
                <a:latin typeface="Times New Roman" panose="02020603050405020304" pitchFamily="18" charset="0"/>
                <a:cs typeface="Times New Roman" panose="02020603050405020304" pitchFamily="18" charset="0"/>
              </a:rPr>
              <a:t>h.Hotel_ID</a:t>
            </a:r>
            <a:r>
              <a:rPr lang="en-IN" dirty="0">
                <a:latin typeface="Times New Roman" panose="02020603050405020304" pitchFamily="18" charset="0"/>
                <a:cs typeface="Times New Roman" panose="02020603050405020304" pitchFamily="18" charset="0"/>
              </a:rPr>
              <a:t> from Hotel h where </a:t>
            </a:r>
            <a:r>
              <a:rPr lang="en-IN" dirty="0" err="1">
                <a:latin typeface="Times New Roman" panose="02020603050405020304" pitchFamily="18" charset="0"/>
                <a:cs typeface="Times New Roman" panose="02020603050405020304" pitchFamily="18" charset="0"/>
              </a:rPr>
              <a:t>h.Hotel_name</a:t>
            </a:r>
            <a:r>
              <a:rPr lang="en-IN" dirty="0">
                <a:latin typeface="Times New Roman" panose="02020603050405020304" pitchFamily="18" charset="0"/>
                <a:cs typeface="Times New Roman" panose="02020603050405020304" pitchFamily="18" charset="0"/>
              </a:rPr>
              <a:t> = 'Green Valley')</a:t>
            </a:r>
          </a:p>
        </p:txBody>
      </p:sp>
      <p:sp>
        <p:nvSpPr>
          <p:cNvPr id="7" name="Rectangle 6"/>
          <p:cNvSpPr/>
          <p:nvPr/>
        </p:nvSpPr>
        <p:spPr>
          <a:xfrm>
            <a:off x="669682" y="3330059"/>
            <a:ext cx="5750168" cy="369332"/>
          </a:xfrm>
          <a:prstGeom prst="rect">
            <a:avLst/>
          </a:prstGeom>
        </p:spPr>
        <p:txBody>
          <a:bodyPr wrap="square">
            <a:spAutoFit/>
          </a:bodyPr>
          <a:lstStyle/>
          <a:p>
            <a:r>
              <a:rPr lang="en-US" b="1" dirty="0">
                <a:latin typeface="Times New Roman" panose="02020603050405020304" pitchFamily="18" charset="0"/>
                <a:cs typeface="Times New Roman" panose="02020603050405020304" pitchFamily="18" charset="0"/>
              </a:rPr>
              <a:t>Query 4: Find all guests who have made a reservation</a:t>
            </a:r>
            <a:endParaRPr lang="en-IN" dirty="0">
              <a:latin typeface="Times New Roman" panose="02020603050405020304" pitchFamily="18" charset="0"/>
              <a:cs typeface="Times New Roman" panose="02020603050405020304" pitchFamily="18" charset="0"/>
            </a:endParaRPr>
          </a:p>
        </p:txBody>
      </p:sp>
      <p:sp>
        <p:nvSpPr>
          <p:cNvPr id="8" name="Rectangle 7"/>
          <p:cNvSpPr/>
          <p:nvPr/>
        </p:nvSpPr>
        <p:spPr>
          <a:xfrm>
            <a:off x="755407" y="4519910"/>
            <a:ext cx="5105400" cy="646331"/>
          </a:xfrm>
          <a:prstGeom prst="rect">
            <a:avLst/>
          </a:prstGeom>
        </p:spPr>
        <p:txBody>
          <a:bodyPr wrap="square">
            <a:spAutoFit/>
          </a:bodyPr>
          <a:lstStyle/>
          <a:p>
            <a:r>
              <a:rPr lang="en-IN" dirty="0">
                <a:latin typeface="Times New Roman" panose="02020603050405020304" pitchFamily="18" charset="0"/>
                <a:cs typeface="Times New Roman" panose="02020603050405020304" pitchFamily="18" charset="0"/>
              </a:rPr>
              <a:t>SQL&gt;select </a:t>
            </a:r>
            <a:r>
              <a:rPr lang="en-IN" dirty="0" err="1">
                <a:latin typeface="Times New Roman" panose="02020603050405020304" pitchFamily="18" charset="0"/>
                <a:cs typeface="Times New Roman" panose="02020603050405020304" pitchFamily="18" charset="0"/>
              </a:rPr>
              <a:t>g.First_Name</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g.Last_Name</a:t>
            </a:r>
            <a:r>
              <a:rPr lang="en-IN" dirty="0">
                <a:latin typeface="Times New Roman" panose="02020603050405020304" pitchFamily="18" charset="0"/>
                <a:cs typeface="Times New Roman" panose="02020603050405020304" pitchFamily="18" charset="0"/>
              </a:rPr>
              <a:t> from Guest </a:t>
            </a:r>
            <a:r>
              <a:rPr lang="en-IN" dirty="0" err="1">
                <a:latin typeface="Times New Roman" panose="02020603050405020304" pitchFamily="18" charset="0"/>
                <a:cs typeface="Times New Roman" panose="02020603050405020304" pitchFamily="18" charset="0"/>
              </a:rPr>
              <a:t>g,Reservation</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rwhere</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g.Guest_ID</a:t>
            </a:r>
            <a:r>
              <a:rPr lang="en-IN" dirty="0">
                <a:latin typeface="Times New Roman" panose="02020603050405020304" pitchFamily="18" charset="0"/>
                <a:cs typeface="Times New Roman" panose="02020603050405020304" pitchFamily="18" charset="0"/>
              </a:rPr>
              <a:t> = </a:t>
            </a:r>
            <a:r>
              <a:rPr lang="en-IN" dirty="0" err="1">
                <a:latin typeface="Times New Roman" panose="02020603050405020304" pitchFamily="18" charset="0"/>
                <a:cs typeface="Times New Roman" panose="02020603050405020304" pitchFamily="18" charset="0"/>
              </a:rPr>
              <a:t>r.Guest_ID</a:t>
            </a:r>
            <a:endParaRPr lang="en-IN"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26BBA3A3-154D-65BB-73A0-5B769E1D627F}"/>
              </a:ext>
            </a:extLst>
          </p:cNvPr>
          <p:cNvPicPr>
            <a:picLocks noChangeAspect="1"/>
          </p:cNvPicPr>
          <p:nvPr/>
        </p:nvPicPr>
        <p:blipFill>
          <a:blip r:embed="rId2"/>
          <a:stretch>
            <a:fillRect/>
          </a:stretch>
        </p:blipFill>
        <p:spPr>
          <a:xfrm>
            <a:off x="6925045" y="1132685"/>
            <a:ext cx="3429297" cy="1219306"/>
          </a:xfrm>
          <a:prstGeom prst="rect">
            <a:avLst/>
          </a:prstGeom>
        </p:spPr>
      </p:pic>
      <p:pic>
        <p:nvPicPr>
          <p:cNvPr id="11" name="Picture 10">
            <a:extLst>
              <a:ext uri="{FF2B5EF4-FFF2-40B4-BE49-F238E27FC236}">
                <a16:creationId xmlns:a16="http://schemas.microsoft.com/office/drawing/2014/main" id="{07CEECF7-79F9-9CDB-2044-B822D52614AE}"/>
              </a:ext>
            </a:extLst>
          </p:cNvPr>
          <p:cNvPicPr>
            <a:picLocks noChangeAspect="1"/>
          </p:cNvPicPr>
          <p:nvPr/>
        </p:nvPicPr>
        <p:blipFill>
          <a:blip r:embed="rId3"/>
          <a:stretch>
            <a:fillRect/>
          </a:stretch>
        </p:blipFill>
        <p:spPr>
          <a:xfrm>
            <a:off x="7068466" y="2351991"/>
            <a:ext cx="2842506" cy="4506009"/>
          </a:xfrm>
          <a:prstGeom prst="rect">
            <a:avLst/>
          </a:prstGeom>
        </p:spPr>
      </p:pic>
    </p:spTree>
    <p:extLst>
      <p:ext uri="{BB962C8B-B14F-4D97-AF65-F5344CB8AC3E}">
        <p14:creationId xmlns:p14="http://schemas.microsoft.com/office/powerpoint/2010/main" val="333084635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568116" y="882134"/>
            <a:ext cx="5023811" cy="369332"/>
          </a:xfrm>
          <a:prstGeom prst="rect">
            <a:avLst/>
          </a:prstGeom>
        </p:spPr>
        <p:txBody>
          <a:bodyPr wrap="none">
            <a:spAutoFit/>
          </a:bodyPr>
          <a:lstStyle/>
          <a:p>
            <a:r>
              <a:rPr lang="en-US" b="1" dirty="0">
                <a:latin typeface="Times New Roman" panose="02020603050405020304" pitchFamily="18" charset="0"/>
                <a:cs typeface="Times New Roman" panose="02020603050405020304" pitchFamily="18" charset="0"/>
              </a:rPr>
              <a:t>Query 5: List rooms along with their hotel names</a:t>
            </a:r>
            <a:endParaRPr lang="en-IN" dirty="0">
              <a:latin typeface="Times New Roman" panose="02020603050405020304" pitchFamily="18" charset="0"/>
              <a:cs typeface="Times New Roman" panose="02020603050405020304" pitchFamily="18" charset="0"/>
            </a:endParaRPr>
          </a:p>
        </p:txBody>
      </p:sp>
      <p:sp>
        <p:nvSpPr>
          <p:cNvPr id="6" name="Rectangle 5"/>
          <p:cNvSpPr/>
          <p:nvPr/>
        </p:nvSpPr>
        <p:spPr>
          <a:xfrm>
            <a:off x="685800" y="2409736"/>
            <a:ext cx="5555664" cy="923330"/>
          </a:xfrm>
          <a:prstGeom prst="rect">
            <a:avLst/>
          </a:prstGeom>
        </p:spPr>
        <p:txBody>
          <a:bodyPr wrap="square">
            <a:spAutoFit/>
          </a:bodyPr>
          <a:lstStyle/>
          <a:p>
            <a:r>
              <a:rPr lang="en-IN" dirty="0">
                <a:latin typeface="Times New Roman" panose="02020603050405020304" pitchFamily="18" charset="0"/>
                <a:cs typeface="Times New Roman" panose="02020603050405020304" pitchFamily="18" charset="0"/>
              </a:rPr>
              <a:t>SQL&gt;select </a:t>
            </a:r>
            <a:r>
              <a:rPr lang="en-IN" dirty="0" err="1">
                <a:latin typeface="Times New Roman" panose="02020603050405020304" pitchFamily="18" charset="0"/>
                <a:cs typeface="Times New Roman" panose="02020603050405020304" pitchFamily="18" charset="0"/>
              </a:rPr>
              <a:t>r.Room_ID,r.Room_Type,r.Price,h.Hotel_name</a:t>
            </a:r>
            <a:r>
              <a:rPr lang="en-IN" dirty="0">
                <a:latin typeface="Times New Roman" panose="02020603050405020304" pitchFamily="18" charset="0"/>
                <a:cs typeface="Times New Roman" panose="02020603050405020304" pitchFamily="18" charset="0"/>
              </a:rPr>
              <a:t> from Room </a:t>
            </a:r>
            <a:r>
              <a:rPr lang="en-IN" dirty="0" err="1">
                <a:latin typeface="Times New Roman" panose="02020603050405020304" pitchFamily="18" charset="0"/>
                <a:cs typeface="Times New Roman" panose="02020603050405020304" pitchFamily="18" charset="0"/>
              </a:rPr>
              <a:t>r,Hotel</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hwhere</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r.Hotel_ID</a:t>
            </a:r>
            <a:r>
              <a:rPr lang="en-IN" dirty="0">
                <a:latin typeface="Times New Roman" panose="02020603050405020304" pitchFamily="18" charset="0"/>
                <a:cs typeface="Times New Roman" panose="02020603050405020304" pitchFamily="18" charset="0"/>
              </a:rPr>
              <a:t> = </a:t>
            </a:r>
            <a:r>
              <a:rPr lang="en-IN" dirty="0" err="1">
                <a:latin typeface="Times New Roman" panose="02020603050405020304" pitchFamily="18" charset="0"/>
                <a:cs typeface="Times New Roman" panose="02020603050405020304" pitchFamily="18" charset="0"/>
              </a:rPr>
              <a:t>h.Hotel_ID</a:t>
            </a:r>
            <a:endParaRPr lang="en-IN"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460C903F-B079-F5C4-C729-B443A65AA930}"/>
              </a:ext>
            </a:extLst>
          </p:cNvPr>
          <p:cNvPicPr>
            <a:picLocks noChangeAspect="1"/>
          </p:cNvPicPr>
          <p:nvPr/>
        </p:nvPicPr>
        <p:blipFill>
          <a:blip r:embed="rId2"/>
          <a:stretch>
            <a:fillRect/>
          </a:stretch>
        </p:blipFill>
        <p:spPr>
          <a:xfrm>
            <a:off x="6241464" y="552877"/>
            <a:ext cx="4861981" cy="5944115"/>
          </a:xfrm>
          <a:prstGeom prst="rect">
            <a:avLst/>
          </a:prstGeom>
        </p:spPr>
      </p:pic>
    </p:spTree>
    <p:extLst>
      <p:ext uri="{BB962C8B-B14F-4D97-AF65-F5344CB8AC3E}">
        <p14:creationId xmlns:p14="http://schemas.microsoft.com/office/powerpoint/2010/main" val="129841163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70746" y="815459"/>
            <a:ext cx="5622052" cy="369332"/>
          </a:xfrm>
          <a:prstGeom prst="rect">
            <a:avLst/>
          </a:prstGeom>
        </p:spPr>
        <p:txBody>
          <a:bodyPr wrap="none">
            <a:spAutoFit/>
          </a:bodyPr>
          <a:lstStyle/>
          <a:p>
            <a:r>
              <a:rPr lang="en-US" b="1" dirty="0">
                <a:latin typeface="Times New Roman" panose="02020603050405020304" pitchFamily="18" charset="0"/>
                <a:cs typeface="Times New Roman" panose="02020603050405020304" pitchFamily="18" charset="0"/>
              </a:rPr>
              <a:t>Query 6:Find staff members working in a specific hotel</a:t>
            </a:r>
            <a:endParaRPr lang="en-IN" dirty="0">
              <a:latin typeface="Times New Roman" panose="02020603050405020304" pitchFamily="18" charset="0"/>
              <a:cs typeface="Times New Roman" panose="02020603050405020304" pitchFamily="18" charset="0"/>
            </a:endParaRPr>
          </a:p>
        </p:txBody>
      </p:sp>
      <p:sp>
        <p:nvSpPr>
          <p:cNvPr id="5" name="Rectangle 4"/>
          <p:cNvSpPr/>
          <p:nvPr/>
        </p:nvSpPr>
        <p:spPr>
          <a:xfrm>
            <a:off x="822312" y="2043410"/>
            <a:ext cx="5416563" cy="923330"/>
          </a:xfrm>
          <a:prstGeom prst="rect">
            <a:avLst/>
          </a:prstGeom>
        </p:spPr>
        <p:txBody>
          <a:bodyPr wrap="square">
            <a:spAutoFit/>
          </a:bodyPr>
          <a:lstStyle/>
          <a:p>
            <a:r>
              <a:rPr lang="en-IN" dirty="0">
                <a:latin typeface="Times New Roman" panose="02020603050405020304" pitchFamily="18" charset="0"/>
                <a:cs typeface="Times New Roman" panose="02020603050405020304" pitchFamily="18" charset="0"/>
              </a:rPr>
              <a:t>SQL&gt;SELECT </a:t>
            </a:r>
            <a:r>
              <a:rPr lang="en-IN" dirty="0" err="1">
                <a:latin typeface="Times New Roman" panose="02020603050405020304" pitchFamily="18" charset="0"/>
                <a:cs typeface="Times New Roman" panose="02020603050405020304" pitchFamily="18" charset="0"/>
              </a:rPr>
              <a:t>s.Staff_ID,s.First_Name,s.Last_Name,s.PhoneNo</a:t>
            </a:r>
            <a:r>
              <a:rPr lang="en-IN" dirty="0">
                <a:latin typeface="Times New Roman" panose="02020603050405020304" pitchFamily="18" charset="0"/>
                <a:cs typeface="Times New Roman" panose="02020603050405020304" pitchFamily="18" charset="0"/>
              </a:rPr>
              <a:t> FROM Staff </a:t>
            </a:r>
            <a:r>
              <a:rPr lang="en-IN" dirty="0" err="1">
                <a:latin typeface="Times New Roman" panose="02020603050405020304" pitchFamily="18" charset="0"/>
                <a:cs typeface="Times New Roman" panose="02020603050405020304" pitchFamily="18" charset="0"/>
              </a:rPr>
              <a:t>sWHERE</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s.Hotel_ID</a:t>
            </a:r>
            <a:r>
              <a:rPr lang="en-IN" dirty="0">
                <a:latin typeface="Times New Roman" panose="02020603050405020304" pitchFamily="18" charset="0"/>
                <a:cs typeface="Times New Roman" panose="02020603050405020304" pitchFamily="18" charset="0"/>
              </a:rPr>
              <a:t> = 5;</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81799" y="2171700"/>
            <a:ext cx="5038725" cy="666750"/>
          </a:xfrm>
          <a:prstGeom prst="rect">
            <a:avLst/>
          </a:prstGeom>
        </p:spPr>
      </p:pic>
      <p:sp>
        <p:nvSpPr>
          <p:cNvPr id="8" name="Rectangle 7"/>
          <p:cNvSpPr/>
          <p:nvPr/>
        </p:nvSpPr>
        <p:spPr>
          <a:xfrm>
            <a:off x="770746" y="3502193"/>
            <a:ext cx="6096000" cy="646331"/>
          </a:xfrm>
          <a:prstGeom prst="rect">
            <a:avLst/>
          </a:prstGeom>
        </p:spPr>
        <p:txBody>
          <a:bodyPr>
            <a:spAutoFit/>
          </a:bodyPr>
          <a:lstStyle/>
          <a:p>
            <a:r>
              <a:rPr lang="en-US" b="1" dirty="0">
                <a:latin typeface="Times New Roman" panose="02020603050405020304" pitchFamily="18" charset="0"/>
                <a:cs typeface="Times New Roman" panose="02020603050405020304" pitchFamily="18" charset="0"/>
              </a:rPr>
              <a:t>Query 7: </a:t>
            </a:r>
            <a:r>
              <a:rPr lang="en-IN" b="1" dirty="0">
                <a:latin typeface="Times New Roman" panose="02020603050405020304" pitchFamily="18" charset="0"/>
                <a:cs typeface="Times New Roman" panose="02020603050405020304" pitchFamily="18" charset="0"/>
              </a:rPr>
              <a:t>Show rooms that cost more than 3000</a:t>
            </a:r>
          </a:p>
          <a:p>
            <a:endParaRPr lang="en-IN" dirty="0">
              <a:latin typeface="Times New Roman" panose="02020603050405020304" pitchFamily="18" charset="0"/>
              <a:cs typeface="Times New Roman" panose="02020603050405020304" pitchFamily="18" charset="0"/>
            </a:endParaRPr>
          </a:p>
        </p:txBody>
      </p:sp>
      <p:sp>
        <p:nvSpPr>
          <p:cNvPr id="9" name="Rectangle 8"/>
          <p:cNvSpPr/>
          <p:nvPr/>
        </p:nvSpPr>
        <p:spPr>
          <a:xfrm>
            <a:off x="822312" y="4360811"/>
            <a:ext cx="5416563" cy="646331"/>
          </a:xfrm>
          <a:prstGeom prst="rect">
            <a:avLst/>
          </a:prstGeom>
        </p:spPr>
        <p:txBody>
          <a:bodyPr wrap="square">
            <a:spAutoFit/>
          </a:bodyPr>
          <a:lstStyle/>
          <a:p>
            <a:r>
              <a:rPr lang="en-IN" dirty="0">
                <a:latin typeface="Times New Roman" panose="02020603050405020304" pitchFamily="18" charset="0"/>
                <a:cs typeface="Times New Roman" panose="02020603050405020304" pitchFamily="18" charset="0"/>
              </a:rPr>
              <a:t>SQL&gt;select </a:t>
            </a:r>
            <a:r>
              <a:rPr lang="en-IN" dirty="0" err="1">
                <a:latin typeface="Times New Roman" panose="02020603050405020304" pitchFamily="18" charset="0"/>
                <a:cs typeface="Times New Roman" panose="02020603050405020304" pitchFamily="18" charset="0"/>
              </a:rPr>
              <a:t>Room_ID</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Room_Type,Price</a:t>
            </a:r>
            <a:r>
              <a:rPr lang="en-IN" dirty="0">
                <a:latin typeface="Times New Roman" panose="02020603050405020304" pitchFamily="18" charset="0"/>
                <a:cs typeface="Times New Roman" panose="02020603050405020304" pitchFamily="18" charset="0"/>
              </a:rPr>
              <a:t> from </a:t>
            </a:r>
            <a:r>
              <a:rPr lang="en-IN" dirty="0" err="1">
                <a:latin typeface="Times New Roman" panose="02020603050405020304" pitchFamily="18" charset="0"/>
                <a:cs typeface="Times New Roman" panose="02020603050405020304" pitchFamily="18" charset="0"/>
              </a:rPr>
              <a:t>Roomwhere</a:t>
            </a:r>
            <a:r>
              <a:rPr lang="en-IN" dirty="0">
                <a:latin typeface="Times New Roman" panose="02020603050405020304" pitchFamily="18" charset="0"/>
                <a:cs typeface="Times New Roman" panose="02020603050405020304" pitchFamily="18" charset="0"/>
              </a:rPr>
              <a:t> Price &gt; 3000</a:t>
            </a:r>
          </a:p>
        </p:txBody>
      </p:sp>
      <p:pic>
        <p:nvPicPr>
          <p:cNvPr id="3" name="Picture 2">
            <a:extLst>
              <a:ext uri="{FF2B5EF4-FFF2-40B4-BE49-F238E27FC236}">
                <a16:creationId xmlns:a16="http://schemas.microsoft.com/office/drawing/2014/main" id="{15B98AF5-6CBD-61C2-A3D2-6B2E701E55AF}"/>
              </a:ext>
            </a:extLst>
          </p:cNvPr>
          <p:cNvPicPr>
            <a:picLocks noChangeAspect="1"/>
          </p:cNvPicPr>
          <p:nvPr/>
        </p:nvPicPr>
        <p:blipFill>
          <a:blip r:embed="rId3"/>
          <a:stretch>
            <a:fillRect/>
          </a:stretch>
        </p:blipFill>
        <p:spPr>
          <a:xfrm>
            <a:off x="7066019" y="3247481"/>
            <a:ext cx="3330229" cy="2872989"/>
          </a:xfrm>
          <a:prstGeom prst="rect">
            <a:avLst/>
          </a:prstGeom>
        </p:spPr>
      </p:pic>
    </p:spTree>
    <p:extLst>
      <p:ext uri="{BB962C8B-B14F-4D97-AF65-F5344CB8AC3E}">
        <p14:creationId xmlns:p14="http://schemas.microsoft.com/office/powerpoint/2010/main" val="325459014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102955" y="520184"/>
            <a:ext cx="3379067" cy="461665"/>
          </a:xfrm>
          <a:prstGeom prst="rect">
            <a:avLst/>
          </a:prstGeom>
        </p:spPr>
        <p:txBody>
          <a:bodyPr wrap="none">
            <a:spAutoFit/>
          </a:bodyPr>
          <a:lstStyle/>
          <a:p>
            <a:r>
              <a:rPr lang="en-IN" sz="2400" b="1" dirty="0">
                <a:latin typeface="Arial" panose="020B0604020202020204" pitchFamily="34" charset="0"/>
                <a:cs typeface="Arial" panose="020B0604020202020204" pitchFamily="34" charset="0"/>
              </a:rPr>
              <a:t>ADVANCED QUERIES</a:t>
            </a:r>
          </a:p>
        </p:txBody>
      </p:sp>
      <p:sp>
        <p:nvSpPr>
          <p:cNvPr id="5" name="Rectangle 4"/>
          <p:cNvSpPr/>
          <p:nvPr/>
        </p:nvSpPr>
        <p:spPr>
          <a:xfrm>
            <a:off x="828675" y="1648510"/>
            <a:ext cx="5495925" cy="646331"/>
          </a:xfrm>
          <a:prstGeom prst="rect">
            <a:avLst/>
          </a:prstGeom>
        </p:spPr>
        <p:txBody>
          <a:bodyPr wrap="square">
            <a:spAutoFit/>
          </a:bodyPr>
          <a:lstStyle/>
          <a:p>
            <a:r>
              <a:rPr lang="en-US" b="1" dirty="0">
                <a:latin typeface="Times New Roman" panose="02020603050405020304" pitchFamily="18" charset="0"/>
                <a:cs typeface="Times New Roman" panose="02020603050405020304" pitchFamily="18" charset="0"/>
              </a:rPr>
              <a:t>Query 1: Count the number of reservations made by each guest</a:t>
            </a:r>
            <a:endParaRPr lang="en-IN" dirty="0">
              <a:latin typeface="Times New Roman" panose="02020603050405020304" pitchFamily="18" charset="0"/>
              <a:cs typeface="Times New Roman" panose="02020603050405020304" pitchFamily="18" charset="0"/>
            </a:endParaRPr>
          </a:p>
        </p:txBody>
      </p:sp>
      <p:sp>
        <p:nvSpPr>
          <p:cNvPr id="6" name="Rectangle 5"/>
          <p:cNvSpPr/>
          <p:nvPr/>
        </p:nvSpPr>
        <p:spPr>
          <a:xfrm>
            <a:off x="912080" y="2880836"/>
            <a:ext cx="6096000" cy="923330"/>
          </a:xfrm>
          <a:prstGeom prst="rect">
            <a:avLst/>
          </a:prstGeom>
        </p:spPr>
        <p:txBody>
          <a:bodyPr>
            <a:spAutoFit/>
          </a:bodyPr>
          <a:lstStyle/>
          <a:p>
            <a:r>
              <a:rPr lang="en-IN" dirty="0">
                <a:latin typeface="Times New Roman" panose="02020603050405020304" pitchFamily="18" charset="0"/>
                <a:cs typeface="Times New Roman" panose="02020603050405020304" pitchFamily="18" charset="0"/>
              </a:rPr>
              <a:t>SQL&gt;select </a:t>
            </a:r>
            <a:r>
              <a:rPr lang="en-IN" dirty="0" err="1">
                <a:latin typeface="Times New Roman" panose="02020603050405020304" pitchFamily="18" charset="0"/>
                <a:cs typeface="Times New Roman" panose="02020603050405020304" pitchFamily="18" charset="0"/>
              </a:rPr>
              <a:t>g.First_Name,g.Last_Name,count</a:t>
            </a: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r.reservation_ID</a:t>
            </a:r>
            <a:r>
              <a:rPr lang="en-IN" dirty="0">
                <a:latin typeface="Times New Roman" panose="02020603050405020304" pitchFamily="18" charset="0"/>
                <a:cs typeface="Times New Roman" panose="02020603050405020304" pitchFamily="18" charset="0"/>
              </a:rPr>
              <a:t>) from Guest </a:t>
            </a:r>
            <a:r>
              <a:rPr lang="en-IN" dirty="0" err="1">
                <a:latin typeface="Times New Roman" panose="02020603050405020304" pitchFamily="18" charset="0"/>
                <a:cs typeface="Times New Roman" panose="02020603050405020304" pitchFamily="18" charset="0"/>
              </a:rPr>
              <a:t>g,Reservation</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rwhere</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g.Guest_ID</a:t>
            </a:r>
            <a:r>
              <a:rPr lang="en-IN" dirty="0">
                <a:latin typeface="Times New Roman" panose="02020603050405020304" pitchFamily="18" charset="0"/>
                <a:cs typeface="Times New Roman" panose="02020603050405020304" pitchFamily="18" charset="0"/>
              </a:rPr>
              <a:t> = </a:t>
            </a:r>
            <a:r>
              <a:rPr lang="en-IN" dirty="0" err="1">
                <a:latin typeface="Times New Roman" panose="02020603050405020304" pitchFamily="18" charset="0"/>
                <a:cs typeface="Times New Roman" panose="02020603050405020304" pitchFamily="18" charset="0"/>
              </a:rPr>
              <a:t>r.Guest_ID</a:t>
            </a:r>
            <a:r>
              <a:rPr lang="en-IN" dirty="0">
                <a:latin typeface="Times New Roman" panose="02020603050405020304" pitchFamily="18" charset="0"/>
                <a:cs typeface="Times New Roman" panose="02020603050405020304" pitchFamily="18" charset="0"/>
              </a:rPr>
              <a:t> Group by </a:t>
            </a:r>
            <a:r>
              <a:rPr lang="en-IN" dirty="0" err="1">
                <a:latin typeface="Times New Roman" panose="02020603050405020304" pitchFamily="18" charset="0"/>
                <a:cs typeface="Times New Roman" panose="02020603050405020304" pitchFamily="18" charset="0"/>
              </a:rPr>
              <a:t>g.First_Name</a:t>
            </a:r>
            <a:r>
              <a:rPr lang="en-IN" dirty="0">
                <a:latin typeface="Times New Roman" panose="02020603050405020304" pitchFamily="18" charset="0"/>
                <a:cs typeface="Times New Roman" panose="02020603050405020304" pitchFamily="18" charset="0"/>
              </a:rPr>
              <a:t> , </a:t>
            </a:r>
            <a:r>
              <a:rPr lang="en-IN" dirty="0" err="1">
                <a:latin typeface="Times New Roman" panose="02020603050405020304" pitchFamily="18" charset="0"/>
                <a:cs typeface="Times New Roman" panose="02020603050405020304" pitchFamily="18" charset="0"/>
              </a:rPr>
              <a:t>g.Last_Name</a:t>
            </a:r>
            <a:endParaRPr lang="en-IN"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0C2B22DD-60A8-66AB-C8A7-B7B66CEF5B63}"/>
              </a:ext>
            </a:extLst>
          </p:cNvPr>
          <p:cNvPicPr>
            <a:picLocks noChangeAspect="1"/>
          </p:cNvPicPr>
          <p:nvPr/>
        </p:nvPicPr>
        <p:blipFill>
          <a:blip r:embed="rId2"/>
          <a:stretch>
            <a:fillRect/>
          </a:stretch>
        </p:blipFill>
        <p:spPr>
          <a:xfrm>
            <a:off x="6924502" y="1088967"/>
            <a:ext cx="4979323" cy="5544589"/>
          </a:xfrm>
          <a:prstGeom prst="rect">
            <a:avLst/>
          </a:prstGeom>
        </p:spPr>
      </p:pic>
    </p:spTree>
    <p:extLst>
      <p:ext uri="{BB962C8B-B14F-4D97-AF65-F5344CB8AC3E}">
        <p14:creationId xmlns:p14="http://schemas.microsoft.com/office/powerpoint/2010/main" val="155649865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04825" y="810310"/>
            <a:ext cx="6096000" cy="369332"/>
          </a:xfrm>
          <a:prstGeom prst="rect">
            <a:avLst/>
          </a:prstGeom>
        </p:spPr>
        <p:txBody>
          <a:bodyPr>
            <a:spAutoFit/>
          </a:bodyPr>
          <a:lstStyle/>
          <a:p>
            <a:r>
              <a:rPr lang="en-US" b="1" dirty="0">
                <a:latin typeface="Times New Roman" panose="02020603050405020304" pitchFamily="18" charset="0"/>
                <a:cs typeface="Times New Roman" panose="02020603050405020304" pitchFamily="18" charset="0"/>
              </a:rPr>
              <a:t>Query 2: Find the most expensive room</a:t>
            </a:r>
            <a:endParaRPr lang="en-IN" b="1" dirty="0">
              <a:latin typeface="Times New Roman" panose="02020603050405020304" pitchFamily="18" charset="0"/>
              <a:cs typeface="Times New Roman" panose="02020603050405020304" pitchFamily="18" charset="0"/>
            </a:endParaRPr>
          </a:p>
        </p:txBody>
      </p:sp>
      <p:sp>
        <p:nvSpPr>
          <p:cNvPr id="6" name="Rectangle 5"/>
          <p:cNvSpPr/>
          <p:nvPr/>
        </p:nvSpPr>
        <p:spPr>
          <a:xfrm>
            <a:off x="504825" y="1510010"/>
            <a:ext cx="6096000" cy="646331"/>
          </a:xfrm>
          <a:prstGeom prst="rect">
            <a:avLst/>
          </a:prstGeom>
        </p:spPr>
        <p:txBody>
          <a:bodyPr>
            <a:spAutoFit/>
          </a:bodyPr>
          <a:lstStyle/>
          <a:p>
            <a:r>
              <a:rPr lang="en-IN" dirty="0">
                <a:latin typeface="Times New Roman" panose="02020603050405020304" pitchFamily="18" charset="0"/>
                <a:cs typeface="Times New Roman" panose="02020603050405020304" pitchFamily="18" charset="0"/>
              </a:rPr>
              <a:t>SQL&gt;select </a:t>
            </a:r>
            <a:r>
              <a:rPr lang="en-IN" dirty="0" err="1">
                <a:latin typeface="Times New Roman" panose="02020603050405020304" pitchFamily="18" charset="0"/>
                <a:cs typeface="Times New Roman" panose="02020603050405020304" pitchFamily="18" charset="0"/>
              </a:rPr>
              <a:t>Room_ID</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Room_Type,Price</a:t>
            </a:r>
            <a:r>
              <a:rPr lang="en-IN" dirty="0">
                <a:latin typeface="Times New Roman" panose="02020603050405020304" pitchFamily="18" charset="0"/>
                <a:cs typeface="Times New Roman" panose="02020603050405020304" pitchFamily="18" charset="0"/>
              </a:rPr>
              <a:t> from </a:t>
            </a:r>
            <a:r>
              <a:rPr lang="en-IN" dirty="0" err="1">
                <a:latin typeface="Times New Roman" panose="02020603050405020304" pitchFamily="18" charset="0"/>
                <a:cs typeface="Times New Roman" panose="02020603050405020304" pitchFamily="18" charset="0"/>
              </a:rPr>
              <a:t>Roomwhere</a:t>
            </a:r>
            <a:r>
              <a:rPr lang="en-IN" dirty="0">
                <a:latin typeface="Times New Roman" panose="02020603050405020304" pitchFamily="18" charset="0"/>
                <a:cs typeface="Times New Roman" panose="02020603050405020304" pitchFamily="18" charset="0"/>
              </a:rPr>
              <a:t> Price = (select max(Price) from Room)</a:t>
            </a: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72275" y="1452175"/>
            <a:ext cx="4114800" cy="762000"/>
          </a:xfrm>
          <a:prstGeom prst="rect">
            <a:avLst/>
          </a:prstGeom>
        </p:spPr>
      </p:pic>
      <p:sp>
        <p:nvSpPr>
          <p:cNvPr id="9" name="Rectangle 8"/>
          <p:cNvSpPr/>
          <p:nvPr/>
        </p:nvSpPr>
        <p:spPr>
          <a:xfrm>
            <a:off x="555580" y="3170962"/>
            <a:ext cx="5440592" cy="646331"/>
          </a:xfrm>
          <a:prstGeom prst="rect">
            <a:avLst/>
          </a:prstGeom>
        </p:spPr>
        <p:txBody>
          <a:bodyPr wrap="none">
            <a:spAutoFit/>
          </a:bodyPr>
          <a:lstStyle/>
          <a:p>
            <a:r>
              <a:rPr lang="en-US" b="1" dirty="0">
                <a:latin typeface="Times New Roman" panose="02020603050405020304" pitchFamily="18" charset="0"/>
                <a:cs typeface="Times New Roman" panose="02020603050405020304" pitchFamily="18" charset="0"/>
              </a:rPr>
              <a:t>Query 3: </a:t>
            </a:r>
            <a:r>
              <a:rPr lang="en-IN" b="1" dirty="0">
                <a:latin typeface="Times New Roman" panose="02020603050405020304" pitchFamily="18" charset="0"/>
                <a:cs typeface="Times New Roman" panose="02020603050405020304" pitchFamily="18" charset="0"/>
              </a:rPr>
              <a:t>Count reservations according to their status</a:t>
            </a:r>
          </a:p>
          <a:p>
            <a:endParaRPr lang="en-IN" b="1" dirty="0">
              <a:latin typeface="Times New Roman" panose="02020603050405020304" pitchFamily="18" charset="0"/>
              <a:cs typeface="Times New Roman" panose="02020603050405020304" pitchFamily="18" charset="0"/>
            </a:endParaRPr>
          </a:p>
        </p:txBody>
      </p:sp>
      <p:sp>
        <p:nvSpPr>
          <p:cNvPr id="10" name="Rectangle 9"/>
          <p:cNvSpPr/>
          <p:nvPr/>
        </p:nvSpPr>
        <p:spPr>
          <a:xfrm>
            <a:off x="555580" y="4003239"/>
            <a:ext cx="6096000" cy="369332"/>
          </a:xfrm>
          <a:prstGeom prst="rect">
            <a:avLst/>
          </a:prstGeom>
        </p:spPr>
        <p:txBody>
          <a:bodyPr>
            <a:spAutoFit/>
          </a:bodyPr>
          <a:lstStyle/>
          <a:p>
            <a:r>
              <a:rPr lang="en-IN" dirty="0">
                <a:latin typeface="Times New Roman" panose="02020603050405020304" pitchFamily="18" charset="0"/>
                <a:cs typeface="Times New Roman" panose="02020603050405020304" pitchFamily="18" charset="0"/>
              </a:rPr>
              <a:t>SQL&gt;select Status, count(*) from </a:t>
            </a:r>
            <a:r>
              <a:rPr lang="en-IN" dirty="0" err="1">
                <a:latin typeface="Times New Roman" panose="02020603050405020304" pitchFamily="18" charset="0"/>
                <a:cs typeface="Times New Roman" panose="02020603050405020304" pitchFamily="18" charset="0"/>
              </a:rPr>
              <a:t>ReservationGroup</a:t>
            </a:r>
            <a:r>
              <a:rPr lang="en-IN" dirty="0">
                <a:latin typeface="Times New Roman" panose="02020603050405020304" pitchFamily="18" charset="0"/>
                <a:cs typeface="Times New Roman" panose="02020603050405020304" pitchFamily="18" charset="0"/>
              </a:rPr>
              <a:t> by Status</a:t>
            </a:r>
          </a:p>
        </p:txBody>
      </p:sp>
      <p:pic>
        <p:nvPicPr>
          <p:cNvPr id="3" name="Picture 2">
            <a:extLst>
              <a:ext uri="{FF2B5EF4-FFF2-40B4-BE49-F238E27FC236}">
                <a16:creationId xmlns:a16="http://schemas.microsoft.com/office/drawing/2014/main" id="{B03AF576-A1A1-E4A5-8A47-A51BD6F98EB6}"/>
              </a:ext>
            </a:extLst>
          </p:cNvPr>
          <p:cNvPicPr>
            <a:picLocks noChangeAspect="1"/>
          </p:cNvPicPr>
          <p:nvPr/>
        </p:nvPicPr>
        <p:blipFill>
          <a:blip r:embed="rId3"/>
          <a:stretch>
            <a:fillRect/>
          </a:stretch>
        </p:blipFill>
        <p:spPr>
          <a:xfrm>
            <a:off x="7592764" y="3752209"/>
            <a:ext cx="2473822" cy="891617"/>
          </a:xfrm>
          <a:prstGeom prst="rect">
            <a:avLst/>
          </a:prstGeom>
        </p:spPr>
      </p:pic>
    </p:spTree>
    <p:extLst>
      <p:ext uri="{BB962C8B-B14F-4D97-AF65-F5344CB8AC3E}">
        <p14:creationId xmlns:p14="http://schemas.microsoft.com/office/powerpoint/2010/main" val="378701766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71475" y="492472"/>
            <a:ext cx="6096000" cy="646331"/>
          </a:xfrm>
          <a:prstGeom prst="rect">
            <a:avLst/>
          </a:prstGeom>
        </p:spPr>
        <p:txBody>
          <a:bodyPr>
            <a:spAutoFit/>
          </a:bodyPr>
          <a:lstStyle/>
          <a:p>
            <a:r>
              <a:rPr lang="en-US" b="1" dirty="0">
                <a:latin typeface="Arial" panose="020B0604020202020204" pitchFamily="34" charset="0"/>
                <a:cs typeface="Arial" panose="020B0604020202020204" pitchFamily="34" charset="0"/>
              </a:rPr>
              <a:t>Query 4:Find the average room price</a:t>
            </a:r>
            <a:endParaRPr lang="en-IN" b="1" dirty="0">
              <a:latin typeface="Arial" panose="020B0604020202020204" pitchFamily="34" charset="0"/>
              <a:cs typeface="Arial" panose="020B0604020202020204" pitchFamily="34" charset="0"/>
            </a:endParaRPr>
          </a:p>
          <a:p>
            <a:endParaRPr lang="en-IN" b="1" dirty="0">
              <a:latin typeface="Arial" panose="020B0604020202020204" pitchFamily="34" charset="0"/>
              <a:cs typeface="Arial" panose="020B0604020202020204" pitchFamily="34" charset="0"/>
            </a:endParaRPr>
          </a:p>
        </p:txBody>
      </p:sp>
      <p:sp>
        <p:nvSpPr>
          <p:cNvPr id="7" name="Rectangle 6"/>
          <p:cNvSpPr/>
          <p:nvPr/>
        </p:nvSpPr>
        <p:spPr>
          <a:xfrm>
            <a:off x="456405" y="1558409"/>
            <a:ext cx="3424335" cy="369332"/>
          </a:xfrm>
          <a:prstGeom prst="rect">
            <a:avLst/>
          </a:prstGeom>
        </p:spPr>
        <p:txBody>
          <a:bodyPr wrap="none">
            <a:spAutoFit/>
          </a:bodyPr>
          <a:lstStyle/>
          <a:p>
            <a:r>
              <a:rPr lang="en-IN" dirty="0">
                <a:latin typeface="Times New Roman" panose="02020603050405020304" pitchFamily="18" charset="0"/>
                <a:cs typeface="Times New Roman" panose="02020603050405020304" pitchFamily="18" charset="0"/>
              </a:rPr>
              <a:t>SQL&gt;select </a:t>
            </a:r>
            <a:r>
              <a:rPr lang="en-IN" dirty="0" err="1">
                <a:latin typeface="Times New Roman" panose="02020603050405020304" pitchFamily="18" charset="0"/>
                <a:cs typeface="Times New Roman" panose="02020603050405020304" pitchFamily="18" charset="0"/>
              </a:rPr>
              <a:t>avg</a:t>
            </a:r>
            <a:r>
              <a:rPr lang="en-IN" dirty="0">
                <a:latin typeface="Times New Roman" panose="02020603050405020304" pitchFamily="18" charset="0"/>
                <a:cs typeface="Times New Roman" panose="02020603050405020304" pitchFamily="18" charset="0"/>
              </a:rPr>
              <a:t>(Price) from Room</a:t>
            </a:r>
          </a:p>
        </p:txBody>
      </p:sp>
      <p:sp>
        <p:nvSpPr>
          <p:cNvPr id="9" name="Rectangle 8"/>
          <p:cNvSpPr/>
          <p:nvPr/>
        </p:nvSpPr>
        <p:spPr>
          <a:xfrm>
            <a:off x="456405" y="2848660"/>
            <a:ext cx="6096000" cy="646331"/>
          </a:xfrm>
          <a:prstGeom prst="rect">
            <a:avLst/>
          </a:prstGeom>
        </p:spPr>
        <p:txBody>
          <a:bodyPr>
            <a:spAutoFit/>
          </a:bodyPr>
          <a:lstStyle/>
          <a:p>
            <a:r>
              <a:rPr lang="en-US" b="1" dirty="0">
                <a:latin typeface="Times New Roman" panose="02020603050405020304" pitchFamily="18" charset="0"/>
                <a:cs typeface="Times New Roman" panose="02020603050405020304" pitchFamily="18" charset="0"/>
              </a:rPr>
              <a:t>Query</a:t>
            </a:r>
            <a:r>
              <a:rPr lang="en-US" b="1" dirty="0">
                <a:latin typeface="Arial" panose="020B0604020202020204" pitchFamily="34" charset="0"/>
                <a:cs typeface="Arial" panose="020B0604020202020204" pitchFamily="34" charset="0"/>
              </a:rPr>
              <a:t> 5: Find payments greater than ₹10,000</a:t>
            </a:r>
            <a:endParaRPr lang="en-IN" b="1" dirty="0">
              <a:latin typeface="Arial" panose="020B0604020202020204" pitchFamily="34" charset="0"/>
              <a:cs typeface="Arial" panose="020B0604020202020204" pitchFamily="34" charset="0"/>
            </a:endParaRPr>
          </a:p>
          <a:p>
            <a:endParaRPr lang="en-IN" b="1" dirty="0">
              <a:latin typeface="Arial" panose="020B0604020202020204" pitchFamily="34" charset="0"/>
              <a:cs typeface="Arial" panose="020B0604020202020204" pitchFamily="34" charset="0"/>
            </a:endParaRPr>
          </a:p>
        </p:txBody>
      </p:sp>
      <p:sp>
        <p:nvSpPr>
          <p:cNvPr id="10" name="Rectangle 9"/>
          <p:cNvSpPr/>
          <p:nvPr/>
        </p:nvSpPr>
        <p:spPr>
          <a:xfrm>
            <a:off x="456405" y="3849470"/>
            <a:ext cx="6096000" cy="923330"/>
          </a:xfrm>
          <a:prstGeom prst="rect">
            <a:avLst/>
          </a:prstGeom>
        </p:spPr>
        <p:txBody>
          <a:bodyPr>
            <a:spAutoFit/>
          </a:bodyPr>
          <a:lstStyle/>
          <a:p>
            <a:r>
              <a:rPr lang="en-IN" dirty="0">
                <a:latin typeface="Times New Roman" panose="02020603050405020304" pitchFamily="18" charset="0"/>
                <a:cs typeface="Times New Roman" panose="02020603050405020304" pitchFamily="18" charset="0"/>
              </a:rPr>
              <a:t>SQL</a:t>
            </a:r>
            <a:r>
              <a:rPr lang="en-IN" dirty="0">
                <a:latin typeface="Arial" panose="020B0604020202020204" pitchFamily="34" charset="0"/>
                <a:cs typeface="Arial" panose="020B0604020202020204" pitchFamily="34" charset="0"/>
              </a:rPr>
              <a:t>&gt;select </a:t>
            </a:r>
            <a:r>
              <a:rPr lang="en-IN" dirty="0" err="1">
                <a:latin typeface="Arial" panose="020B0604020202020204" pitchFamily="34" charset="0"/>
                <a:cs typeface="Arial" panose="020B0604020202020204" pitchFamily="34" charset="0"/>
              </a:rPr>
              <a:t>Payment_ID</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Amount,Payment_Status,Reservation_ID</a:t>
            </a:r>
            <a:r>
              <a:rPr lang="en-IN" dirty="0">
                <a:latin typeface="Arial" panose="020B0604020202020204" pitchFamily="34" charset="0"/>
                <a:cs typeface="Arial" panose="020B0604020202020204" pitchFamily="34" charset="0"/>
              </a:rPr>
              <a:t> from Payment where Amount &gt; 10000</a:t>
            </a:r>
          </a:p>
        </p:txBody>
      </p:sp>
      <p:pic>
        <p:nvPicPr>
          <p:cNvPr id="3" name="Picture 2">
            <a:extLst>
              <a:ext uri="{FF2B5EF4-FFF2-40B4-BE49-F238E27FC236}">
                <a16:creationId xmlns:a16="http://schemas.microsoft.com/office/drawing/2014/main" id="{48C36209-E4B8-9A69-7A85-318F485BDA8A}"/>
              </a:ext>
            </a:extLst>
          </p:cNvPr>
          <p:cNvPicPr>
            <a:picLocks noChangeAspect="1"/>
          </p:cNvPicPr>
          <p:nvPr/>
        </p:nvPicPr>
        <p:blipFill>
          <a:blip r:embed="rId2"/>
          <a:stretch>
            <a:fillRect/>
          </a:stretch>
        </p:blipFill>
        <p:spPr>
          <a:xfrm>
            <a:off x="6677023" y="1419196"/>
            <a:ext cx="2408787" cy="1074621"/>
          </a:xfrm>
          <a:prstGeom prst="rect">
            <a:avLst/>
          </a:prstGeom>
        </p:spPr>
      </p:pic>
      <p:pic>
        <p:nvPicPr>
          <p:cNvPr id="6" name="Picture 5">
            <a:extLst>
              <a:ext uri="{FF2B5EF4-FFF2-40B4-BE49-F238E27FC236}">
                <a16:creationId xmlns:a16="http://schemas.microsoft.com/office/drawing/2014/main" id="{37FCBD22-9184-CF3D-1C69-96A4D2154715}"/>
              </a:ext>
            </a:extLst>
          </p:cNvPr>
          <p:cNvPicPr>
            <a:picLocks noChangeAspect="1"/>
          </p:cNvPicPr>
          <p:nvPr/>
        </p:nvPicPr>
        <p:blipFill>
          <a:blip r:embed="rId3"/>
          <a:stretch>
            <a:fillRect/>
          </a:stretch>
        </p:blipFill>
        <p:spPr>
          <a:xfrm>
            <a:off x="6362430" y="3171825"/>
            <a:ext cx="5657774" cy="3133898"/>
          </a:xfrm>
          <a:prstGeom prst="rect">
            <a:avLst/>
          </a:prstGeom>
        </p:spPr>
      </p:pic>
    </p:spTree>
    <p:extLst>
      <p:ext uri="{BB962C8B-B14F-4D97-AF65-F5344CB8AC3E}">
        <p14:creationId xmlns:p14="http://schemas.microsoft.com/office/powerpoint/2010/main" val="52850176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85775" y="810310"/>
            <a:ext cx="6096000" cy="923330"/>
          </a:xfrm>
          <a:prstGeom prst="rect">
            <a:avLst/>
          </a:prstGeom>
        </p:spPr>
        <p:txBody>
          <a:bodyPr>
            <a:spAutoFit/>
          </a:bodyPr>
          <a:lstStyle/>
          <a:p>
            <a:r>
              <a:rPr lang="en-US" b="1" dirty="0">
                <a:latin typeface="Arial" panose="020B0604020202020204" pitchFamily="34" charset="0"/>
                <a:cs typeface="Arial" panose="020B0604020202020204" pitchFamily="34" charset="0"/>
              </a:rPr>
              <a:t>Query 6: Count the </a:t>
            </a:r>
            <a:r>
              <a:rPr lang="en-US" b="1" dirty="0">
                <a:latin typeface="Times New Roman" panose="02020603050405020304" pitchFamily="18" charset="0"/>
                <a:cs typeface="Times New Roman" panose="02020603050405020304" pitchFamily="18" charset="0"/>
              </a:rPr>
              <a:t>number</a:t>
            </a:r>
            <a:r>
              <a:rPr lang="en-US" b="1" dirty="0">
                <a:latin typeface="Arial" panose="020B0604020202020204" pitchFamily="34" charset="0"/>
                <a:cs typeface="Arial" panose="020B0604020202020204" pitchFamily="34" charset="0"/>
              </a:rPr>
              <a:t> of staff working in each hotel</a:t>
            </a:r>
            <a:endParaRPr lang="en-IN" b="1" dirty="0">
              <a:latin typeface="Arial" panose="020B0604020202020204" pitchFamily="34" charset="0"/>
              <a:cs typeface="Arial" panose="020B0604020202020204" pitchFamily="34" charset="0"/>
            </a:endParaRPr>
          </a:p>
          <a:p>
            <a:endParaRPr lang="en-IN" b="1" dirty="0">
              <a:latin typeface="Arial" panose="020B0604020202020204" pitchFamily="34" charset="0"/>
              <a:cs typeface="Arial" panose="020B0604020202020204" pitchFamily="34" charset="0"/>
            </a:endParaRPr>
          </a:p>
        </p:txBody>
      </p:sp>
      <p:sp>
        <p:nvSpPr>
          <p:cNvPr id="5" name="Rectangle 4"/>
          <p:cNvSpPr/>
          <p:nvPr/>
        </p:nvSpPr>
        <p:spPr>
          <a:xfrm>
            <a:off x="561975" y="2376785"/>
            <a:ext cx="5295900" cy="923330"/>
          </a:xfrm>
          <a:prstGeom prst="rect">
            <a:avLst/>
          </a:prstGeom>
        </p:spPr>
        <p:txBody>
          <a:bodyPr wrap="square">
            <a:spAutoFit/>
          </a:bodyPr>
          <a:lstStyle/>
          <a:p>
            <a:r>
              <a:rPr lang="en-IN" dirty="0">
                <a:latin typeface="Arial" panose="020B0604020202020204" pitchFamily="34" charset="0"/>
                <a:cs typeface="Arial" panose="020B0604020202020204" pitchFamily="34" charset="0"/>
              </a:rPr>
              <a:t>SQL&gt;select </a:t>
            </a:r>
            <a:r>
              <a:rPr lang="en-IN" dirty="0" err="1">
                <a:latin typeface="Arial" panose="020B0604020202020204" pitchFamily="34" charset="0"/>
                <a:cs typeface="Arial" panose="020B0604020202020204" pitchFamily="34" charset="0"/>
              </a:rPr>
              <a:t>h.Hotel_name</a:t>
            </a:r>
            <a:r>
              <a:rPr lang="en-IN" dirty="0">
                <a:latin typeface="Arial" panose="020B0604020202020204" pitchFamily="34" charset="0"/>
                <a:cs typeface="Arial" panose="020B0604020202020204" pitchFamily="34" charset="0"/>
              </a:rPr>
              <a:t>, count(</a:t>
            </a:r>
            <a:r>
              <a:rPr lang="en-IN" dirty="0" err="1">
                <a:latin typeface="Arial" panose="020B0604020202020204" pitchFamily="34" charset="0"/>
                <a:cs typeface="Arial" panose="020B0604020202020204" pitchFamily="34" charset="0"/>
              </a:rPr>
              <a:t>s.Staff_ID</a:t>
            </a:r>
            <a:r>
              <a:rPr lang="en-IN" dirty="0">
                <a:latin typeface="Arial" panose="020B0604020202020204" pitchFamily="34" charset="0"/>
                <a:cs typeface="Arial" panose="020B0604020202020204" pitchFamily="34" charset="0"/>
              </a:rPr>
              <a:t>) from Hotel </a:t>
            </a:r>
            <a:r>
              <a:rPr lang="en-IN" dirty="0" err="1">
                <a:latin typeface="Arial" panose="020B0604020202020204" pitchFamily="34" charset="0"/>
                <a:cs typeface="Arial" panose="020B0604020202020204" pitchFamily="34" charset="0"/>
              </a:rPr>
              <a:t>h,Staff</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swhere</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h.Hotel_ID</a:t>
            </a:r>
            <a:r>
              <a:rPr lang="en-IN" dirty="0">
                <a:latin typeface="Arial" panose="020B0604020202020204" pitchFamily="34" charset="0"/>
                <a:cs typeface="Arial" panose="020B0604020202020204" pitchFamily="34" charset="0"/>
              </a:rPr>
              <a:t> = </a:t>
            </a:r>
            <a:r>
              <a:rPr lang="en-IN" dirty="0" err="1">
                <a:latin typeface="Arial" panose="020B0604020202020204" pitchFamily="34" charset="0"/>
                <a:cs typeface="Arial" panose="020B0604020202020204" pitchFamily="34" charset="0"/>
              </a:rPr>
              <a:t>s.Hotel_ID</a:t>
            </a:r>
            <a:r>
              <a:rPr lang="en-IN" dirty="0">
                <a:latin typeface="Arial" panose="020B0604020202020204" pitchFamily="34" charset="0"/>
                <a:cs typeface="Arial" panose="020B0604020202020204" pitchFamily="34" charset="0"/>
              </a:rPr>
              <a:t> Group by </a:t>
            </a:r>
            <a:r>
              <a:rPr lang="en-IN" dirty="0" err="1">
                <a:latin typeface="Arial" panose="020B0604020202020204" pitchFamily="34" charset="0"/>
                <a:cs typeface="Arial" panose="020B0604020202020204" pitchFamily="34" charset="0"/>
              </a:rPr>
              <a:t>h.Hotel_name</a:t>
            </a:r>
            <a:endParaRPr lang="en-IN" dirty="0">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8D0A8971-A200-6652-09B5-46E38030283A}"/>
              </a:ext>
            </a:extLst>
          </p:cNvPr>
          <p:cNvPicPr>
            <a:picLocks noChangeAspect="1"/>
          </p:cNvPicPr>
          <p:nvPr/>
        </p:nvPicPr>
        <p:blipFill>
          <a:blip r:embed="rId2"/>
          <a:stretch>
            <a:fillRect/>
          </a:stretch>
        </p:blipFill>
        <p:spPr>
          <a:xfrm>
            <a:off x="6694358" y="739833"/>
            <a:ext cx="4270129" cy="5611091"/>
          </a:xfrm>
          <a:prstGeom prst="rect">
            <a:avLst/>
          </a:prstGeom>
        </p:spPr>
      </p:pic>
    </p:spTree>
    <p:extLst>
      <p:ext uri="{BB962C8B-B14F-4D97-AF65-F5344CB8AC3E}">
        <p14:creationId xmlns:p14="http://schemas.microsoft.com/office/powerpoint/2010/main" val="53153110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90525" y="728960"/>
            <a:ext cx="6096000" cy="369332"/>
          </a:xfrm>
          <a:prstGeom prst="rect">
            <a:avLst/>
          </a:prstGeom>
        </p:spPr>
        <p:txBody>
          <a:bodyPr>
            <a:spAutoFit/>
          </a:bodyPr>
          <a:lstStyle/>
          <a:p>
            <a:r>
              <a:rPr lang="en-US" b="1" dirty="0">
                <a:latin typeface="Times New Roman" panose="02020603050405020304" pitchFamily="18" charset="0"/>
                <a:cs typeface="Times New Roman" panose="02020603050405020304" pitchFamily="18" charset="0"/>
              </a:rPr>
              <a:t>Query</a:t>
            </a:r>
            <a:r>
              <a:rPr lang="en-US" b="1" dirty="0">
                <a:latin typeface="Arial" panose="020B0604020202020204" pitchFamily="34" charset="0"/>
                <a:cs typeface="Arial" panose="020B0604020202020204" pitchFamily="34" charset="0"/>
              </a:rPr>
              <a:t> 7: Find the total amount of all payments</a:t>
            </a:r>
            <a:endParaRPr lang="en-IN" b="1" dirty="0">
              <a:latin typeface="Arial" panose="020B0604020202020204" pitchFamily="34" charset="0"/>
              <a:cs typeface="Arial" panose="020B0604020202020204" pitchFamily="34" charset="0"/>
            </a:endParaRPr>
          </a:p>
        </p:txBody>
      </p:sp>
      <p:sp>
        <p:nvSpPr>
          <p:cNvPr id="5" name="Rectangle 4"/>
          <p:cNvSpPr/>
          <p:nvPr/>
        </p:nvSpPr>
        <p:spPr>
          <a:xfrm>
            <a:off x="390525" y="1691759"/>
            <a:ext cx="4333238" cy="369332"/>
          </a:xfrm>
          <a:prstGeom prst="rect">
            <a:avLst/>
          </a:prstGeom>
        </p:spPr>
        <p:txBody>
          <a:bodyPr wrap="none">
            <a:spAutoFit/>
          </a:bodyPr>
          <a:lstStyle/>
          <a:p>
            <a:r>
              <a:rPr lang="en-IN" dirty="0">
                <a:latin typeface="Arial" panose="020B0604020202020204" pitchFamily="34" charset="0"/>
                <a:cs typeface="Arial" panose="020B0604020202020204" pitchFamily="34" charset="0"/>
              </a:rPr>
              <a:t>SQL&gt;</a:t>
            </a:r>
            <a:r>
              <a:rPr lang="en-IN" dirty="0">
                <a:latin typeface="Times New Roman" panose="02020603050405020304" pitchFamily="18" charset="0"/>
                <a:cs typeface="Times New Roman" panose="02020603050405020304" pitchFamily="18" charset="0"/>
              </a:rPr>
              <a:t>select</a:t>
            </a:r>
            <a:r>
              <a:rPr lang="en-IN" dirty="0">
                <a:latin typeface="Arial" panose="020B0604020202020204" pitchFamily="34" charset="0"/>
                <a:cs typeface="Arial" panose="020B0604020202020204" pitchFamily="34" charset="0"/>
              </a:rPr>
              <a:t> sum(Amount) from Payment</a:t>
            </a:r>
          </a:p>
        </p:txBody>
      </p:sp>
      <p:sp>
        <p:nvSpPr>
          <p:cNvPr id="7" name="Rectangle 6"/>
          <p:cNvSpPr/>
          <p:nvPr/>
        </p:nvSpPr>
        <p:spPr>
          <a:xfrm>
            <a:off x="390525" y="2815709"/>
            <a:ext cx="6562202" cy="646331"/>
          </a:xfrm>
          <a:prstGeom prst="rect">
            <a:avLst/>
          </a:prstGeom>
        </p:spPr>
        <p:txBody>
          <a:bodyPr wrap="square">
            <a:spAutoFit/>
          </a:bodyPr>
          <a:lstStyle/>
          <a:p>
            <a:r>
              <a:rPr lang="en-US" b="1" dirty="0">
                <a:latin typeface="Arial" panose="020B0604020202020204" pitchFamily="34" charset="0"/>
                <a:cs typeface="Arial" panose="020B0604020202020204" pitchFamily="34" charset="0"/>
              </a:rPr>
              <a:t>Query 8: Find the </a:t>
            </a:r>
            <a:r>
              <a:rPr lang="en-US" b="1" dirty="0">
                <a:latin typeface="Times New Roman" panose="02020603050405020304" pitchFamily="18" charset="0"/>
                <a:cs typeface="Times New Roman" panose="02020603050405020304" pitchFamily="18" charset="0"/>
              </a:rPr>
              <a:t>total</a:t>
            </a:r>
            <a:r>
              <a:rPr lang="en-US" b="1" dirty="0">
                <a:latin typeface="Arial" panose="020B0604020202020204" pitchFamily="34" charset="0"/>
                <a:cs typeface="Arial" panose="020B0604020202020204" pitchFamily="34" charset="0"/>
              </a:rPr>
              <a:t> payment received from completed reservations</a:t>
            </a:r>
            <a:endParaRPr lang="en-IN" b="1" dirty="0">
              <a:latin typeface="Arial" panose="020B0604020202020204" pitchFamily="34" charset="0"/>
              <a:cs typeface="Arial" panose="020B0604020202020204" pitchFamily="34" charset="0"/>
            </a:endParaRPr>
          </a:p>
        </p:txBody>
      </p:sp>
      <p:sp>
        <p:nvSpPr>
          <p:cNvPr id="8" name="Rectangle 7"/>
          <p:cNvSpPr/>
          <p:nvPr/>
        </p:nvSpPr>
        <p:spPr>
          <a:xfrm>
            <a:off x="461701" y="3979128"/>
            <a:ext cx="6096000" cy="1200329"/>
          </a:xfrm>
          <a:prstGeom prst="rect">
            <a:avLst/>
          </a:prstGeom>
        </p:spPr>
        <p:txBody>
          <a:bodyPr>
            <a:spAutoFit/>
          </a:bodyPr>
          <a:lstStyle/>
          <a:p>
            <a:r>
              <a:rPr lang="en-IN" dirty="0">
                <a:latin typeface="Arial" panose="020B0604020202020204" pitchFamily="34" charset="0"/>
                <a:cs typeface="Arial" panose="020B0604020202020204" pitchFamily="34" charset="0"/>
              </a:rPr>
              <a:t>SQL&gt;select sum(</a:t>
            </a:r>
            <a:r>
              <a:rPr lang="en-IN" dirty="0" err="1">
                <a:latin typeface="Arial" panose="020B0604020202020204" pitchFamily="34" charset="0"/>
                <a:cs typeface="Arial" panose="020B0604020202020204" pitchFamily="34" charset="0"/>
              </a:rPr>
              <a:t>p.</a:t>
            </a:r>
            <a:r>
              <a:rPr lang="en-IN" dirty="0" err="1">
                <a:latin typeface="Times New Roman" panose="02020603050405020304" pitchFamily="18" charset="0"/>
                <a:cs typeface="Times New Roman" panose="02020603050405020304" pitchFamily="18" charset="0"/>
              </a:rPr>
              <a:t>Amount</a:t>
            </a:r>
            <a:r>
              <a:rPr lang="en-IN" dirty="0">
                <a:latin typeface="Arial" panose="020B0604020202020204" pitchFamily="34" charset="0"/>
                <a:cs typeface="Arial" panose="020B0604020202020204" pitchFamily="34" charset="0"/>
              </a:rPr>
              <a:t>) from Payment </a:t>
            </a:r>
            <a:r>
              <a:rPr lang="en-IN" dirty="0" err="1">
                <a:latin typeface="Arial" panose="020B0604020202020204" pitchFamily="34" charset="0"/>
                <a:cs typeface="Arial" panose="020B0604020202020204" pitchFamily="34" charset="0"/>
              </a:rPr>
              <a:t>pwhere</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p.Reservation_ID</a:t>
            </a:r>
            <a:r>
              <a:rPr lang="en-IN" dirty="0">
                <a:latin typeface="Arial" panose="020B0604020202020204" pitchFamily="34" charset="0"/>
                <a:cs typeface="Arial" panose="020B0604020202020204" pitchFamily="34" charset="0"/>
              </a:rPr>
              <a:t> IN (select </a:t>
            </a:r>
            <a:r>
              <a:rPr lang="en-IN" dirty="0" err="1">
                <a:latin typeface="Arial" panose="020B0604020202020204" pitchFamily="34" charset="0"/>
                <a:cs typeface="Arial" panose="020B0604020202020204" pitchFamily="34" charset="0"/>
              </a:rPr>
              <a:t>r.Reservation_ID</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fromReservation</a:t>
            </a:r>
            <a:r>
              <a:rPr lang="en-IN" dirty="0">
                <a:latin typeface="Arial" panose="020B0604020202020204" pitchFamily="34" charset="0"/>
                <a:cs typeface="Arial" panose="020B0604020202020204" pitchFamily="34" charset="0"/>
              </a:rPr>
              <a:t> r where </a:t>
            </a:r>
            <a:r>
              <a:rPr lang="en-IN" dirty="0" err="1">
                <a:latin typeface="Arial" panose="020B0604020202020204" pitchFamily="34" charset="0"/>
                <a:cs typeface="Arial" panose="020B0604020202020204" pitchFamily="34" charset="0"/>
              </a:rPr>
              <a:t>r.Status</a:t>
            </a:r>
            <a:r>
              <a:rPr lang="en-IN" dirty="0">
                <a:latin typeface="Arial" panose="020B0604020202020204" pitchFamily="34" charset="0"/>
                <a:cs typeface="Arial" panose="020B0604020202020204" pitchFamily="34" charset="0"/>
              </a:rPr>
              <a:t> = 'Completed' AND  </a:t>
            </a:r>
            <a:r>
              <a:rPr lang="en-IN" dirty="0" err="1">
                <a:latin typeface="Arial" panose="020B0604020202020204" pitchFamily="34" charset="0"/>
                <a:cs typeface="Arial" panose="020B0604020202020204" pitchFamily="34" charset="0"/>
              </a:rPr>
              <a:t>p.Payment_Status</a:t>
            </a:r>
            <a:r>
              <a:rPr lang="en-IN" dirty="0">
                <a:latin typeface="Arial" panose="020B0604020202020204" pitchFamily="34" charset="0"/>
                <a:cs typeface="Arial" panose="020B0604020202020204" pitchFamily="34" charset="0"/>
              </a:rPr>
              <a:t> = 'Paid')</a:t>
            </a:r>
          </a:p>
        </p:txBody>
      </p:sp>
      <p:pic>
        <p:nvPicPr>
          <p:cNvPr id="3" name="Picture 2">
            <a:extLst>
              <a:ext uri="{FF2B5EF4-FFF2-40B4-BE49-F238E27FC236}">
                <a16:creationId xmlns:a16="http://schemas.microsoft.com/office/drawing/2014/main" id="{F1FF15C2-64A6-CCAA-0127-A8D2209C53D2}"/>
              </a:ext>
            </a:extLst>
          </p:cNvPr>
          <p:cNvPicPr>
            <a:picLocks noChangeAspect="1"/>
          </p:cNvPicPr>
          <p:nvPr/>
        </p:nvPicPr>
        <p:blipFill>
          <a:blip r:embed="rId2"/>
          <a:stretch>
            <a:fillRect/>
          </a:stretch>
        </p:blipFill>
        <p:spPr>
          <a:xfrm>
            <a:off x="7198823" y="1405714"/>
            <a:ext cx="1923100" cy="996664"/>
          </a:xfrm>
          <a:prstGeom prst="rect">
            <a:avLst/>
          </a:prstGeom>
        </p:spPr>
      </p:pic>
      <p:pic>
        <p:nvPicPr>
          <p:cNvPr id="11" name="Picture 10">
            <a:extLst>
              <a:ext uri="{FF2B5EF4-FFF2-40B4-BE49-F238E27FC236}">
                <a16:creationId xmlns:a16="http://schemas.microsoft.com/office/drawing/2014/main" id="{FB910644-FC6E-C980-32CE-F251A54E830F}"/>
              </a:ext>
            </a:extLst>
          </p:cNvPr>
          <p:cNvPicPr>
            <a:picLocks noChangeAspect="1"/>
          </p:cNvPicPr>
          <p:nvPr/>
        </p:nvPicPr>
        <p:blipFill>
          <a:blip r:embed="rId3"/>
          <a:stretch>
            <a:fillRect/>
          </a:stretch>
        </p:blipFill>
        <p:spPr>
          <a:xfrm>
            <a:off x="7407947" y="4065587"/>
            <a:ext cx="1798476" cy="1113870"/>
          </a:xfrm>
          <a:prstGeom prst="rect">
            <a:avLst/>
          </a:prstGeom>
        </p:spPr>
      </p:pic>
    </p:spTree>
    <p:extLst>
      <p:ext uri="{BB962C8B-B14F-4D97-AF65-F5344CB8AC3E}">
        <p14:creationId xmlns:p14="http://schemas.microsoft.com/office/powerpoint/2010/main" val="107718960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526947" y="196334"/>
            <a:ext cx="3494098" cy="461665"/>
          </a:xfrm>
          <a:prstGeom prst="rect">
            <a:avLst/>
          </a:prstGeom>
        </p:spPr>
        <p:txBody>
          <a:bodyPr wrap="none">
            <a:spAutoFit/>
          </a:bodyPr>
          <a:lstStyle/>
          <a:p>
            <a:r>
              <a:rPr lang="en-IN" sz="2400" b="1" dirty="0">
                <a:latin typeface="Arial" panose="020B0604020202020204" pitchFamily="34" charset="0"/>
                <a:cs typeface="Arial" panose="020B0604020202020204" pitchFamily="34" charset="0"/>
              </a:rPr>
              <a:t>FIRST NORMAL FORM</a:t>
            </a:r>
          </a:p>
        </p:txBody>
      </p:sp>
      <p:sp>
        <p:nvSpPr>
          <p:cNvPr id="6" name="TextBox 5">
            <a:extLst>
              <a:ext uri="{FF2B5EF4-FFF2-40B4-BE49-F238E27FC236}">
                <a16:creationId xmlns:a16="http://schemas.microsoft.com/office/drawing/2014/main" id="{5CC59001-AB4D-54E9-C05C-E9AFE5F4ED64}"/>
              </a:ext>
            </a:extLst>
          </p:cNvPr>
          <p:cNvSpPr txBox="1"/>
          <p:nvPr/>
        </p:nvSpPr>
        <p:spPr>
          <a:xfrm>
            <a:off x="1252012" y="1397675"/>
            <a:ext cx="10191403" cy="2308324"/>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Functional Dependencies</a:t>
            </a:r>
          </a:p>
          <a:p>
            <a:endParaRPr lang="en-US" dirty="0">
              <a:latin typeface="Times New Roman" panose="02020603050405020304" pitchFamily="18" charset="0"/>
              <a:cs typeface="Times New Roman" panose="02020603050405020304" pitchFamily="18" charset="0"/>
            </a:endParaRPr>
          </a:p>
          <a:p>
            <a:pPr lvl="0"/>
            <a:r>
              <a:rPr lang="en-US" dirty="0">
                <a:latin typeface="Times New Roman" panose="02020603050405020304" pitchFamily="18" charset="0"/>
                <a:cs typeface="Times New Roman" panose="02020603050405020304" pitchFamily="18" charset="0"/>
              </a:rPr>
              <a:t>RESERVATION_ID → GUEST_ID, ROOM_ID, HOTEL_ID, PAYMENT_ID</a:t>
            </a:r>
          </a:p>
          <a:p>
            <a:pPr lvl="0"/>
            <a:r>
              <a:rPr lang="en-US" dirty="0">
                <a:latin typeface="Times New Roman" panose="02020603050405020304" pitchFamily="18" charset="0"/>
                <a:cs typeface="Times New Roman" panose="02020603050405020304" pitchFamily="18" charset="0"/>
              </a:rPr>
              <a:t>PAYMENT_ID → PAYMENT_AMOUNT, PAYMENT_STATUS</a:t>
            </a:r>
          </a:p>
          <a:p>
            <a:pPr lvl="0"/>
            <a:r>
              <a:rPr lang="en-US" dirty="0">
                <a:latin typeface="Times New Roman" panose="02020603050405020304" pitchFamily="18" charset="0"/>
                <a:cs typeface="Times New Roman" panose="02020603050405020304" pitchFamily="18" charset="0"/>
              </a:rPr>
              <a:t>ROOM_ID → HOTEL_ID (each room belongs to exactly one hotel)</a:t>
            </a:r>
          </a:p>
          <a:p>
            <a:pPr lvl="0"/>
            <a:r>
              <a:rPr lang="en-US" dirty="0">
                <a:latin typeface="Times New Roman" panose="02020603050405020304" pitchFamily="18" charset="0"/>
                <a:cs typeface="Times New Roman" panose="02020603050405020304" pitchFamily="18" charset="0"/>
              </a:rPr>
              <a:t>Transitive: RESERVATION_ID → ROOM_ID → HOTEL_ID</a:t>
            </a:r>
          </a:p>
          <a:p>
            <a:pPr lvl="0"/>
            <a:r>
              <a:rPr lang="en-US" b="1" dirty="0">
                <a:latin typeface="Times New Roman" panose="02020603050405020304" pitchFamily="18" charset="0"/>
                <a:cs typeface="Times New Roman" panose="02020603050405020304" pitchFamily="18" charset="0"/>
              </a:rPr>
              <a:t>Candidate keys:</a:t>
            </a:r>
            <a:r>
              <a:rPr lang="en-US" dirty="0">
                <a:latin typeface="Times New Roman" panose="02020603050405020304" pitchFamily="18" charset="0"/>
                <a:cs typeface="Times New Roman" panose="02020603050405020304" pitchFamily="18" charset="0"/>
              </a:rPr>
              <a:t> RESERVATION_ID (primary key). PAYMENT_ID is also a candidate key, since each reservation has one payment.</a:t>
            </a:r>
          </a:p>
        </p:txBody>
      </p:sp>
      <p:pic>
        <p:nvPicPr>
          <p:cNvPr id="3" name="Picture 2">
            <a:extLst>
              <a:ext uri="{FF2B5EF4-FFF2-40B4-BE49-F238E27FC236}">
                <a16:creationId xmlns:a16="http://schemas.microsoft.com/office/drawing/2014/main" id="{8ACB2226-1F6A-95E8-6284-7109C8A51204}"/>
              </a:ext>
            </a:extLst>
          </p:cNvPr>
          <p:cNvPicPr>
            <a:picLocks noChangeAspect="1"/>
          </p:cNvPicPr>
          <p:nvPr/>
        </p:nvPicPr>
        <p:blipFill>
          <a:blip r:embed="rId2"/>
          <a:stretch>
            <a:fillRect/>
          </a:stretch>
        </p:blipFill>
        <p:spPr>
          <a:xfrm>
            <a:off x="684944" y="3842085"/>
            <a:ext cx="10501270" cy="1845522"/>
          </a:xfrm>
          <a:prstGeom prst="rect">
            <a:avLst/>
          </a:prstGeom>
        </p:spPr>
      </p:pic>
    </p:spTree>
    <p:extLst>
      <p:ext uri="{BB962C8B-B14F-4D97-AF65-F5344CB8AC3E}">
        <p14:creationId xmlns:p14="http://schemas.microsoft.com/office/powerpoint/2010/main" val="298790404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D7E16E-4A19-0E3E-C935-78E1A422377E}"/>
              </a:ext>
            </a:extLst>
          </p:cNvPr>
          <p:cNvSpPr>
            <a:spLocks noGrp="1"/>
          </p:cNvSpPr>
          <p:nvPr>
            <p:ph idx="1"/>
          </p:nvPr>
        </p:nvSpPr>
        <p:spPr>
          <a:xfrm>
            <a:off x="838200" y="1527452"/>
            <a:ext cx="10515600" cy="4351338"/>
          </a:xfrm>
        </p:spPr>
        <p:txBody>
          <a:bodyPr>
            <a:normAutofit lnSpcReduction="10000"/>
          </a:bodyPr>
          <a:lstStyle/>
          <a:p>
            <a:pPr lvl="0"/>
            <a:r>
              <a:rPr lang="en-US" sz="1800" dirty="0">
                <a:latin typeface="Times New Roman" panose="02020603050405020304" pitchFamily="18" charset="0"/>
                <a:cs typeface="Times New Roman" panose="02020603050405020304" pitchFamily="18" charset="0"/>
              </a:rPr>
              <a:t>All attribute values are atomic (no multi-valued or composite columns).</a:t>
            </a:r>
          </a:p>
          <a:p>
            <a:pPr lvl="0"/>
            <a:r>
              <a:rPr lang="en-US" sz="1800" dirty="0">
                <a:latin typeface="Times New Roman" panose="02020603050405020304" pitchFamily="18" charset="0"/>
                <a:cs typeface="Times New Roman" panose="02020603050405020304" pitchFamily="18" charset="0"/>
              </a:rPr>
              <a:t>There are no repeating groups.</a:t>
            </a:r>
          </a:p>
          <a:p>
            <a:pPr lvl="0"/>
            <a:r>
              <a:rPr lang="en-US" sz="1800" dirty="0">
                <a:latin typeface="Times New Roman" panose="02020603050405020304" pitchFamily="18" charset="0"/>
                <a:cs typeface="Times New Roman" panose="02020603050405020304" pitchFamily="18" charset="0"/>
              </a:rPr>
              <a:t>A primary key (RESERVATION_ID) uniquely identifies each row.</a:t>
            </a:r>
          </a:p>
          <a:p>
            <a:pPr lvl="0"/>
            <a:r>
              <a:rPr lang="en-US" sz="1800" b="1" dirty="0">
                <a:latin typeface="Times New Roman" panose="02020603050405020304" pitchFamily="18" charset="0"/>
                <a:cs typeface="Times New Roman" panose="02020603050405020304" pitchFamily="18" charset="0"/>
              </a:rPr>
              <a:t>Conclusion:</a:t>
            </a:r>
            <a:r>
              <a:rPr lang="en-US" sz="1800" dirty="0">
                <a:latin typeface="Times New Roman" panose="02020603050405020304" pitchFamily="18" charset="0"/>
                <a:cs typeface="Times New Roman" panose="02020603050405020304" pitchFamily="18" charset="0"/>
              </a:rPr>
              <a:t> the table is in 1NF.</a:t>
            </a:r>
          </a:p>
          <a:p>
            <a:pPr lvl="0"/>
            <a:r>
              <a:rPr lang="en-US" sz="1800" dirty="0">
                <a:latin typeface="Times New Roman" panose="02020603050405020304" pitchFamily="18" charset="0"/>
                <a:cs typeface="Times New Roman" panose="02020603050405020304" pitchFamily="18" charset="0"/>
              </a:rPr>
              <a:t>It is also in 2NF, because the key is a single attribute, so no partial dependency is possible.</a:t>
            </a:r>
          </a:p>
          <a:p>
            <a:pPr lvl="0"/>
            <a:r>
              <a:rPr lang="en-US" sz="1800" dirty="0">
                <a:latin typeface="Times New Roman" panose="02020603050405020304" pitchFamily="18" charset="0"/>
                <a:cs typeface="Times New Roman" panose="02020603050405020304" pitchFamily="18" charset="0"/>
              </a:rPr>
              <a:t>It is </a:t>
            </a:r>
            <a:r>
              <a:rPr lang="en-US" sz="1800" b="1" dirty="0">
                <a:latin typeface="Times New Roman" panose="02020603050405020304" pitchFamily="18" charset="0"/>
                <a:cs typeface="Times New Roman" panose="02020603050405020304" pitchFamily="18" charset="0"/>
              </a:rPr>
              <a:t>not in 3NF</a:t>
            </a:r>
            <a:r>
              <a:rPr lang="en-US" sz="1800" dirty="0">
                <a:latin typeface="Times New Roman" panose="02020603050405020304" pitchFamily="18" charset="0"/>
                <a:cs typeface="Times New Roman" panose="02020603050405020304" pitchFamily="18" charset="0"/>
              </a:rPr>
              <a:t>, because of the non-key dependency ROOM_ID → HOTEL_ID.</a:t>
            </a:r>
          </a:p>
          <a:p>
            <a:pPr marL="0" indent="0">
              <a:buNone/>
            </a:pPr>
            <a:r>
              <a:rPr lang="en-IN" sz="2400" b="1" dirty="0">
                <a:latin typeface="Times New Roman" panose="02020603050405020304" pitchFamily="18" charset="0"/>
                <a:cs typeface="Times New Roman" panose="02020603050405020304" pitchFamily="18" charset="0"/>
              </a:rPr>
              <a:t>Redundancy / Anomalies in 1NF :</a:t>
            </a:r>
          </a:p>
          <a:p>
            <a:pPr lvl="0"/>
            <a:r>
              <a:rPr lang="en-US" sz="1700" dirty="0">
                <a:latin typeface="Times New Roman" panose="02020603050405020304" pitchFamily="18" charset="0"/>
                <a:cs typeface="Times New Roman" panose="02020603050405020304" pitchFamily="18" charset="0"/>
              </a:rPr>
              <a:t>The pair (ROOM_ID 101, HOTEL_ID 1) is stored twice, in reservations 1016 and 1018.</a:t>
            </a:r>
          </a:p>
          <a:p>
            <a:pPr lvl="0"/>
            <a:r>
              <a:rPr lang="en-US" sz="1700" dirty="0">
                <a:latin typeface="Times New Roman" panose="02020603050405020304" pitchFamily="18" charset="0"/>
                <a:cs typeface="Times New Roman" panose="02020603050405020304" pitchFamily="18" charset="0"/>
              </a:rPr>
              <a:t>HOTEL_ID repeats for every reservation of the same hotel.</a:t>
            </a:r>
          </a:p>
          <a:p>
            <a:pPr lvl="0"/>
            <a:r>
              <a:rPr lang="en-US" sz="1700" b="1" dirty="0">
                <a:latin typeface="Times New Roman" panose="02020603050405020304" pitchFamily="18" charset="0"/>
                <a:cs typeface="Times New Roman" panose="02020603050405020304" pitchFamily="18" charset="0"/>
              </a:rPr>
              <a:t>Update anomaly:</a:t>
            </a:r>
            <a:r>
              <a:rPr lang="en-US" sz="1700" dirty="0">
                <a:latin typeface="Times New Roman" panose="02020603050405020304" pitchFamily="18" charset="0"/>
                <a:cs typeface="Times New Roman" panose="02020603050405020304" pitchFamily="18" charset="0"/>
              </a:rPr>
              <a:t> if Room 101 moves to another hotel, every row must be changed.</a:t>
            </a:r>
          </a:p>
          <a:p>
            <a:pPr lvl="0"/>
            <a:r>
              <a:rPr lang="en-US" sz="1700" b="1" dirty="0">
                <a:latin typeface="Times New Roman" panose="02020603050405020304" pitchFamily="18" charset="0"/>
                <a:cs typeface="Times New Roman" panose="02020603050405020304" pitchFamily="18" charset="0"/>
              </a:rPr>
              <a:t>Insertion anomaly:</a:t>
            </a:r>
            <a:r>
              <a:rPr lang="en-US" sz="1700" dirty="0">
                <a:latin typeface="Times New Roman" panose="02020603050405020304" pitchFamily="18" charset="0"/>
                <a:cs typeface="Times New Roman" panose="02020603050405020304" pitchFamily="18" charset="0"/>
              </a:rPr>
              <a:t> a new room cannot be recorded until someone reserves it.</a:t>
            </a:r>
          </a:p>
          <a:p>
            <a:pPr lvl="0"/>
            <a:r>
              <a:rPr lang="en-US" sz="1700" b="1" dirty="0">
                <a:latin typeface="Times New Roman" panose="02020603050405020304" pitchFamily="18" charset="0"/>
                <a:cs typeface="Times New Roman" panose="02020603050405020304" pitchFamily="18" charset="0"/>
              </a:rPr>
              <a:t>Deletion anomaly:</a:t>
            </a:r>
            <a:r>
              <a:rPr lang="en-US" sz="1700" dirty="0">
                <a:latin typeface="Times New Roman" panose="02020603050405020304" pitchFamily="18" charset="0"/>
                <a:cs typeface="Times New Roman" panose="02020603050405020304" pitchFamily="18" charset="0"/>
              </a:rPr>
              <a:t> deleting the only reservation for a room also deletes the fact that the room belongs to that hotel.</a:t>
            </a:r>
          </a:p>
          <a:p>
            <a:pPr marL="0" indent="0">
              <a:buNone/>
            </a:pPr>
            <a:endParaRPr lang="en-IN" sz="1800" b="1" dirty="0">
              <a:latin typeface="Times New Roman" panose="02020603050405020304" pitchFamily="18" charset="0"/>
              <a:cs typeface="Times New Roman" panose="02020603050405020304" pitchFamily="18" charset="0"/>
            </a:endParaRPr>
          </a:p>
        </p:txBody>
      </p:sp>
      <p:sp>
        <p:nvSpPr>
          <p:cNvPr id="5" name="Title 4">
            <a:extLst>
              <a:ext uri="{FF2B5EF4-FFF2-40B4-BE49-F238E27FC236}">
                <a16:creationId xmlns:a16="http://schemas.microsoft.com/office/drawing/2014/main" id="{CD58AC5F-1AD8-97D2-DB6E-E9034A89EF18}"/>
              </a:ext>
            </a:extLst>
          </p:cNvPr>
          <p:cNvSpPr txBox="1">
            <a:spLocks noGrp="1"/>
          </p:cNvSpPr>
          <p:nvPr>
            <p:ph type="title"/>
          </p:nvPr>
        </p:nvSpPr>
        <p:spPr>
          <a:xfrm>
            <a:off x="838200" y="814482"/>
            <a:ext cx="805029" cy="426848"/>
          </a:xfrm>
          <a:prstGeom prst="rect">
            <a:avLst/>
          </a:prstGeom>
          <a:noFill/>
        </p:spPr>
        <p:txBody>
          <a:bodyPr wrap="none" rtlCol="0">
            <a:spAutoFit/>
          </a:bodyPr>
          <a:lstStyle/>
          <a:p>
            <a:r>
              <a:rPr lang="en-IN" sz="2400" b="1" dirty="0"/>
              <a:t>1NF:</a:t>
            </a:r>
          </a:p>
        </p:txBody>
      </p:sp>
    </p:spTree>
    <p:extLst>
      <p:ext uri="{BB962C8B-B14F-4D97-AF65-F5344CB8AC3E}">
        <p14:creationId xmlns:p14="http://schemas.microsoft.com/office/powerpoint/2010/main" val="50653038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BD0F8A-451E-7C8B-EC3D-631EEC6D20F3}"/>
              </a:ext>
            </a:extLst>
          </p:cNvPr>
          <p:cNvSpPr>
            <a:spLocks noGrp="1"/>
          </p:cNvSpPr>
          <p:nvPr>
            <p:ph type="title"/>
          </p:nvPr>
        </p:nvSpPr>
        <p:spPr/>
        <p:txBody>
          <a:bodyPr>
            <a:normAutofit/>
          </a:bodyPr>
          <a:lstStyle/>
          <a:p>
            <a:r>
              <a:rPr lang="en-US" sz="2400" b="1" dirty="0">
                <a:latin typeface="Arial" panose="020B0604020202020204" pitchFamily="34" charset="0"/>
                <a:cs typeface="Arial" panose="020B0604020202020204" pitchFamily="34" charset="0"/>
              </a:rPr>
              <a:t>Lossless Join:</a:t>
            </a:r>
            <a:br>
              <a:rPr lang="en-US" sz="2400" dirty="0">
                <a:latin typeface="Arial" panose="020B0604020202020204" pitchFamily="34" charset="0"/>
                <a:cs typeface="Arial" panose="020B0604020202020204" pitchFamily="34" charset="0"/>
              </a:rPr>
            </a:br>
            <a:endParaRPr lang="en-IN" sz="24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76EC13FA-863C-03DA-B3AE-AFEDC28D1152}"/>
              </a:ext>
            </a:extLst>
          </p:cNvPr>
          <p:cNvSpPr>
            <a:spLocks noGrp="1"/>
          </p:cNvSpPr>
          <p:nvPr>
            <p:ph idx="1"/>
          </p:nvPr>
        </p:nvSpPr>
        <p:spPr>
          <a:xfrm>
            <a:off x="838200" y="1690688"/>
            <a:ext cx="10515600" cy="4351338"/>
          </a:xfrm>
        </p:spPr>
        <p:txBody>
          <a:bodyPr>
            <a:normAutofit/>
          </a:bodyPr>
          <a:lstStyle/>
          <a:p>
            <a:pPr lvl="0"/>
            <a:r>
              <a:rPr lang="en-US" sz="1800" dirty="0">
                <a:latin typeface="Times New Roman" panose="02020603050405020304" pitchFamily="18" charset="0"/>
                <a:cs typeface="Times New Roman" panose="02020603050405020304" pitchFamily="18" charset="0"/>
              </a:rPr>
              <a:t>RESERVATION ∩ ROOM = {ROOM_ID}, which is the key of ROOM, so the split is lossless.</a:t>
            </a:r>
          </a:p>
          <a:p>
            <a:pPr lvl="0"/>
            <a:r>
              <a:rPr lang="en-US" sz="1800" dirty="0">
                <a:latin typeface="Times New Roman" panose="02020603050405020304" pitchFamily="18" charset="0"/>
                <a:cs typeface="Times New Roman" panose="02020603050405020304" pitchFamily="18" charset="0"/>
              </a:rPr>
              <a:t>RESERVATION ∩ PAYMENT = {PAYMENT_ID}, which is the key of PAYMENT, so the split is lossless.</a:t>
            </a:r>
          </a:p>
          <a:p>
            <a:pPr lvl="0"/>
            <a:r>
              <a:rPr lang="en-US" sz="1800" dirty="0">
                <a:latin typeface="Times New Roman" panose="02020603050405020304" pitchFamily="18" charset="0"/>
                <a:cs typeface="Times New Roman" panose="02020603050405020304" pitchFamily="18" charset="0"/>
              </a:rPr>
              <a:t>Joining the three tables reproduces the original table with no missing or spurious tuples.</a:t>
            </a:r>
          </a:p>
          <a:p>
            <a:pPr lvl="0"/>
            <a:r>
              <a:rPr lang="en-US" sz="1800" dirty="0">
                <a:latin typeface="Times New Roman" panose="02020603050405020304" pitchFamily="18" charset="0"/>
                <a:cs typeface="Times New Roman" panose="02020603050405020304" pitchFamily="18" charset="0"/>
              </a:rPr>
              <a:t>All FDs are preserved, so the decomposition is also </a:t>
            </a:r>
            <a:r>
              <a:rPr lang="en-US" sz="1800" b="1" dirty="0">
                <a:latin typeface="Times New Roman" panose="02020603050405020304" pitchFamily="18" charset="0"/>
                <a:cs typeface="Times New Roman" panose="02020603050405020304" pitchFamily="18" charset="0"/>
              </a:rPr>
              <a:t>dependency-preserving</a:t>
            </a:r>
            <a:r>
              <a:rPr lang="en-US" sz="1800" dirty="0">
                <a:latin typeface="Times New Roman" panose="02020603050405020304" pitchFamily="18" charset="0"/>
                <a:cs typeface="Times New Roman" panose="02020603050405020304" pitchFamily="18" charset="0"/>
              </a:rPr>
              <a:t>.</a:t>
            </a:r>
          </a:p>
          <a:p>
            <a:pPr marL="0" indent="0">
              <a:buNone/>
            </a:pPr>
            <a:r>
              <a:rPr lang="en-IN" sz="18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26368632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524693" y="377309"/>
            <a:ext cx="3923703" cy="461665"/>
          </a:xfrm>
          <a:prstGeom prst="rect">
            <a:avLst/>
          </a:prstGeom>
        </p:spPr>
        <p:txBody>
          <a:bodyPr wrap="none">
            <a:spAutoFit/>
          </a:bodyPr>
          <a:lstStyle/>
          <a:p>
            <a:r>
              <a:rPr lang="en-IN" sz="2400" b="1">
                <a:latin typeface="Arial" panose="020B0604020202020204" pitchFamily="34" charset="0"/>
                <a:cs typeface="Arial" panose="020B0604020202020204" pitchFamily="34" charset="0"/>
              </a:rPr>
              <a:t>SECOND NORMAL FORM</a:t>
            </a:r>
            <a:endParaRPr lang="en-IN" sz="2400" b="1" dirty="0">
              <a:latin typeface="Arial" panose="020B0604020202020204" pitchFamily="34" charset="0"/>
              <a:cs typeface="Arial" panose="020B0604020202020204" pitchFamily="34" charset="0"/>
            </a:endParaRPr>
          </a:p>
        </p:txBody>
      </p:sp>
      <p:pic>
        <p:nvPicPr>
          <p:cNvPr id="14" name="Picture 13">
            <a:extLst>
              <a:ext uri="{FF2B5EF4-FFF2-40B4-BE49-F238E27FC236}">
                <a16:creationId xmlns:a16="http://schemas.microsoft.com/office/drawing/2014/main" id="{B6A945D8-BFFF-B8CE-7597-6AD527A467F3}"/>
              </a:ext>
            </a:extLst>
          </p:cNvPr>
          <p:cNvPicPr>
            <a:picLocks noChangeAspect="1"/>
          </p:cNvPicPr>
          <p:nvPr/>
        </p:nvPicPr>
        <p:blipFill>
          <a:blip r:embed="rId2"/>
          <a:stretch>
            <a:fillRect/>
          </a:stretch>
        </p:blipFill>
        <p:spPr>
          <a:xfrm>
            <a:off x="603457" y="1443470"/>
            <a:ext cx="5425910" cy="1767993"/>
          </a:xfrm>
          <a:prstGeom prst="rect">
            <a:avLst/>
          </a:prstGeom>
        </p:spPr>
      </p:pic>
      <p:pic>
        <p:nvPicPr>
          <p:cNvPr id="16" name="Picture 15">
            <a:extLst>
              <a:ext uri="{FF2B5EF4-FFF2-40B4-BE49-F238E27FC236}">
                <a16:creationId xmlns:a16="http://schemas.microsoft.com/office/drawing/2014/main" id="{B4D7B13C-59BC-3679-2190-37DA6CEA0EC1}"/>
              </a:ext>
            </a:extLst>
          </p:cNvPr>
          <p:cNvPicPr>
            <a:picLocks noChangeAspect="1"/>
          </p:cNvPicPr>
          <p:nvPr/>
        </p:nvPicPr>
        <p:blipFill>
          <a:blip r:embed="rId3"/>
          <a:stretch>
            <a:fillRect/>
          </a:stretch>
        </p:blipFill>
        <p:spPr>
          <a:xfrm>
            <a:off x="190654" y="3646538"/>
            <a:ext cx="6668078" cy="1790855"/>
          </a:xfrm>
          <a:prstGeom prst="rect">
            <a:avLst/>
          </a:prstGeom>
        </p:spPr>
      </p:pic>
      <p:sp>
        <p:nvSpPr>
          <p:cNvPr id="18" name="TextBox 17">
            <a:extLst>
              <a:ext uri="{FF2B5EF4-FFF2-40B4-BE49-F238E27FC236}">
                <a16:creationId xmlns:a16="http://schemas.microsoft.com/office/drawing/2014/main" id="{DF7BC110-375E-3E65-41A9-D04D400A82EB}"/>
              </a:ext>
            </a:extLst>
          </p:cNvPr>
          <p:cNvSpPr txBox="1"/>
          <p:nvPr/>
        </p:nvSpPr>
        <p:spPr>
          <a:xfrm>
            <a:off x="6913796" y="3095519"/>
            <a:ext cx="5197848" cy="2031325"/>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Functional Dependencies</a:t>
            </a:r>
          </a:p>
          <a:p>
            <a:pPr lvl="0"/>
            <a:endParaRPr lang="en-US" dirty="0">
              <a:latin typeface="Times New Roman" panose="02020603050405020304" pitchFamily="18" charset="0"/>
              <a:cs typeface="Times New Roman" panose="02020603050405020304" pitchFamily="18" charset="0"/>
            </a:endParaRPr>
          </a:p>
          <a:p>
            <a:pPr lvl="0"/>
            <a:r>
              <a:rPr lang="en-US" dirty="0">
                <a:latin typeface="Times New Roman" panose="02020603050405020304" pitchFamily="18" charset="0"/>
                <a:cs typeface="Times New Roman" panose="02020603050405020304" pitchFamily="18" charset="0"/>
              </a:rPr>
              <a:t>PAYMENT_ID → PAYMENT_AMOUNT, PAYMENT_STATUS</a:t>
            </a:r>
          </a:p>
          <a:p>
            <a:pPr lvl="0"/>
            <a:r>
              <a:rPr lang="en-US" dirty="0">
                <a:latin typeface="Times New Roman" panose="02020603050405020304" pitchFamily="18" charset="0"/>
                <a:cs typeface="Times New Roman" panose="02020603050405020304" pitchFamily="18" charset="0"/>
              </a:rPr>
              <a:t>RESERVATION_ID → GUEST_ID, ROOM_ID, HOTEL_ID, PAYMENT_ID</a:t>
            </a:r>
          </a:p>
          <a:p>
            <a:pPr lvl="0"/>
            <a:r>
              <a:rPr lang="en-US" dirty="0">
                <a:latin typeface="Times New Roman" panose="02020603050405020304" pitchFamily="18" charset="0"/>
                <a:cs typeface="Times New Roman" panose="02020603050405020304" pitchFamily="18" charset="0"/>
              </a:rPr>
              <a:t>ROOM_ID → HOTEL_ID</a:t>
            </a:r>
          </a:p>
        </p:txBody>
      </p:sp>
    </p:spTree>
    <p:extLst>
      <p:ext uri="{BB962C8B-B14F-4D97-AF65-F5344CB8AC3E}">
        <p14:creationId xmlns:p14="http://schemas.microsoft.com/office/powerpoint/2010/main" val="261722379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B9BBC-6F64-5A0F-A527-BAAE79D6D9CD}"/>
              </a:ext>
            </a:extLst>
          </p:cNvPr>
          <p:cNvSpPr>
            <a:spLocks noGrp="1"/>
          </p:cNvSpPr>
          <p:nvPr>
            <p:ph type="title"/>
          </p:nvPr>
        </p:nvSpPr>
        <p:spPr/>
        <p:txBody>
          <a:bodyPr/>
          <a:lstStyle/>
          <a:p>
            <a:r>
              <a:rPr lang="en-IN" sz="2400" b="1" dirty="0">
                <a:latin typeface="Arial" panose="020B0604020202020204" pitchFamily="34" charset="0"/>
                <a:cs typeface="Arial" panose="020B0604020202020204" pitchFamily="34" charset="0"/>
              </a:rPr>
              <a:t>2NF:</a:t>
            </a:r>
            <a:br>
              <a:rPr lang="en-IN" b="1" dirty="0"/>
            </a:br>
            <a:endParaRPr lang="en-IN" dirty="0"/>
          </a:p>
        </p:txBody>
      </p:sp>
      <p:sp>
        <p:nvSpPr>
          <p:cNvPr id="3" name="Content Placeholder 2">
            <a:extLst>
              <a:ext uri="{FF2B5EF4-FFF2-40B4-BE49-F238E27FC236}">
                <a16:creationId xmlns:a16="http://schemas.microsoft.com/office/drawing/2014/main" id="{8E4F1C4A-4932-0EC6-34EB-972165938CF3}"/>
              </a:ext>
            </a:extLst>
          </p:cNvPr>
          <p:cNvSpPr>
            <a:spLocks noGrp="1"/>
          </p:cNvSpPr>
          <p:nvPr>
            <p:ph idx="1"/>
          </p:nvPr>
        </p:nvSpPr>
        <p:spPr>
          <a:xfrm>
            <a:off x="746760" y="1094407"/>
            <a:ext cx="10515600" cy="5153819"/>
          </a:xfrm>
        </p:spPr>
        <p:txBody>
          <a:bodyPr>
            <a:normAutofit/>
          </a:bodyPr>
          <a:lstStyle/>
          <a:p>
            <a:pPr lvl="0"/>
            <a:r>
              <a:rPr lang="en-US" sz="1800" b="1" dirty="0">
                <a:latin typeface="Times New Roman" panose="02020603050405020304" pitchFamily="18" charset="0"/>
                <a:cs typeface="Times New Roman" panose="02020603050405020304" pitchFamily="18" charset="0"/>
              </a:rPr>
              <a:t>Rule:</a:t>
            </a:r>
            <a:r>
              <a:rPr lang="en-US" sz="1800" dirty="0">
                <a:latin typeface="Times New Roman" panose="02020603050405020304" pitchFamily="18" charset="0"/>
                <a:cs typeface="Times New Roman" panose="02020603050405020304" pitchFamily="18" charset="0"/>
              </a:rPr>
              <a:t> A table is in 2NF if it is in 1NF and has no partial dependency (no non-key attribute depends on only part of the primary key).</a:t>
            </a:r>
          </a:p>
          <a:p>
            <a:pPr lvl="0"/>
            <a:r>
              <a:rPr lang="en-US" sz="1800" dirty="0">
                <a:latin typeface="Times New Roman" panose="02020603050405020304" pitchFamily="18" charset="0"/>
                <a:cs typeface="Times New Roman" panose="02020603050405020304" pitchFamily="18" charset="0"/>
              </a:rPr>
              <a:t>Both keys are single attributes, so partial dependency is not possible.</a:t>
            </a:r>
          </a:p>
          <a:p>
            <a:pPr lvl="0"/>
            <a:r>
              <a:rPr lang="en-US" sz="1800" b="1" dirty="0">
                <a:latin typeface="Times New Roman" panose="02020603050405020304" pitchFamily="18" charset="0"/>
                <a:cs typeface="Times New Roman" panose="02020603050405020304" pitchFamily="18" charset="0"/>
              </a:rPr>
              <a:t>Conclusion:</a:t>
            </a:r>
            <a:r>
              <a:rPr lang="en-US" sz="1800" dirty="0">
                <a:latin typeface="Times New Roman" panose="02020603050405020304" pitchFamily="18" charset="0"/>
                <a:cs typeface="Times New Roman" panose="02020603050405020304" pitchFamily="18" charset="0"/>
              </a:rPr>
              <a:t> both tables are in 2NF.</a:t>
            </a:r>
          </a:p>
          <a:p>
            <a:pPr marL="0" lvl="0" indent="0">
              <a:buNone/>
            </a:pPr>
            <a:endParaRPr lang="en-IN" sz="1600" dirty="0">
              <a:latin typeface="Times New Roman" panose="02020603050405020304" pitchFamily="18" charset="0"/>
              <a:cs typeface="Times New Roman" panose="02020603050405020304" pitchFamily="18" charset="0"/>
            </a:endParaRPr>
          </a:p>
          <a:p>
            <a:pPr marL="0" indent="0">
              <a:buNone/>
            </a:pPr>
            <a:r>
              <a:rPr lang="en-IN" sz="2000" b="1" dirty="0">
                <a:latin typeface="Times New Roman" panose="02020603050405020304" pitchFamily="18" charset="0"/>
                <a:cs typeface="Times New Roman" panose="02020603050405020304" pitchFamily="18" charset="0"/>
              </a:rPr>
              <a:t>Redundancy / Anomalies in 2NF</a:t>
            </a:r>
          </a:p>
          <a:p>
            <a:pPr marL="0" indent="0">
              <a:buNone/>
            </a:pPr>
            <a:endParaRPr lang="en-IN" sz="1800" dirty="0">
              <a:latin typeface="Times New Roman" panose="02020603050405020304" pitchFamily="18" charset="0"/>
              <a:cs typeface="Times New Roman" panose="02020603050405020304" pitchFamily="18" charset="0"/>
            </a:endParaRPr>
          </a:p>
          <a:p>
            <a:pPr marL="0" indent="0">
              <a:buNone/>
            </a:pPr>
            <a:r>
              <a:rPr lang="en-US" sz="1800" b="1" dirty="0">
                <a:latin typeface="Times New Roman" panose="02020603050405020304" pitchFamily="18" charset="0"/>
                <a:cs typeface="Times New Roman" panose="02020603050405020304" pitchFamily="18" charset="0"/>
              </a:rPr>
              <a:t>Removed by this split:</a:t>
            </a:r>
            <a:endParaRPr lang="en-US" sz="1800" dirty="0">
              <a:latin typeface="Times New Roman" panose="02020603050405020304" pitchFamily="18" charset="0"/>
              <a:cs typeface="Times New Roman" panose="02020603050405020304" pitchFamily="18" charset="0"/>
            </a:endParaRPr>
          </a:p>
          <a:p>
            <a:pPr lvl="0"/>
            <a:r>
              <a:rPr lang="en-US" sz="1800" dirty="0">
                <a:latin typeface="Times New Roman" panose="02020603050405020304" pitchFamily="18" charset="0"/>
                <a:cs typeface="Times New Roman" panose="02020603050405020304" pitchFamily="18" charset="0"/>
              </a:rPr>
              <a:t>Payment details (amount and status) are stored only in PAYMENT, once per PAYMENT_ID.</a:t>
            </a:r>
          </a:p>
          <a:p>
            <a:pPr lvl="0"/>
            <a:r>
              <a:rPr lang="en-US" sz="1800" dirty="0">
                <a:latin typeface="Times New Roman" panose="02020603050405020304" pitchFamily="18" charset="0"/>
                <a:cs typeface="Times New Roman" panose="02020603050405020304" pitchFamily="18" charset="0"/>
              </a:rPr>
              <a:t>A payment change (for example Pending → Paid) is made in one place, so there is no update anomaly.</a:t>
            </a:r>
          </a:p>
          <a:p>
            <a:pPr lvl="0"/>
            <a:r>
              <a:rPr lang="en-US" sz="1800" dirty="0">
                <a:latin typeface="Times New Roman" panose="02020603050405020304" pitchFamily="18" charset="0"/>
                <a:cs typeface="Times New Roman" panose="02020603050405020304" pitchFamily="18" charset="0"/>
              </a:rPr>
              <a:t>Payment data no longer mixes with reservation data.</a:t>
            </a:r>
          </a:p>
          <a:p>
            <a:pPr marL="0" indent="0">
              <a:buNone/>
            </a:pP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2534773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B7F8A-B575-9F29-BC35-FBC1E900AB35}"/>
              </a:ext>
            </a:extLst>
          </p:cNvPr>
          <p:cNvSpPr>
            <a:spLocks noGrp="1"/>
          </p:cNvSpPr>
          <p:nvPr>
            <p:ph type="ctrTitle"/>
          </p:nvPr>
        </p:nvSpPr>
        <p:spPr>
          <a:xfrm>
            <a:off x="-2439266" y="723525"/>
            <a:ext cx="9144000" cy="1316037"/>
          </a:xfrm>
        </p:spPr>
        <p:txBody>
          <a:bodyPr/>
          <a:lstStyle/>
          <a:p>
            <a:r>
              <a:rPr lang="en-US" sz="2400" b="1" dirty="0">
                <a:latin typeface="Times New Roman" panose="02020603050405020304" pitchFamily="18" charset="0"/>
                <a:cs typeface="Times New Roman" panose="02020603050405020304" pitchFamily="18" charset="0"/>
              </a:rPr>
              <a:t>Lossless Join</a:t>
            </a:r>
            <a:r>
              <a:rPr lang="en-US" sz="2800" b="1" dirty="0">
                <a:latin typeface="Times New Roman" panose="02020603050405020304" pitchFamily="18" charset="0"/>
                <a:cs typeface="Times New Roman" panose="02020603050405020304" pitchFamily="18" charset="0"/>
              </a:rPr>
              <a:t>:</a:t>
            </a:r>
            <a:br>
              <a:rPr lang="en-US" dirty="0">
                <a:latin typeface="Arial" panose="020B0604020202020204" pitchFamily="34" charset="0"/>
                <a:cs typeface="Arial" panose="020B0604020202020204" pitchFamily="34" charset="0"/>
              </a:rPr>
            </a:br>
            <a:endParaRPr lang="en-IN" dirty="0">
              <a:latin typeface="Arial" panose="020B0604020202020204" pitchFamily="34" charset="0"/>
              <a:cs typeface="Arial" panose="020B0604020202020204" pitchFamily="34" charset="0"/>
            </a:endParaRPr>
          </a:p>
        </p:txBody>
      </p:sp>
      <p:sp>
        <p:nvSpPr>
          <p:cNvPr id="3" name="Subtitle 2">
            <a:extLst>
              <a:ext uri="{FF2B5EF4-FFF2-40B4-BE49-F238E27FC236}">
                <a16:creationId xmlns:a16="http://schemas.microsoft.com/office/drawing/2014/main" id="{66BF39BA-C58C-4BC0-7A15-8AB7119CD026}"/>
              </a:ext>
            </a:extLst>
          </p:cNvPr>
          <p:cNvSpPr>
            <a:spLocks noGrp="1"/>
          </p:cNvSpPr>
          <p:nvPr>
            <p:ph type="subTitle" idx="1"/>
          </p:nvPr>
        </p:nvSpPr>
        <p:spPr>
          <a:xfrm>
            <a:off x="577735" y="1999039"/>
            <a:ext cx="11036530" cy="2819400"/>
          </a:xfrm>
        </p:spPr>
        <p:txBody>
          <a:bodyPr>
            <a:noAutofit/>
          </a:bodyPr>
          <a:lstStyle/>
          <a:p>
            <a:pPr lvl="0" algn="l"/>
            <a:r>
              <a:rPr lang="en-US" sz="1800" dirty="0">
                <a:latin typeface="Times New Roman" panose="02020603050405020304" pitchFamily="18" charset="0"/>
                <a:cs typeface="Times New Roman" panose="02020603050405020304" pitchFamily="18" charset="0"/>
              </a:rPr>
              <a:t>PAYMENT ∩ RESERVATION = {PAYMENT_ID}</a:t>
            </a:r>
          </a:p>
          <a:p>
            <a:pPr lvl="0" algn="l"/>
            <a:r>
              <a:rPr lang="en-US" sz="1800" dirty="0">
                <a:latin typeface="Times New Roman" panose="02020603050405020304" pitchFamily="18" charset="0"/>
                <a:cs typeface="Times New Roman" panose="02020603050405020304" pitchFamily="18" charset="0"/>
              </a:rPr>
              <a:t>PAYMENT_ID is the primary key of PAYMENT, so the decomposition is lossless.</a:t>
            </a:r>
          </a:p>
          <a:p>
            <a:pPr lvl="0" algn="l"/>
            <a:r>
              <a:rPr lang="en-US" sz="1800" dirty="0">
                <a:latin typeface="Times New Roman" panose="02020603050405020304" pitchFamily="18" charset="0"/>
                <a:cs typeface="Times New Roman" panose="02020603050405020304" pitchFamily="18" charset="0"/>
              </a:rPr>
              <a:t>Joining the two tables on PAYMENT_ID reproduces the original 5 rows with no missing or extra tuples.</a:t>
            </a:r>
          </a:p>
          <a:p>
            <a:pPr lvl="0" algn="l"/>
            <a:r>
              <a:rPr lang="en-US" sz="1800" dirty="0">
                <a:latin typeface="Times New Roman" panose="02020603050405020304" pitchFamily="18" charset="0"/>
                <a:cs typeface="Times New Roman" panose="02020603050405020304" pitchFamily="18" charset="0"/>
              </a:rPr>
              <a:t>All FDs are preserved, so the decomposition is also dependency-preserving.</a:t>
            </a:r>
          </a:p>
        </p:txBody>
      </p:sp>
    </p:spTree>
    <p:extLst>
      <p:ext uri="{BB962C8B-B14F-4D97-AF65-F5344CB8AC3E}">
        <p14:creationId xmlns:p14="http://schemas.microsoft.com/office/powerpoint/2010/main" val="215918189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498371" y="0"/>
            <a:ext cx="3546997" cy="461665"/>
          </a:xfrm>
          <a:prstGeom prst="rect">
            <a:avLst/>
          </a:prstGeom>
        </p:spPr>
        <p:txBody>
          <a:bodyPr wrap="none">
            <a:spAutoFit/>
          </a:bodyPr>
          <a:lstStyle/>
          <a:p>
            <a:r>
              <a:rPr lang="en-IN" sz="2400" b="1" dirty="0">
                <a:latin typeface="Arial" panose="020B0604020202020204" pitchFamily="34" charset="0"/>
                <a:cs typeface="Arial" panose="020B0604020202020204" pitchFamily="34" charset="0"/>
              </a:rPr>
              <a:t>THIRD NORMAL FORM</a:t>
            </a:r>
          </a:p>
        </p:txBody>
      </p:sp>
      <p:pic>
        <p:nvPicPr>
          <p:cNvPr id="6" name="Picture 5">
            <a:extLst>
              <a:ext uri="{FF2B5EF4-FFF2-40B4-BE49-F238E27FC236}">
                <a16:creationId xmlns:a16="http://schemas.microsoft.com/office/drawing/2014/main" id="{B00C33CA-8A06-4C64-CED9-B059B038401F}"/>
              </a:ext>
            </a:extLst>
          </p:cNvPr>
          <p:cNvPicPr>
            <a:picLocks noChangeAspect="1"/>
          </p:cNvPicPr>
          <p:nvPr/>
        </p:nvPicPr>
        <p:blipFill>
          <a:blip r:embed="rId2"/>
          <a:stretch>
            <a:fillRect/>
          </a:stretch>
        </p:blipFill>
        <p:spPr>
          <a:xfrm>
            <a:off x="1425878" y="3240010"/>
            <a:ext cx="2324301" cy="1501270"/>
          </a:xfrm>
          <a:prstGeom prst="rect">
            <a:avLst/>
          </a:prstGeom>
        </p:spPr>
      </p:pic>
      <p:pic>
        <p:nvPicPr>
          <p:cNvPr id="11" name="Picture 10">
            <a:extLst>
              <a:ext uri="{FF2B5EF4-FFF2-40B4-BE49-F238E27FC236}">
                <a16:creationId xmlns:a16="http://schemas.microsoft.com/office/drawing/2014/main" id="{FA548E3B-9C4C-83C8-C82A-5B7FAE4B1FA9}"/>
              </a:ext>
            </a:extLst>
          </p:cNvPr>
          <p:cNvPicPr>
            <a:picLocks noChangeAspect="1"/>
          </p:cNvPicPr>
          <p:nvPr/>
        </p:nvPicPr>
        <p:blipFill>
          <a:blip r:embed="rId3"/>
          <a:stretch>
            <a:fillRect/>
          </a:stretch>
        </p:blipFill>
        <p:spPr>
          <a:xfrm>
            <a:off x="669381" y="955410"/>
            <a:ext cx="5601185" cy="1790855"/>
          </a:xfrm>
          <a:prstGeom prst="rect">
            <a:avLst/>
          </a:prstGeom>
        </p:spPr>
      </p:pic>
      <p:sp>
        <p:nvSpPr>
          <p:cNvPr id="15" name="TextBox 14">
            <a:extLst>
              <a:ext uri="{FF2B5EF4-FFF2-40B4-BE49-F238E27FC236}">
                <a16:creationId xmlns:a16="http://schemas.microsoft.com/office/drawing/2014/main" id="{3EB9A30D-5531-4340-6ED3-9AAC3A059022}"/>
              </a:ext>
            </a:extLst>
          </p:cNvPr>
          <p:cNvSpPr txBox="1"/>
          <p:nvPr/>
        </p:nvSpPr>
        <p:spPr>
          <a:xfrm>
            <a:off x="5868785" y="3219396"/>
            <a:ext cx="5818910" cy="2031325"/>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Functional Dependencies</a:t>
            </a:r>
          </a:p>
          <a:p>
            <a:endParaRPr lang="en-US" dirty="0">
              <a:latin typeface="Times New Roman" panose="02020603050405020304" pitchFamily="18" charset="0"/>
              <a:cs typeface="Times New Roman" panose="02020603050405020304" pitchFamily="18" charset="0"/>
            </a:endParaRPr>
          </a:p>
          <a:p>
            <a:pPr lvl="0"/>
            <a:r>
              <a:rPr lang="en-US" dirty="0">
                <a:latin typeface="Times New Roman" panose="02020603050405020304" pitchFamily="18" charset="0"/>
                <a:cs typeface="Times New Roman" panose="02020603050405020304" pitchFamily="18" charset="0"/>
              </a:rPr>
              <a:t>RESERVATION_ID → GUEST_ID, ROOM_ID, PAYMENT_ID</a:t>
            </a:r>
          </a:p>
          <a:p>
            <a:pPr lvl="0"/>
            <a:r>
              <a:rPr lang="en-US" dirty="0">
                <a:latin typeface="Times New Roman" panose="02020603050405020304" pitchFamily="18" charset="0"/>
                <a:cs typeface="Times New Roman" panose="02020603050405020304" pitchFamily="18" charset="0"/>
              </a:rPr>
              <a:t>PAYMENT_ID → PAYMENT_AMOUNT, PAYMENT_STATUS</a:t>
            </a:r>
          </a:p>
          <a:p>
            <a:pPr lvl="0"/>
            <a:r>
              <a:rPr lang="en-US" dirty="0">
                <a:latin typeface="Times New Roman" panose="02020603050405020304" pitchFamily="18" charset="0"/>
                <a:cs typeface="Times New Roman" panose="02020603050405020304" pitchFamily="18" charset="0"/>
              </a:rPr>
              <a:t>ROOM_ID → HOTEL_ID</a:t>
            </a:r>
          </a:p>
        </p:txBody>
      </p:sp>
    </p:spTree>
    <p:extLst>
      <p:ext uri="{BB962C8B-B14F-4D97-AF65-F5344CB8AC3E}">
        <p14:creationId xmlns:p14="http://schemas.microsoft.com/office/powerpoint/2010/main" val="146417225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C2F3C-EA4A-BF9E-DD57-B7B7EB8BD2FB}"/>
              </a:ext>
            </a:extLst>
          </p:cNvPr>
          <p:cNvSpPr>
            <a:spLocks noGrp="1"/>
          </p:cNvSpPr>
          <p:nvPr>
            <p:ph type="ctrTitle"/>
          </p:nvPr>
        </p:nvSpPr>
        <p:spPr>
          <a:xfrm>
            <a:off x="-3187148" y="8663"/>
            <a:ext cx="9144000" cy="1084124"/>
          </a:xfrm>
        </p:spPr>
        <p:txBody>
          <a:bodyPr>
            <a:normAutofit/>
          </a:bodyPr>
          <a:lstStyle/>
          <a:p>
            <a:r>
              <a:rPr lang="en-IN" sz="2400" b="1" dirty="0">
                <a:latin typeface="Arial" panose="020B0604020202020204" pitchFamily="34" charset="0"/>
                <a:cs typeface="Arial" panose="020B0604020202020204" pitchFamily="34" charset="0"/>
              </a:rPr>
              <a:t>3NF</a:t>
            </a:r>
            <a:r>
              <a:rPr lang="en-IN" sz="2400" b="1" dirty="0"/>
              <a:t>:</a:t>
            </a:r>
          </a:p>
        </p:txBody>
      </p:sp>
      <p:sp>
        <p:nvSpPr>
          <p:cNvPr id="3" name="Subtitle 2">
            <a:extLst>
              <a:ext uri="{FF2B5EF4-FFF2-40B4-BE49-F238E27FC236}">
                <a16:creationId xmlns:a16="http://schemas.microsoft.com/office/drawing/2014/main" id="{37C27A2E-4A94-581D-5101-2EE0C370E0BF}"/>
              </a:ext>
            </a:extLst>
          </p:cNvPr>
          <p:cNvSpPr>
            <a:spLocks noGrp="1"/>
          </p:cNvSpPr>
          <p:nvPr>
            <p:ph type="subTitle" idx="1"/>
          </p:nvPr>
        </p:nvSpPr>
        <p:spPr>
          <a:xfrm>
            <a:off x="569843" y="1296160"/>
            <a:ext cx="10431532" cy="4826344"/>
          </a:xfrm>
        </p:spPr>
        <p:txBody>
          <a:bodyPr>
            <a:normAutofit/>
          </a:bodyPr>
          <a:lstStyle/>
          <a:p>
            <a:pPr lvl="0" algn="l"/>
            <a:r>
              <a:rPr lang="en-US" sz="1800" dirty="0">
                <a:latin typeface="Times New Roman" panose="02020603050405020304" pitchFamily="18" charset="0"/>
                <a:cs typeface="Times New Roman" panose="02020603050405020304" pitchFamily="18" charset="0"/>
              </a:rPr>
              <a:t>Earlier, the pair (ROOM_ID 101, HOTEL_ID 1) was stored twice, in reservations 1016 and 1018.</a:t>
            </a:r>
          </a:p>
          <a:p>
            <a:pPr lvl="0" algn="l"/>
            <a:r>
              <a:rPr lang="en-US" sz="1800" dirty="0">
                <a:latin typeface="Times New Roman" panose="02020603050405020304" pitchFamily="18" charset="0"/>
                <a:cs typeface="Times New Roman" panose="02020603050405020304" pitchFamily="18" charset="0"/>
              </a:rPr>
              <a:t>Now each room-to-hotel fact is stored only once, in ROOM.</a:t>
            </a:r>
          </a:p>
          <a:p>
            <a:pPr lvl="0" algn="l"/>
            <a:endParaRPr lang="en-US" sz="1800" dirty="0">
              <a:latin typeface="Times New Roman" panose="02020603050405020304" pitchFamily="18" charset="0"/>
              <a:cs typeface="Times New Roman" panose="02020603050405020304" pitchFamily="18" charset="0"/>
            </a:endParaRPr>
          </a:p>
          <a:p>
            <a:pPr lvl="0" algn="l"/>
            <a:endParaRPr lang="en-US" sz="1800" dirty="0">
              <a:latin typeface="Times New Roman" panose="02020603050405020304" pitchFamily="18" charset="0"/>
              <a:cs typeface="Times New Roman" panose="02020603050405020304" pitchFamily="18" charset="0"/>
            </a:endParaRPr>
          </a:p>
          <a:p>
            <a:pPr algn="l"/>
            <a:r>
              <a:rPr lang="en-IN" sz="1800" b="1" dirty="0">
                <a:latin typeface="Times New Roman" panose="02020603050405020304" pitchFamily="18" charset="0"/>
                <a:cs typeface="Times New Roman" panose="02020603050405020304" pitchFamily="18" charset="0"/>
              </a:rPr>
              <a:t>Redundancy / Anomalies in </a:t>
            </a:r>
            <a:r>
              <a:rPr lang="en-IN" sz="1800" b="1" dirty="0">
                <a:latin typeface="Arial" panose="020B0604020202020204" pitchFamily="34" charset="0"/>
                <a:cs typeface="Arial" panose="020B0604020202020204" pitchFamily="34" charset="0"/>
              </a:rPr>
              <a:t>3</a:t>
            </a:r>
            <a:r>
              <a:rPr lang="en-IN" sz="1800" b="1" dirty="0">
                <a:latin typeface="Times New Roman" panose="02020603050405020304" pitchFamily="18" charset="0"/>
                <a:cs typeface="Times New Roman" panose="02020603050405020304" pitchFamily="18" charset="0"/>
              </a:rPr>
              <a:t>NF</a:t>
            </a:r>
            <a:r>
              <a:rPr lang="en-IN" sz="1800" b="1" dirty="0">
                <a:latin typeface="Arial" panose="020B0604020202020204" pitchFamily="34" charset="0"/>
                <a:cs typeface="Arial" panose="020B0604020202020204" pitchFamily="34" charset="0"/>
              </a:rPr>
              <a:t> :</a:t>
            </a:r>
          </a:p>
          <a:p>
            <a:pPr lvl="0" algn="l"/>
            <a:endParaRPr lang="en-US" sz="1800" dirty="0">
              <a:latin typeface="Times New Roman" panose="02020603050405020304" pitchFamily="18" charset="0"/>
              <a:cs typeface="Times New Roman" panose="02020603050405020304" pitchFamily="18" charset="0"/>
            </a:endParaRPr>
          </a:p>
          <a:p>
            <a:pPr lvl="0" algn="l"/>
            <a:r>
              <a:rPr lang="en-US" sz="1800" b="1" dirty="0">
                <a:latin typeface="Times New Roman" panose="02020603050405020304" pitchFamily="18" charset="0"/>
                <a:cs typeface="Times New Roman" panose="02020603050405020304" pitchFamily="18" charset="0"/>
              </a:rPr>
              <a:t>Update anomaly removed:</a:t>
            </a:r>
            <a:r>
              <a:rPr lang="en-US" sz="1800" dirty="0">
                <a:latin typeface="Times New Roman" panose="02020603050405020304" pitchFamily="18" charset="0"/>
                <a:cs typeface="Times New Roman" panose="02020603050405020304" pitchFamily="18" charset="0"/>
              </a:rPr>
              <a:t> if Room 101 moves to another hotel, only one row in ROOM changes.</a:t>
            </a:r>
          </a:p>
          <a:p>
            <a:pPr lvl="0" algn="l"/>
            <a:r>
              <a:rPr lang="en-US" sz="1800" b="1" dirty="0">
                <a:latin typeface="Times New Roman" panose="02020603050405020304" pitchFamily="18" charset="0"/>
                <a:cs typeface="Times New Roman" panose="02020603050405020304" pitchFamily="18" charset="0"/>
              </a:rPr>
              <a:t>Insertion anomaly removed:</a:t>
            </a:r>
            <a:r>
              <a:rPr lang="en-US" sz="1800" dirty="0">
                <a:latin typeface="Times New Roman" panose="02020603050405020304" pitchFamily="18" charset="0"/>
                <a:cs typeface="Times New Roman" panose="02020603050405020304" pitchFamily="18" charset="0"/>
              </a:rPr>
              <a:t> a new room can be added to ROOM before anyone reserves it.</a:t>
            </a:r>
          </a:p>
          <a:p>
            <a:pPr lvl="0" algn="l"/>
            <a:r>
              <a:rPr lang="en-US" sz="1800" b="1" dirty="0">
                <a:latin typeface="Times New Roman" panose="02020603050405020304" pitchFamily="18" charset="0"/>
                <a:cs typeface="Times New Roman" panose="02020603050405020304" pitchFamily="18" charset="0"/>
              </a:rPr>
              <a:t>Deletion anomaly removed:</a:t>
            </a:r>
            <a:r>
              <a:rPr lang="en-US" sz="1800" dirty="0">
                <a:latin typeface="Times New Roman" panose="02020603050405020304" pitchFamily="18" charset="0"/>
                <a:cs typeface="Times New Roman" panose="02020603050405020304" pitchFamily="18" charset="0"/>
              </a:rPr>
              <a:t> deleting a reservation no longer deletes the room-to-hotel information.</a:t>
            </a:r>
          </a:p>
          <a:p>
            <a:endParaRPr lang="en-IN" sz="1900" dirty="0">
              <a:latin typeface="Times New Roman" panose="02020603050405020304" pitchFamily="18" charset="0"/>
              <a:cs typeface="Times New Roman" panose="02020603050405020304" pitchFamily="18" charset="0"/>
            </a:endParaRPr>
          </a:p>
          <a:p>
            <a:pPr lvl="0" algn="l"/>
            <a:endParaRPr lang="en-IN" b="1" dirty="0">
              <a:latin typeface="Arial" panose="020B0604020202020204" pitchFamily="34" charset="0"/>
              <a:cs typeface="Arial" panose="020B0604020202020204" pitchFamily="34" charset="0"/>
            </a:endParaRPr>
          </a:p>
          <a:p>
            <a:pPr lvl="0" algn="l"/>
            <a:endParaRPr lang="en-IN" sz="1800" b="1" dirty="0"/>
          </a:p>
          <a:p>
            <a:endParaRPr lang="en-IN" dirty="0"/>
          </a:p>
        </p:txBody>
      </p:sp>
    </p:spTree>
    <p:extLst>
      <p:ext uri="{BB962C8B-B14F-4D97-AF65-F5344CB8AC3E}">
        <p14:creationId xmlns:p14="http://schemas.microsoft.com/office/powerpoint/2010/main" val="126197194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A4E892-435C-EA71-4E4B-02B18F9D048D}"/>
              </a:ext>
            </a:extLst>
          </p:cNvPr>
          <p:cNvSpPr>
            <a:spLocks noGrp="1"/>
          </p:cNvSpPr>
          <p:nvPr>
            <p:ph type="ctrTitle"/>
          </p:nvPr>
        </p:nvSpPr>
        <p:spPr>
          <a:xfrm>
            <a:off x="-2429221" y="449552"/>
            <a:ext cx="9144000" cy="1320799"/>
          </a:xfrm>
        </p:spPr>
        <p:txBody>
          <a:bodyPr>
            <a:normAutofit fontScale="90000"/>
          </a:bodyPr>
          <a:lstStyle/>
          <a:p>
            <a:r>
              <a:rPr lang="en-US" sz="3100" b="1" dirty="0">
                <a:latin typeface="Times New Roman" panose="02020603050405020304" pitchFamily="18" charset="0"/>
                <a:cs typeface="Times New Roman" panose="02020603050405020304" pitchFamily="18" charset="0"/>
              </a:rPr>
              <a:t>Lossless Join:</a:t>
            </a:r>
            <a:br>
              <a:rPr lang="en-US" dirty="0">
                <a:latin typeface="Arial" panose="020B0604020202020204" pitchFamily="34" charset="0"/>
                <a:cs typeface="Arial" panose="020B0604020202020204" pitchFamily="34" charset="0"/>
              </a:rPr>
            </a:br>
            <a:endParaRPr lang="en-IN" dirty="0">
              <a:latin typeface="Arial" panose="020B0604020202020204" pitchFamily="34" charset="0"/>
              <a:cs typeface="Arial" panose="020B0604020202020204" pitchFamily="34" charset="0"/>
            </a:endParaRPr>
          </a:p>
        </p:txBody>
      </p:sp>
      <p:sp>
        <p:nvSpPr>
          <p:cNvPr id="3" name="Subtitle 2">
            <a:extLst>
              <a:ext uri="{FF2B5EF4-FFF2-40B4-BE49-F238E27FC236}">
                <a16:creationId xmlns:a16="http://schemas.microsoft.com/office/drawing/2014/main" id="{5B835841-E8EA-57FF-A00A-691666043314}"/>
              </a:ext>
            </a:extLst>
          </p:cNvPr>
          <p:cNvSpPr>
            <a:spLocks noGrp="1"/>
          </p:cNvSpPr>
          <p:nvPr>
            <p:ph type="subTitle" idx="1"/>
          </p:nvPr>
        </p:nvSpPr>
        <p:spPr>
          <a:xfrm>
            <a:off x="1341120" y="1566949"/>
            <a:ext cx="9144000" cy="3148013"/>
          </a:xfrm>
        </p:spPr>
        <p:txBody>
          <a:bodyPr>
            <a:noAutofit/>
          </a:bodyPr>
          <a:lstStyle/>
          <a:p>
            <a:pPr algn="l"/>
            <a:endParaRPr lang="en-US" sz="1800" dirty="0">
              <a:latin typeface="Times New Roman" panose="02020603050405020304" pitchFamily="18" charset="0"/>
              <a:cs typeface="Times New Roman" panose="02020603050405020304" pitchFamily="18" charset="0"/>
            </a:endParaRPr>
          </a:p>
          <a:p>
            <a:pPr lvl="0" algn="l"/>
            <a:r>
              <a:rPr lang="en-US" sz="1800" dirty="0">
                <a:latin typeface="Times New Roman" panose="02020603050405020304" pitchFamily="18" charset="0"/>
                <a:cs typeface="Times New Roman" panose="02020603050405020304" pitchFamily="18" charset="0"/>
              </a:rPr>
              <a:t>RESERVATION ∩ ROOM = {ROOM_ID}, which is the primary key of ROOM.</a:t>
            </a:r>
          </a:p>
          <a:p>
            <a:pPr lvl="0" algn="l"/>
            <a:r>
              <a:rPr lang="en-US" sz="1800" dirty="0">
                <a:latin typeface="Times New Roman" panose="02020603050405020304" pitchFamily="18" charset="0"/>
                <a:cs typeface="Times New Roman" panose="02020603050405020304" pitchFamily="18" charset="0"/>
              </a:rPr>
              <a:t>RESERVATION ∩ PAYMENT = {PAYMENT_ID}, which is the primary key of PAYMENT.</a:t>
            </a:r>
          </a:p>
          <a:p>
            <a:pPr lvl="0" algn="l"/>
            <a:r>
              <a:rPr lang="en-US" sz="1800" dirty="0">
                <a:latin typeface="Times New Roman" panose="02020603050405020304" pitchFamily="18" charset="0"/>
                <a:cs typeface="Times New Roman" panose="02020603050405020304" pitchFamily="18" charset="0"/>
              </a:rPr>
              <a:t>Because the common attribute is a key in each case, the decomposition is lossless.</a:t>
            </a:r>
          </a:p>
          <a:p>
            <a:pPr lvl="0" algn="l"/>
            <a:r>
              <a:rPr lang="en-US" sz="1800" dirty="0">
                <a:latin typeface="Times New Roman" panose="02020603050405020304" pitchFamily="18" charset="0"/>
                <a:cs typeface="Times New Roman" panose="02020603050405020304" pitchFamily="18" charset="0"/>
              </a:rPr>
              <a:t>Joining RESERVATION with ROOM on ROOM_ID and then with PAYMENT on PAYMENT_ID reproduces the original 5 rows, with no missing or spurious tuples.</a:t>
            </a:r>
          </a:p>
          <a:p>
            <a:pPr lvl="0" algn="l"/>
            <a:r>
              <a:rPr lang="en-US" sz="1800" dirty="0">
                <a:latin typeface="Times New Roman" panose="02020603050405020304" pitchFamily="18" charset="0"/>
                <a:cs typeface="Times New Roman" panose="02020603050405020304" pitchFamily="18" charset="0"/>
              </a:rPr>
              <a:t>All three FDs are preserved in the separate tables, so the decomposition is also </a:t>
            </a:r>
            <a:r>
              <a:rPr lang="en-US" sz="1800" b="1" dirty="0">
                <a:latin typeface="Times New Roman" panose="02020603050405020304" pitchFamily="18" charset="0"/>
                <a:cs typeface="Times New Roman" panose="02020603050405020304" pitchFamily="18" charset="0"/>
              </a:rPr>
              <a:t>dependency-preserving</a:t>
            </a:r>
            <a:r>
              <a:rPr lang="en-US" sz="1800" dirty="0">
                <a:latin typeface="Times New Roman" panose="02020603050405020304" pitchFamily="18" charset="0"/>
                <a:cs typeface="Times New Roman" panose="02020603050405020304" pitchFamily="18" charset="0"/>
              </a:rPr>
              <a:t>.</a:t>
            </a: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9288485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E4F3DEF-8170-6FC1-C53C-2C9A3B75050B}"/>
              </a:ext>
            </a:extLst>
          </p:cNvPr>
          <p:cNvSpPr>
            <a:spLocks noGrp="1"/>
          </p:cNvSpPr>
          <p:nvPr>
            <p:ph idx="1"/>
          </p:nvPr>
        </p:nvSpPr>
        <p:spPr>
          <a:xfrm>
            <a:off x="1010652" y="1971590"/>
            <a:ext cx="10587790" cy="3811588"/>
          </a:xfrm>
        </p:spPr>
        <p:txBody>
          <a:bodyPr>
            <a:normAutofit/>
          </a:bodyPr>
          <a:lstStyle/>
          <a:p>
            <a:pPr marL="0" indent="0">
              <a:lnSpc>
                <a:spcPct val="250000"/>
              </a:lnSpc>
              <a:buNone/>
            </a:pPr>
            <a:r>
              <a:rPr lang="en-US" sz="2000" dirty="0">
                <a:latin typeface="Times New Roman" panose="02020603050405020304" pitchFamily="18" charset="0"/>
                <a:cs typeface="Times New Roman" panose="02020603050405020304" pitchFamily="18" charset="0"/>
              </a:rPr>
              <a:t>To conclude, our Hotel Reservation Management System helps manage customers, rooms, reservations, and payments in an organized way. It reduces manual work, improves data management, and provides quick access to accurate information. Overall, it makes the hotel reservation process more efficient and reliable.</a:t>
            </a:r>
          </a:p>
        </p:txBody>
      </p:sp>
      <p:sp>
        <p:nvSpPr>
          <p:cNvPr id="7" name="TextBox 6">
            <a:extLst>
              <a:ext uri="{FF2B5EF4-FFF2-40B4-BE49-F238E27FC236}">
                <a16:creationId xmlns:a16="http://schemas.microsoft.com/office/drawing/2014/main" id="{C7673F5F-2789-72D6-251C-F9292E2CF450}"/>
              </a:ext>
            </a:extLst>
          </p:cNvPr>
          <p:cNvSpPr txBox="1"/>
          <p:nvPr/>
        </p:nvSpPr>
        <p:spPr>
          <a:xfrm>
            <a:off x="4074695" y="1074821"/>
            <a:ext cx="3112168" cy="523220"/>
          </a:xfrm>
          <a:prstGeom prst="rect">
            <a:avLst/>
          </a:prstGeom>
          <a:noFill/>
        </p:spPr>
        <p:txBody>
          <a:bodyPr wrap="square">
            <a:spAutoFit/>
          </a:bodyPr>
          <a:lstStyle/>
          <a:p>
            <a:r>
              <a:rPr lang="en-US" sz="2800" b="1" dirty="0">
                <a:latin typeface="Times New Roman" panose="02020603050405020304" pitchFamily="18" charset="0"/>
                <a:ea typeface="Artifakt Element Book" panose="020B0503050000020004" pitchFamily="34" charset="0"/>
                <a:cs typeface="Times New Roman" panose="02020603050405020304" pitchFamily="18" charset="0"/>
              </a:rPr>
              <a:t>CONCLUSION</a:t>
            </a:r>
            <a:endParaRPr lang="en-US" b="1"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7FA73F20-9471-2976-7CE3-CAFACE29304C}"/>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36357" y="56148"/>
            <a:ext cx="2165685" cy="866100"/>
          </a:xfrm>
          <a:prstGeom prst="rect">
            <a:avLst/>
          </a:prstGeom>
        </p:spPr>
      </p:pic>
    </p:spTree>
    <p:extLst>
      <p:ext uri="{BB962C8B-B14F-4D97-AF65-F5344CB8AC3E}">
        <p14:creationId xmlns:p14="http://schemas.microsoft.com/office/powerpoint/2010/main" val="145894466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782437" y="2927033"/>
            <a:ext cx="8338751" cy="1556952"/>
          </a:xfrm>
        </p:spPr>
        <p:txBody>
          <a:bodyPr>
            <a:normAutofit/>
          </a:bodyPr>
          <a:lstStyle/>
          <a:p>
            <a:pPr marL="0" indent="0">
              <a:buNone/>
            </a:pPr>
            <a:r>
              <a:rPr lang="en-IN" sz="9600" dirty="0">
                <a:latin typeface="Times New Roman" panose="02020603050405020304" pitchFamily="18" charset="0"/>
                <a:ea typeface="Arial Unicode MS" panose="020B0604020202020204" pitchFamily="34" charset="-128"/>
                <a:cs typeface="Times New Roman" panose="02020603050405020304" pitchFamily="18" charset="0"/>
              </a:rPr>
              <a:t>Thank you</a:t>
            </a:r>
          </a:p>
        </p:txBody>
      </p:sp>
      <p:pic>
        <p:nvPicPr>
          <p:cNvPr id="4" name="Picture 3">
            <a:extLst>
              <a:ext uri="{FF2B5EF4-FFF2-40B4-BE49-F238E27FC236}">
                <a16:creationId xmlns:a16="http://schemas.microsoft.com/office/drawing/2014/main" id="{9031B3AD-6BB2-10E4-45B2-CB60DA76FCAD}"/>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76200" y="60166"/>
            <a:ext cx="3159760" cy="1263650"/>
          </a:xfrm>
          <a:prstGeom prst="rect">
            <a:avLst/>
          </a:prstGeom>
        </p:spPr>
      </p:pic>
    </p:spTree>
    <p:extLst>
      <p:ext uri="{BB962C8B-B14F-4D97-AF65-F5344CB8AC3E}">
        <p14:creationId xmlns:p14="http://schemas.microsoft.com/office/powerpoint/2010/main" val="10798131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Glossy">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12700" cap="flat" cmpd="sng" algn="ctr">
          <a:solidFill>
            <a:schemeClr val="phClr">
              <a:tint val="95000"/>
              <a:shade val="95000"/>
              <a:satMod val="120000"/>
            </a:schemeClr>
          </a:solidFill>
          <a:prstDash val="solid"/>
        </a:ln>
        <a:ln w="55000" cap="flat" cmpd="thickThin" algn="ctr">
          <a:solidFill>
            <a:schemeClr val="phClr">
              <a:tint val="90000"/>
              <a:satMod val="130000"/>
            </a:schemeClr>
          </a:solidFill>
          <a:prstDash val="solid"/>
        </a:ln>
        <a:ln w="50800" cap="flat" cmpd="sng"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1019</TotalTime>
  <Words>2818</Words>
  <Application>Microsoft Office PowerPoint</Application>
  <PresentationFormat>Widescreen</PresentationFormat>
  <Paragraphs>295</Paragraphs>
  <Slides>58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58</vt:i4>
      </vt:variant>
    </vt:vector>
  </HeadingPairs>
  <TitlesOfParts>
    <vt:vector size="66" baseType="lpstr">
      <vt:lpstr>Arial Unicode MS</vt:lpstr>
      <vt:lpstr>Aptos</vt:lpstr>
      <vt:lpstr>Aptos Display</vt:lpstr>
      <vt:lpstr>Arial</vt:lpstr>
      <vt:lpstr>Arial Narrow</vt:lpstr>
      <vt:lpstr>Times New Roman</vt:lpstr>
      <vt:lpstr>Wingdings</vt:lpstr>
      <vt:lpstr>Office Theme</vt:lpstr>
      <vt:lpstr>HOTEL RESERVATION MANAGEMENT SYSTEM</vt:lpstr>
      <vt:lpstr>Real-World Problem</vt:lpstr>
      <vt:lpstr>Why the Project is Needed</vt:lpstr>
      <vt:lpstr>Objectives of the project</vt:lpstr>
      <vt:lpstr>Functional Requirements</vt:lpstr>
      <vt:lpstr>Non-Functional Requirements</vt:lpstr>
      <vt:lpstr>End Users of the System</vt:lpstr>
      <vt:lpstr>Entities and Attributes</vt:lpstr>
      <vt:lpstr>PowerPoint Presentation</vt:lpstr>
      <vt:lpstr>PowerPoint Presentation</vt:lpstr>
      <vt:lpstr>PowerPoint Presentation</vt:lpstr>
      <vt:lpstr>PowerPoint Presentation</vt:lpstr>
      <vt:lpstr>PowerPoint Presentation</vt:lpstr>
      <vt:lpstr>Relationships</vt:lpstr>
      <vt:lpstr>PowerPoint Presentation</vt:lpstr>
      <vt:lpstr>PowerPoint Presentation</vt:lpstr>
      <vt:lpstr>PowerPoint Presentation</vt:lpstr>
      <vt:lpstr>PowerPoint Presentation</vt:lpstr>
      <vt:lpstr>PowerPoint Presentation</vt:lpstr>
      <vt:lpstr>Cardinality</vt:lpstr>
      <vt:lpstr>PowerPoint Presentation</vt:lpstr>
      <vt:lpstr>ER Diagram</vt:lpstr>
      <vt:lpstr>Entity sets to Tables  </vt:lpstr>
      <vt:lpstr>PowerPoint Presentation</vt:lpstr>
      <vt:lpstr>PowerPoint Presentation</vt:lpstr>
      <vt:lpstr>Reservation Table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1NF:</vt:lpstr>
      <vt:lpstr>Lossless Join: </vt:lpstr>
      <vt:lpstr>PowerPoint Presentation</vt:lpstr>
      <vt:lpstr>2NF: </vt:lpstr>
      <vt:lpstr>Lossless Join: </vt:lpstr>
      <vt:lpstr>PowerPoint Presentation</vt:lpstr>
      <vt:lpstr>3NF:</vt:lpstr>
      <vt:lpstr>Lossless Join: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HOTEL RESERVATION MANAGEMENT SYSTEM</dc:title>
  <dc:creator>SAI LASYA</dc:creator>
  <cp:lastModifiedBy>namrathaannamdevula11@outlook.com</cp:lastModifiedBy>
  <cp:revision>75</cp:revision>
  <dcterms:created xsi:type="dcterms:W3CDTF">2026-08-08T15:08:52Z</dcterms:created>
  <dcterms:modified xsi:type="dcterms:W3CDTF">2026-09-30T06:34:23Z</dcterms:modified>
</cp:coreProperties>
</file>